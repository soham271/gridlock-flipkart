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0"/>
            <a:ext cx="12801" cy="6858000"/>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1170432"/>
            <a:ext cx="100584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C26A02"/>
                </a:solidFill>
                <a:latin typeface="Calibri"/>
              </a:rPr>
              <a:t>B.TECH PROJECT  ·  FINAL EVALUATION REPORT  ·  AUGUST 2026</a:t>
            </a:r>
          </a:p>
        </p:txBody>
      </p:sp>
      <p:sp>
        <p:nvSpPr>
          <p:cNvPr id="6" name="TextBox 5"/>
          <p:cNvSpPr txBox="1"/>
          <p:nvPr/>
        </p:nvSpPr>
        <p:spPr>
          <a:xfrm>
            <a:off x="1234440" y="1627632"/>
            <a:ext cx="9692640" cy="1828800"/>
          </a:xfrm>
          <a:prstGeom prst="rect">
            <a:avLst/>
          </a:prstGeom>
          <a:noFill/>
        </p:spPr>
        <p:txBody>
          <a:bodyPr wrap="square" anchor="t" lIns="0" rIns="0" tIns="0" bIns="0">
            <a:spAutoFit/>
          </a:bodyPr>
          <a:lstStyle/>
          <a:p>
            <a:pPr algn="l">
              <a:lnSpc>
                <a:spcPct val="114000"/>
              </a:lnSpc>
              <a:spcAft>
                <a:spcPts val="600"/>
              </a:spcAft>
            </a:pPr>
            <a:r>
              <a:rPr sz="3600" b="1" i="0">
                <a:solidFill>
                  <a:srgbClr val="1A1F2E"/>
                </a:solidFill>
                <a:latin typeface="Calibri"/>
              </a:rPr>
              <a:t>Event-Driven Traffic Congestion
Severity Prediction and Resource
Recommendation System</a:t>
            </a:r>
          </a:p>
        </p:txBody>
      </p:sp>
      <p:sp>
        <p:nvSpPr>
          <p:cNvPr id="7" name="Rectangle 6"/>
          <p:cNvSpPr/>
          <p:nvPr/>
        </p:nvSpPr>
        <p:spPr>
          <a:xfrm>
            <a:off x="1234440" y="3703320"/>
            <a:ext cx="2011680" cy="27432"/>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4023360"/>
            <a:ext cx="548640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8A93A3"/>
                </a:solidFill>
                <a:latin typeface="Calibri"/>
              </a:rPr>
              <a:t>SUBMITTED BY</a:t>
            </a:r>
          </a:p>
        </p:txBody>
      </p:sp>
      <p:sp>
        <p:nvSpPr>
          <p:cNvPr id="9" name="TextBox 8"/>
          <p:cNvSpPr txBox="1"/>
          <p:nvPr/>
        </p:nvSpPr>
        <p:spPr>
          <a:xfrm>
            <a:off x="1234440" y="4315968"/>
            <a:ext cx="5486400" cy="292608"/>
          </a:xfrm>
          <a:prstGeom prst="rect">
            <a:avLst/>
          </a:prstGeom>
          <a:noFill/>
        </p:spPr>
        <p:txBody>
          <a:bodyPr wrap="square" anchor="t" lIns="0" rIns="0" tIns="0" bIns="0">
            <a:spAutoFit/>
          </a:bodyPr>
          <a:lstStyle/>
          <a:p>
            <a:pPr algn="l">
              <a:lnSpc>
                <a:spcPct val="125000"/>
              </a:lnSpc>
              <a:spcAft>
                <a:spcPts val="0"/>
              </a:spcAft>
            </a:pPr>
            <a:r>
              <a:rPr sz="1550" b="1" i="0">
                <a:solidFill>
                  <a:srgbClr val="1A1F2E"/>
                </a:solidFill>
                <a:latin typeface="Calibri"/>
              </a:rPr>
              <a:t>Aman Kumar</a:t>
            </a:r>
            <a:r>
              <a:rPr sz="1300" b="0" i="0">
                <a:solidFill>
                  <a:srgbClr val="5B6478"/>
                </a:solidFill>
                <a:latin typeface="Consolas"/>
              </a:rPr>
              <a:t>   2023IMT-010</a:t>
            </a:r>
          </a:p>
        </p:txBody>
      </p:sp>
      <p:sp>
        <p:nvSpPr>
          <p:cNvPr id="10" name="TextBox 9"/>
          <p:cNvSpPr txBox="1"/>
          <p:nvPr/>
        </p:nvSpPr>
        <p:spPr>
          <a:xfrm>
            <a:off x="1234440" y="4645152"/>
            <a:ext cx="5486400" cy="292608"/>
          </a:xfrm>
          <a:prstGeom prst="rect">
            <a:avLst/>
          </a:prstGeom>
          <a:noFill/>
        </p:spPr>
        <p:txBody>
          <a:bodyPr wrap="square" anchor="t" lIns="0" rIns="0" tIns="0" bIns="0">
            <a:spAutoFit/>
          </a:bodyPr>
          <a:lstStyle/>
          <a:p>
            <a:pPr algn="l">
              <a:lnSpc>
                <a:spcPct val="125000"/>
              </a:lnSpc>
              <a:spcAft>
                <a:spcPts val="0"/>
              </a:spcAft>
            </a:pPr>
            <a:r>
              <a:rPr sz="1550" b="1" i="0">
                <a:solidFill>
                  <a:srgbClr val="1A1F2E"/>
                </a:solidFill>
                <a:latin typeface="Calibri"/>
              </a:rPr>
              <a:t>Viswajit Sarak Patil</a:t>
            </a:r>
            <a:r>
              <a:rPr sz="1300" b="0" i="0">
                <a:solidFill>
                  <a:srgbClr val="5B6478"/>
                </a:solidFill>
                <a:latin typeface="Consolas"/>
              </a:rPr>
              <a:t>   2023IMT-071</a:t>
            </a:r>
          </a:p>
        </p:txBody>
      </p:sp>
      <p:sp>
        <p:nvSpPr>
          <p:cNvPr id="11" name="TextBox 10"/>
          <p:cNvSpPr txBox="1"/>
          <p:nvPr/>
        </p:nvSpPr>
        <p:spPr>
          <a:xfrm>
            <a:off x="1234440" y="4974336"/>
            <a:ext cx="5486400" cy="292608"/>
          </a:xfrm>
          <a:prstGeom prst="rect">
            <a:avLst/>
          </a:prstGeom>
          <a:noFill/>
        </p:spPr>
        <p:txBody>
          <a:bodyPr wrap="square" anchor="t" lIns="0" rIns="0" tIns="0" bIns="0">
            <a:spAutoFit/>
          </a:bodyPr>
          <a:lstStyle/>
          <a:p>
            <a:pPr algn="l">
              <a:lnSpc>
                <a:spcPct val="125000"/>
              </a:lnSpc>
              <a:spcAft>
                <a:spcPts val="0"/>
              </a:spcAft>
            </a:pPr>
            <a:r>
              <a:rPr sz="1550" b="1" i="0">
                <a:solidFill>
                  <a:srgbClr val="1A1F2E"/>
                </a:solidFill>
                <a:latin typeface="Calibri"/>
              </a:rPr>
              <a:t>Sahil Pal</a:t>
            </a:r>
            <a:r>
              <a:rPr sz="1300" b="0" i="0">
                <a:solidFill>
                  <a:srgbClr val="5B6478"/>
                </a:solidFill>
                <a:latin typeface="Consolas"/>
              </a:rPr>
              <a:t>   2023IMT-069</a:t>
            </a:r>
          </a:p>
        </p:txBody>
      </p:sp>
      <p:sp>
        <p:nvSpPr>
          <p:cNvPr id="12" name="TextBox 11"/>
          <p:cNvSpPr txBox="1"/>
          <p:nvPr/>
        </p:nvSpPr>
        <p:spPr>
          <a:xfrm>
            <a:off x="1234440" y="5431536"/>
            <a:ext cx="548640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8A93A3"/>
                </a:solidFill>
                <a:latin typeface="Calibri"/>
              </a:rPr>
              <a:t>SUPERVISOR</a:t>
            </a:r>
          </a:p>
        </p:txBody>
      </p:sp>
      <p:sp>
        <p:nvSpPr>
          <p:cNvPr id="13" name="TextBox 12"/>
          <p:cNvSpPr txBox="1"/>
          <p:nvPr/>
        </p:nvSpPr>
        <p:spPr>
          <a:xfrm>
            <a:off x="1234440" y="5669280"/>
            <a:ext cx="5486400" cy="274320"/>
          </a:xfrm>
          <a:prstGeom prst="rect">
            <a:avLst/>
          </a:prstGeom>
          <a:noFill/>
        </p:spPr>
        <p:txBody>
          <a:bodyPr wrap="square" anchor="t" lIns="0" rIns="0" tIns="0" bIns="0">
            <a:spAutoFit/>
          </a:bodyPr>
          <a:lstStyle/>
          <a:p>
            <a:pPr algn="l">
              <a:lnSpc>
                <a:spcPct val="125000"/>
              </a:lnSpc>
              <a:spcAft>
                <a:spcPts val="600"/>
              </a:spcAft>
            </a:pPr>
            <a:r>
              <a:rPr sz="1500" b="1" i="0">
                <a:solidFill>
                  <a:srgbClr val="1A1F2E"/>
                </a:solidFill>
                <a:latin typeface="Calibri"/>
              </a:rPr>
              <a:t>Dr. Saswata Roy</a:t>
            </a:r>
          </a:p>
        </p:txBody>
      </p:sp>
      <p:sp>
        <p:nvSpPr>
          <p:cNvPr id="14" name="Rectangle 13"/>
          <p:cNvSpPr/>
          <p:nvPr/>
        </p:nvSpPr>
        <p:spPr>
          <a:xfrm>
            <a:off x="7635240" y="4023360"/>
            <a:ext cx="3898087" cy="91440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4169663"/>
            <a:ext cx="3291840" cy="640080"/>
          </a:xfrm>
          <a:prstGeom prst="rect">
            <a:avLst/>
          </a:prstGeom>
          <a:noFill/>
        </p:spPr>
        <p:txBody>
          <a:bodyPr wrap="square" anchor="t" lIns="0" rIns="0" tIns="0" bIns="0">
            <a:spAutoFit/>
          </a:bodyPr>
          <a:lstStyle/>
          <a:p>
            <a:pPr algn="l">
              <a:lnSpc>
                <a:spcPct val="125000"/>
              </a:lnSpc>
              <a:spcAft>
                <a:spcPts val="400"/>
              </a:spcAft>
            </a:pPr>
            <a:r>
              <a:rPr sz="1200" b="1" i="0">
                <a:solidFill>
                  <a:srgbClr val="1A1F2E"/>
                </a:solidFill>
                <a:latin typeface="Calibri"/>
              </a:rPr>
              <a:t>Department of Information Technology</a:t>
            </a:r>
          </a:p>
          <a:p>
            <a:pPr algn="l">
              <a:lnSpc>
                <a:spcPct val="125000"/>
              </a:lnSpc>
              <a:spcAft>
                <a:spcPts val="400"/>
              </a:spcAft>
            </a:pPr>
            <a:r>
              <a:rPr sz="1200" b="0" i="0">
                <a:solidFill>
                  <a:srgbClr val="5B6478"/>
                </a:solidFill>
                <a:latin typeface="Calibri"/>
              </a:rPr>
              <a:t>ABV-IIITM Gwalior</a:t>
            </a:r>
          </a:p>
        </p:txBody>
      </p:sp>
      <p:sp>
        <p:nvSpPr>
          <p:cNvPr id="16" name="TextBox 15"/>
          <p:cNvSpPr txBox="1"/>
          <p:nvPr/>
        </p:nvSpPr>
        <p:spPr>
          <a:xfrm>
            <a:off x="7635240" y="5138928"/>
            <a:ext cx="3840480" cy="822960"/>
          </a:xfrm>
          <a:prstGeom prst="rect">
            <a:avLst/>
          </a:prstGeom>
          <a:noFill/>
        </p:spPr>
        <p:txBody>
          <a:bodyPr wrap="square" anchor="t" lIns="0" rIns="0" tIns="0" bIns="0">
            <a:spAutoFit/>
          </a:bodyPr>
          <a:lstStyle/>
          <a:p>
            <a:pPr algn="l">
              <a:lnSpc>
                <a:spcPct val="125000"/>
              </a:lnSpc>
              <a:spcAft>
                <a:spcPts val="300"/>
              </a:spcAft>
            </a:pPr>
            <a:r>
              <a:rPr sz="1050" b="0" i="0">
                <a:solidFill>
                  <a:srgbClr val="8A93A3"/>
                </a:solidFill>
                <a:latin typeface="Consolas"/>
              </a:rPr>
              <a:t>Stacked ensemble  ·  4 base learners</a:t>
            </a:r>
          </a:p>
          <a:p>
            <a:pPr algn="l">
              <a:lnSpc>
                <a:spcPct val="125000"/>
              </a:lnSpc>
              <a:spcAft>
                <a:spcPts val="300"/>
              </a:spcAft>
            </a:pPr>
            <a:r>
              <a:rPr sz="1050" b="0" i="0">
                <a:solidFill>
                  <a:srgbClr val="8A93A3"/>
                </a:solidFill>
                <a:latin typeface="Consolas"/>
              </a:rPr>
              <a:t>8,173 Bengaluru traffic events</a:t>
            </a:r>
          </a:p>
          <a:p>
            <a:pPr algn="l">
              <a:lnSpc>
                <a:spcPct val="125000"/>
              </a:lnSpc>
              <a:spcAft>
                <a:spcPts val="300"/>
              </a:spcAft>
            </a:pPr>
            <a:r>
              <a:rPr sz="1050" b="0" i="0">
                <a:solidFill>
                  <a:srgbClr val="8A93A3"/>
                </a:solidFill>
                <a:latin typeface="Consolas"/>
              </a:rPr>
              <a:t>Next.js · Go/Gin · FastAPI ·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1–2  ·  INTRODUCTION &amp; MOTIVATION</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The Problem</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2</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TextBox 8"/>
          <p:cNvSpPr txBox="1"/>
          <p:nvPr/>
        </p:nvSpPr>
        <p:spPr>
          <a:xfrm>
            <a:off x="658368" y="1463040"/>
            <a:ext cx="6675120" cy="1051560"/>
          </a:xfrm>
          <a:prstGeom prst="rect">
            <a:avLst/>
          </a:prstGeom>
          <a:noFill/>
        </p:spPr>
        <p:txBody>
          <a:bodyPr wrap="square" anchor="t" lIns="0" rIns="0" tIns="0" bIns="0">
            <a:spAutoFit/>
          </a:bodyPr>
          <a:lstStyle/>
          <a:p>
            <a:pPr algn="l">
              <a:lnSpc>
                <a:spcPct val="130000"/>
              </a:lnSpc>
              <a:spcAft>
                <a:spcPts val="600"/>
              </a:spcAft>
            </a:pPr>
            <a:r>
              <a:rPr sz="1650" b="0" i="0">
                <a:solidFill>
                  <a:srgbClr val="1A1F2E"/>
                </a:solidFill>
                <a:latin typeface="Calibri"/>
              </a:rPr>
              <a:t>When a traffic event is first reported, the control room must decide how much to send — officers, barricades, diversions — </a:t>
            </a:r>
            <a:r>
              <a:rPr sz="1650" b="1" i="0">
                <a:solidFill>
                  <a:srgbClr val="1A1F2E"/>
                </a:solidFill>
                <a:latin typeface="Calibri"/>
              </a:rPr>
              <a:t>before anyone has seen the site.</a:t>
            </a:r>
          </a:p>
        </p:txBody>
      </p:sp>
      <p:sp>
        <p:nvSpPr>
          <p:cNvPr id="10" name="TextBox 9"/>
          <p:cNvSpPr txBox="1"/>
          <p:nvPr/>
        </p:nvSpPr>
        <p:spPr>
          <a:xfrm>
            <a:off x="658368" y="2615184"/>
            <a:ext cx="6675120" cy="274320"/>
          </a:xfrm>
          <a:prstGeom prst="rect">
            <a:avLst/>
          </a:prstGeom>
          <a:noFill/>
        </p:spPr>
        <p:txBody>
          <a:bodyPr wrap="square" anchor="t" lIns="0" rIns="0" tIns="0" bIns="0">
            <a:spAutoFit/>
          </a:bodyPr>
          <a:lstStyle/>
          <a:p>
            <a:pPr algn="l">
              <a:lnSpc>
                <a:spcPct val="125000"/>
              </a:lnSpc>
              <a:spcAft>
                <a:spcPts val="600"/>
              </a:spcAft>
            </a:pPr>
            <a:r>
              <a:rPr sz="1300" b="0" i="1">
                <a:solidFill>
                  <a:srgbClr val="5B6478"/>
                </a:solidFill>
                <a:latin typeface="Calibri"/>
              </a:rPr>
              <a:t>That decision is currently made on experience alone.</a:t>
            </a:r>
          </a:p>
        </p:txBody>
      </p:sp>
      <p:sp>
        <p:nvSpPr>
          <p:cNvPr id="11" name="Rectangle 10"/>
          <p:cNvSpPr/>
          <p:nvPr/>
        </p:nvSpPr>
        <p:spPr>
          <a:xfrm>
            <a:off x="658368" y="3127248"/>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054096"/>
            <a:ext cx="6437376" cy="566928"/>
          </a:xfrm>
          <a:prstGeom prst="rect">
            <a:avLst/>
          </a:prstGeom>
          <a:noFill/>
        </p:spPr>
        <p:txBody>
          <a:bodyPr wrap="square" anchor="t" lIns="0" rIns="0" tIns="0" bIns="0">
            <a:spAutoFit/>
          </a:bodyPr>
          <a:lstStyle/>
          <a:p>
            <a:pPr algn="l">
              <a:lnSpc>
                <a:spcPct val="122000"/>
              </a:lnSpc>
              <a:spcAft>
                <a:spcPts val="600"/>
              </a:spcAft>
            </a:pPr>
            <a:r>
              <a:rPr sz="1400" b="1" i="0">
                <a:solidFill>
                  <a:srgbClr val="1A1F2E"/>
                </a:solidFill>
                <a:latin typeface="Calibri"/>
              </a:rPr>
              <a:t>Severity is not recorded.  </a:t>
            </a:r>
            <a:r>
              <a:rPr sz="1400" b="0" i="0">
                <a:solidFill>
                  <a:srgbClr val="5B6478"/>
                </a:solidFill>
                <a:latin typeface="Calibri"/>
              </a:rPr>
              <a:t>The raw log has no severity column — the target must be constructed.</a:t>
            </a:r>
          </a:p>
        </p:txBody>
      </p:sp>
      <p:sp>
        <p:nvSpPr>
          <p:cNvPr id="13" name="Rectangle 12"/>
          <p:cNvSpPr/>
          <p:nvPr/>
        </p:nvSpPr>
        <p:spPr>
          <a:xfrm>
            <a:off x="658368" y="3694176"/>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621024"/>
            <a:ext cx="6437376" cy="566928"/>
          </a:xfrm>
          <a:prstGeom prst="rect">
            <a:avLst/>
          </a:prstGeom>
          <a:noFill/>
        </p:spPr>
        <p:txBody>
          <a:bodyPr wrap="square" anchor="t" lIns="0" rIns="0" tIns="0" bIns="0">
            <a:spAutoFit/>
          </a:bodyPr>
          <a:lstStyle/>
          <a:p>
            <a:pPr algn="l">
              <a:lnSpc>
                <a:spcPct val="122000"/>
              </a:lnSpc>
              <a:spcAft>
                <a:spcPts val="600"/>
              </a:spcAft>
            </a:pPr>
            <a:r>
              <a:rPr sz="1400" b="1" i="0">
                <a:solidFill>
                  <a:srgbClr val="1A1F2E"/>
                </a:solidFill>
                <a:latin typeface="Calibri"/>
              </a:rPr>
              <a:t>Existing work predicts flow, not events.  </a:t>
            </a:r>
            <a:r>
              <a:rPr sz="1400" b="0" i="0">
                <a:solidFill>
                  <a:srgbClr val="5B6478"/>
                </a:solidFill>
                <a:latin typeface="Calibri"/>
              </a:rPr>
              <a:t>Most traffic ML forecasts speed or volume, not incident severity.</a:t>
            </a:r>
          </a:p>
        </p:txBody>
      </p:sp>
      <p:sp>
        <p:nvSpPr>
          <p:cNvPr id="15" name="Rectangle 14"/>
          <p:cNvSpPr/>
          <p:nvPr/>
        </p:nvSpPr>
        <p:spPr>
          <a:xfrm>
            <a:off x="658368" y="4261104"/>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187952"/>
            <a:ext cx="6437376" cy="566928"/>
          </a:xfrm>
          <a:prstGeom prst="rect">
            <a:avLst/>
          </a:prstGeom>
          <a:noFill/>
        </p:spPr>
        <p:txBody>
          <a:bodyPr wrap="square" anchor="t" lIns="0" rIns="0" tIns="0" bIns="0">
            <a:spAutoFit/>
          </a:bodyPr>
          <a:lstStyle/>
          <a:p>
            <a:pPr algn="l">
              <a:lnSpc>
                <a:spcPct val="122000"/>
              </a:lnSpc>
              <a:spcAft>
                <a:spcPts val="600"/>
              </a:spcAft>
            </a:pPr>
            <a:r>
              <a:rPr sz="1400" b="1" i="0">
                <a:solidFill>
                  <a:srgbClr val="1A1F2E"/>
                </a:solidFill>
                <a:latin typeface="Calibri"/>
              </a:rPr>
              <a:t>Rare classes matter most.  </a:t>
            </a:r>
            <a:r>
              <a:rPr sz="1400" b="0" i="0">
                <a:solidFill>
                  <a:srgbClr val="5B6478"/>
                </a:solidFill>
                <a:latin typeface="Calibri"/>
              </a:rPr>
              <a:t>Critical events are 3.6% of the data and the costliest to miss.</a:t>
            </a:r>
          </a:p>
        </p:txBody>
      </p:sp>
      <p:sp>
        <p:nvSpPr>
          <p:cNvPr id="17" name="Rectangle 16"/>
          <p:cNvSpPr/>
          <p:nvPr/>
        </p:nvSpPr>
        <p:spPr>
          <a:xfrm>
            <a:off x="658368" y="4828031"/>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754879"/>
            <a:ext cx="6437376" cy="566928"/>
          </a:xfrm>
          <a:prstGeom prst="rect">
            <a:avLst/>
          </a:prstGeom>
          <a:noFill/>
        </p:spPr>
        <p:txBody>
          <a:bodyPr wrap="square" anchor="t" lIns="0" rIns="0" tIns="0" bIns="0">
            <a:spAutoFit/>
          </a:bodyPr>
          <a:lstStyle/>
          <a:p>
            <a:pPr algn="l">
              <a:lnSpc>
                <a:spcPct val="122000"/>
              </a:lnSpc>
              <a:spcAft>
                <a:spcPts val="600"/>
              </a:spcAft>
            </a:pPr>
            <a:r>
              <a:rPr sz="1400" b="1" i="0">
                <a:solidFill>
                  <a:srgbClr val="1A1F2E"/>
                </a:solidFill>
                <a:latin typeface="Calibri"/>
              </a:rPr>
              <a:t>Prediction alone is not actionable.  </a:t>
            </a:r>
            <a:r>
              <a:rPr sz="1400" b="0" i="0">
                <a:solidFill>
                  <a:srgbClr val="5B6478"/>
                </a:solidFill>
                <a:latin typeface="Calibri"/>
              </a:rPr>
              <a:t>A severity number does not tell an officer what to deploy.</a:t>
            </a:r>
          </a:p>
        </p:txBody>
      </p:sp>
      <p:sp>
        <p:nvSpPr>
          <p:cNvPr id="19" name="Rectangle 18"/>
          <p:cNvSpPr/>
          <p:nvPr/>
        </p:nvSpPr>
        <p:spPr>
          <a:xfrm>
            <a:off x="7772400" y="1481328"/>
            <a:ext cx="3760927" cy="370332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1737360"/>
            <a:ext cx="3108960" cy="274320"/>
          </a:xfrm>
          <a:prstGeom prst="rect">
            <a:avLst/>
          </a:prstGeom>
          <a:noFill/>
        </p:spPr>
        <p:txBody>
          <a:bodyPr wrap="square" anchor="t" lIns="0" rIns="0" tIns="0" bIns="0">
            <a:spAutoFit/>
          </a:bodyPr>
          <a:lstStyle/>
          <a:p>
            <a:pPr algn="l">
              <a:lnSpc>
                <a:spcPct val="125000"/>
              </a:lnSpc>
              <a:spcAft>
                <a:spcPts val="600"/>
              </a:spcAft>
            </a:pPr>
            <a:r>
              <a:rPr sz="1100" b="1" i="0">
                <a:solidFill>
                  <a:srgbClr val="C26A02"/>
                </a:solidFill>
                <a:latin typeface="Calibri"/>
              </a:rPr>
              <a:t>THE DATASET</a:t>
            </a:r>
          </a:p>
        </p:txBody>
      </p:sp>
      <p:sp>
        <p:nvSpPr>
          <p:cNvPr id="21" name="TextBox 20"/>
          <p:cNvSpPr txBox="1"/>
          <p:nvPr/>
        </p:nvSpPr>
        <p:spPr>
          <a:xfrm>
            <a:off x="8092440" y="2103120"/>
            <a:ext cx="3108960" cy="384048"/>
          </a:xfrm>
          <a:prstGeom prst="rect">
            <a:avLst/>
          </a:prstGeom>
          <a:noFill/>
        </p:spPr>
        <p:txBody>
          <a:bodyPr wrap="square" anchor="t" lIns="0" rIns="0" tIns="0" bIns="0">
            <a:spAutoFit/>
          </a:bodyPr>
          <a:lstStyle/>
          <a:p>
            <a:pPr algn="l">
              <a:lnSpc>
                <a:spcPct val="125000"/>
              </a:lnSpc>
              <a:spcAft>
                <a:spcPts val="600"/>
              </a:spcAft>
            </a:pPr>
            <a:r>
              <a:rPr sz="2300" b="1" i="0">
                <a:solidFill>
                  <a:srgbClr val="1A1F2E"/>
                </a:solidFill>
                <a:latin typeface="Calibri"/>
              </a:rPr>
              <a:t>8,173</a:t>
            </a:r>
          </a:p>
        </p:txBody>
      </p:sp>
      <p:sp>
        <p:nvSpPr>
          <p:cNvPr id="22" name="TextBox 21"/>
          <p:cNvSpPr txBox="1"/>
          <p:nvPr/>
        </p:nvSpPr>
        <p:spPr>
          <a:xfrm>
            <a:off x="8092440" y="2560320"/>
            <a:ext cx="3108960" cy="274320"/>
          </a:xfrm>
          <a:prstGeom prst="rect">
            <a:avLst/>
          </a:prstGeom>
          <a:noFill/>
        </p:spPr>
        <p:txBody>
          <a:bodyPr wrap="square" anchor="t" lIns="0" rIns="0" tIns="0" bIns="0">
            <a:spAutoFit/>
          </a:bodyPr>
          <a:lstStyle/>
          <a:p>
            <a:pPr algn="l">
              <a:lnSpc>
                <a:spcPct val="125000"/>
              </a:lnSpc>
              <a:spcAft>
                <a:spcPts val="600"/>
              </a:spcAft>
            </a:pPr>
            <a:r>
              <a:rPr sz="1100" b="0" i="0">
                <a:solidFill>
                  <a:srgbClr val="5B6478"/>
                </a:solidFill>
                <a:latin typeface="Calibri"/>
              </a:rPr>
              <a:t>traffic events, Bengaluru</a:t>
            </a:r>
          </a:p>
        </p:txBody>
      </p:sp>
      <p:sp>
        <p:nvSpPr>
          <p:cNvPr id="23" name="TextBox 22"/>
          <p:cNvSpPr txBox="1"/>
          <p:nvPr/>
        </p:nvSpPr>
        <p:spPr>
          <a:xfrm>
            <a:off x="8092440" y="2889503"/>
            <a:ext cx="3108960" cy="384048"/>
          </a:xfrm>
          <a:prstGeom prst="rect">
            <a:avLst/>
          </a:prstGeom>
          <a:noFill/>
        </p:spPr>
        <p:txBody>
          <a:bodyPr wrap="square" anchor="t" lIns="0" rIns="0" tIns="0" bIns="0">
            <a:spAutoFit/>
          </a:bodyPr>
          <a:lstStyle/>
          <a:p>
            <a:pPr algn="l">
              <a:lnSpc>
                <a:spcPct val="125000"/>
              </a:lnSpc>
              <a:spcAft>
                <a:spcPts val="600"/>
              </a:spcAft>
            </a:pPr>
            <a:r>
              <a:rPr sz="2300" b="1" i="0">
                <a:solidFill>
                  <a:srgbClr val="1A1F2E"/>
                </a:solidFill>
                <a:latin typeface="Calibri"/>
              </a:rPr>
              <a:t>46 → 30</a:t>
            </a:r>
          </a:p>
        </p:txBody>
      </p:sp>
      <p:sp>
        <p:nvSpPr>
          <p:cNvPr id="24" name="TextBox 23"/>
          <p:cNvSpPr txBox="1"/>
          <p:nvPr/>
        </p:nvSpPr>
        <p:spPr>
          <a:xfrm>
            <a:off x="8092440" y="3346703"/>
            <a:ext cx="3108960" cy="274320"/>
          </a:xfrm>
          <a:prstGeom prst="rect">
            <a:avLst/>
          </a:prstGeom>
          <a:noFill/>
        </p:spPr>
        <p:txBody>
          <a:bodyPr wrap="square" anchor="t" lIns="0" rIns="0" tIns="0" bIns="0">
            <a:spAutoFit/>
          </a:bodyPr>
          <a:lstStyle/>
          <a:p>
            <a:pPr algn="l">
              <a:lnSpc>
                <a:spcPct val="125000"/>
              </a:lnSpc>
              <a:spcAft>
                <a:spcPts val="600"/>
              </a:spcAft>
            </a:pPr>
            <a:r>
              <a:rPr sz="1100" b="0" i="0">
                <a:solidFill>
                  <a:srgbClr val="5B6478"/>
                </a:solidFill>
                <a:latin typeface="Calibri"/>
              </a:rPr>
              <a:t>raw columns → engineered features</a:t>
            </a:r>
          </a:p>
        </p:txBody>
      </p:sp>
      <p:sp>
        <p:nvSpPr>
          <p:cNvPr id="25" name="TextBox 24"/>
          <p:cNvSpPr txBox="1"/>
          <p:nvPr/>
        </p:nvSpPr>
        <p:spPr>
          <a:xfrm>
            <a:off x="8092440" y="3675887"/>
            <a:ext cx="3108960" cy="384048"/>
          </a:xfrm>
          <a:prstGeom prst="rect">
            <a:avLst/>
          </a:prstGeom>
          <a:noFill/>
        </p:spPr>
        <p:txBody>
          <a:bodyPr wrap="square" anchor="t" lIns="0" rIns="0" tIns="0" bIns="0">
            <a:spAutoFit/>
          </a:bodyPr>
          <a:lstStyle/>
          <a:p>
            <a:pPr algn="l">
              <a:lnSpc>
                <a:spcPct val="125000"/>
              </a:lnSpc>
              <a:spcAft>
                <a:spcPts val="600"/>
              </a:spcAft>
            </a:pPr>
            <a:r>
              <a:rPr sz="2300" b="1" i="0">
                <a:solidFill>
                  <a:srgbClr val="1A1F2E"/>
                </a:solidFill>
                <a:latin typeface="Calibri"/>
              </a:rPr>
              <a:t>4</a:t>
            </a:r>
          </a:p>
        </p:txBody>
      </p:sp>
      <p:sp>
        <p:nvSpPr>
          <p:cNvPr id="26" name="TextBox 25"/>
          <p:cNvSpPr txBox="1"/>
          <p:nvPr/>
        </p:nvSpPr>
        <p:spPr>
          <a:xfrm>
            <a:off x="8092440" y="4133087"/>
            <a:ext cx="3108960" cy="274320"/>
          </a:xfrm>
          <a:prstGeom prst="rect">
            <a:avLst/>
          </a:prstGeom>
          <a:noFill/>
        </p:spPr>
        <p:txBody>
          <a:bodyPr wrap="square" anchor="t" lIns="0" rIns="0" tIns="0" bIns="0">
            <a:spAutoFit/>
          </a:bodyPr>
          <a:lstStyle/>
          <a:p>
            <a:pPr algn="l">
              <a:lnSpc>
                <a:spcPct val="125000"/>
              </a:lnSpc>
              <a:spcAft>
                <a:spcPts val="600"/>
              </a:spcAft>
            </a:pPr>
            <a:r>
              <a:rPr sz="1100" b="0" i="0">
                <a:solidFill>
                  <a:srgbClr val="5B6478"/>
                </a:solidFill>
                <a:latin typeface="Calibri"/>
              </a:rPr>
              <a:t>severity classes (Low → Critical)</a:t>
            </a:r>
          </a:p>
        </p:txBody>
      </p:sp>
      <p:sp>
        <p:nvSpPr>
          <p:cNvPr id="27" name="TextBox 26"/>
          <p:cNvSpPr txBox="1"/>
          <p:nvPr/>
        </p:nvSpPr>
        <p:spPr>
          <a:xfrm>
            <a:off x="8092440" y="4462272"/>
            <a:ext cx="3108960" cy="384048"/>
          </a:xfrm>
          <a:prstGeom prst="rect">
            <a:avLst/>
          </a:prstGeom>
          <a:noFill/>
        </p:spPr>
        <p:txBody>
          <a:bodyPr wrap="square" anchor="t" lIns="0" rIns="0" tIns="0" bIns="0">
            <a:spAutoFit/>
          </a:bodyPr>
          <a:lstStyle/>
          <a:p>
            <a:pPr algn="l">
              <a:lnSpc>
                <a:spcPct val="125000"/>
              </a:lnSpc>
              <a:spcAft>
                <a:spcPts val="600"/>
              </a:spcAft>
            </a:pPr>
            <a:r>
              <a:rPr sz="2300" b="1" i="0">
                <a:solidFill>
                  <a:srgbClr val="1A1F2E"/>
                </a:solidFill>
                <a:latin typeface="Calibri"/>
              </a:rPr>
              <a:t>91.7%</a:t>
            </a:r>
          </a:p>
        </p:txBody>
      </p:sp>
      <p:sp>
        <p:nvSpPr>
          <p:cNvPr id="28" name="TextBox 27"/>
          <p:cNvSpPr txBox="1"/>
          <p:nvPr/>
        </p:nvSpPr>
        <p:spPr>
          <a:xfrm>
            <a:off x="8092440" y="4919472"/>
            <a:ext cx="3108960" cy="274320"/>
          </a:xfrm>
          <a:prstGeom prst="rect">
            <a:avLst/>
          </a:prstGeom>
          <a:noFill/>
        </p:spPr>
        <p:txBody>
          <a:bodyPr wrap="square" anchor="t" lIns="0" rIns="0" tIns="0" bIns="0">
            <a:spAutoFit/>
          </a:bodyPr>
          <a:lstStyle/>
          <a:p>
            <a:pPr algn="l">
              <a:lnSpc>
                <a:spcPct val="125000"/>
              </a:lnSpc>
              <a:spcAft>
                <a:spcPts val="600"/>
              </a:spcAft>
            </a:pPr>
            <a:r>
              <a:rPr sz="1100" b="0" i="0">
                <a:solidFill>
                  <a:srgbClr val="5B6478"/>
                </a:solidFill>
                <a:latin typeface="Calibri"/>
              </a:rPr>
              <a:t>of events are just Low or High</a:t>
            </a:r>
          </a:p>
        </p:txBody>
      </p:sp>
      <p:sp>
        <p:nvSpPr>
          <p:cNvPr id="29" name="TextBox 28"/>
          <p:cNvSpPr txBox="1"/>
          <p:nvPr/>
        </p:nvSpPr>
        <p:spPr>
          <a:xfrm>
            <a:off x="658368" y="5440680"/>
            <a:ext cx="10874959" cy="822960"/>
          </a:xfrm>
          <a:prstGeom prst="rect">
            <a:avLst/>
          </a:prstGeom>
          <a:noFill/>
        </p:spPr>
        <p:txBody>
          <a:bodyPr wrap="square" anchor="t" lIns="0" rIns="0" tIns="0" bIns="0">
            <a:spAutoFit/>
          </a:bodyPr>
          <a:lstStyle/>
          <a:p>
            <a:pPr algn="l">
              <a:lnSpc>
                <a:spcPct val="130000"/>
              </a:lnSpc>
              <a:spcAft>
                <a:spcPts val="600"/>
              </a:spcAft>
            </a:pPr>
            <a:r>
              <a:rPr sz="1600" b="1" i="0">
                <a:solidFill>
                  <a:srgbClr val="C26A02"/>
                </a:solidFill>
                <a:latin typeface="Calibri"/>
              </a:rPr>
              <a:t>Goal:  </a:t>
            </a:r>
            <a:r>
              <a:rPr sz="1600" b="0" i="0">
                <a:solidFill>
                  <a:srgbClr val="1A1F2E"/>
                </a:solidFill>
                <a:latin typeface="Calibri"/>
              </a:rPr>
              <a:t>predict how severe a traffic event will be at the moment it is reported, and convert that prediction into a concrete resource recommendation.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4  ·  OBJECTIVES &amp; DELIVERABLES</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What the Project Set Out to Do</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3</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353312"/>
            <a:ext cx="3520440" cy="1463040"/>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1353312"/>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572768"/>
            <a:ext cx="3017520" cy="237744"/>
          </a:xfrm>
          <a:prstGeom prst="rect">
            <a:avLst/>
          </a:prstGeom>
          <a:noFill/>
        </p:spPr>
        <p:txBody>
          <a:bodyPr wrap="square" anchor="t" lIns="0" rIns="0" tIns="0" bIns="0">
            <a:spAutoFit/>
          </a:bodyPr>
          <a:lstStyle/>
          <a:p>
            <a:pPr algn="l">
              <a:lnSpc>
                <a:spcPct val="125000"/>
              </a:lnSpc>
              <a:spcAft>
                <a:spcPts val="600"/>
              </a:spcAft>
            </a:pPr>
            <a:r>
              <a:rPr sz="1250" b="1" i="0">
                <a:solidFill>
                  <a:srgbClr val="C26A02"/>
                </a:solidFill>
                <a:latin typeface="Consolas"/>
              </a:rPr>
              <a:t>01</a:t>
            </a:r>
          </a:p>
        </p:txBody>
      </p:sp>
      <p:sp>
        <p:nvSpPr>
          <p:cNvPr id="12" name="TextBox 11"/>
          <p:cNvSpPr txBox="1"/>
          <p:nvPr/>
        </p:nvSpPr>
        <p:spPr>
          <a:xfrm>
            <a:off x="877824" y="1828800"/>
            <a:ext cx="3108960" cy="457200"/>
          </a:xfrm>
          <a:prstGeom prst="rect">
            <a:avLst/>
          </a:prstGeom>
          <a:noFill/>
        </p:spPr>
        <p:txBody>
          <a:bodyPr wrap="square" anchor="t" lIns="0" rIns="0" tIns="0" bIns="0">
            <a:spAutoFit/>
          </a:bodyPr>
          <a:lstStyle/>
          <a:p>
            <a:pPr algn="l">
              <a:lnSpc>
                <a:spcPct val="115000"/>
              </a:lnSpc>
              <a:spcAft>
                <a:spcPts val="600"/>
              </a:spcAft>
            </a:pPr>
            <a:r>
              <a:rPr sz="1350" b="1" i="0">
                <a:solidFill>
                  <a:srgbClr val="1A1F2E"/>
                </a:solidFill>
                <a:latin typeface="Calibri"/>
              </a:rPr>
              <a:t>Construct a severity target</a:t>
            </a:r>
          </a:p>
        </p:txBody>
      </p:sp>
      <p:sp>
        <p:nvSpPr>
          <p:cNvPr id="13" name="TextBox 12"/>
          <p:cNvSpPr txBox="1"/>
          <p:nvPr/>
        </p:nvSpPr>
        <p:spPr>
          <a:xfrm>
            <a:off x="877824" y="2304288"/>
            <a:ext cx="3108960" cy="45720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where the raw data provides none, from priority and closure fields.</a:t>
            </a:r>
          </a:p>
        </p:txBody>
      </p:sp>
      <p:sp>
        <p:nvSpPr>
          <p:cNvPr id="14" name="Rectangle 13"/>
          <p:cNvSpPr/>
          <p:nvPr/>
        </p:nvSpPr>
        <p:spPr>
          <a:xfrm>
            <a:off x="4398264" y="1353312"/>
            <a:ext cx="3520440" cy="1463040"/>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8264" y="1353312"/>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572768"/>
            <a:ext cx="3017520" cy="237744"/>
          </a:xfrm>
          <a:prstGeom prst="rect">
            <a:avLst/>
          </a:prstGeom>
          <a:noFill/>
        </p:spPr>
        <p:txBody>
          <a:bodyPr wrap="square" anchor="t" lIns="0" rIns="0" tIns="0" bIns="0">
            <a:spAutoFit/>
          </a:bodyPr>
          <a:lstStyle/>
          <a:p>
            <a:pPr algn="l">
              <a:lnSpc>
                <a:spcPct val="125000"/>
              </a:lnSpc>
              <a:spcAft>
                <a:spcPts val="600"/>
              </a:spcAft>
            </a:pPr>
            <a:r>
              <a:rPr sz="1250" b="1" i="0">
                <a:solidFill>
                  <a:srgbClr val="C26A02"/>
                </a:solidFill>
                <a:latin typeface="Consolas"/>
              </a:rPr>
              <a:t>02</a:t>
            </a:r>
          </a:p>
        </p:txBody>
      </p:sp>
      <p:sp>
        <p:nvSpPr>
          <p:cNvPr id="17" name="TextBox 16"/>
          <p:cNvSpPr txBox="1"/>
          <p:nvPr/>
        </p:nvSpPr>
        <p:spPr>
          <a:xfrm>
            <a:off x="4617720" y="1828800"/>
            <a:ext cx="3108960" cy="457200"/>
          </a:xfrm>
          <a:prstGeom prst="rect">
            <a:avLst/>
          </a:prstGeom>
          <a:noFill/>
        </p:spPr>
        <p:txBody>
          <a:bodyPr wrap="square" anchor="t" lIns="0" rIns="0" tIns="0" bIns="0">
            <a:spAutoFit/>
          </a:bodyPr>
          <a:lstStyle/>
          <a:p>
            <a:pPr algn="l">
              <a:lnSpc>
                <a:spcPct val="115000"/>
              </a:lnSpc>
              <a:spcAft>
                <a:spcPts val="600"/>
              </a:spcAft>
            </a:pPr>
            <a:r>
              <a:rPr sz="1350" b="1" i="0">
                <a:solidFill>
                  <a:srgbClr val="1A1F2E"/>
                </a:solidFill>
                <a:latin typeface="Calibri"/>
              </a:rPr>
              <a:t>Engineer 30 predictive features</a:t>
            </a:r>
          </a:p>
        </p:txBody>
      </p:sp>
      <p:sp>
        <p:nvSpPr>
          <p:cNvPr id="18" name="TextBox 17"/>
          <p:cNvSpPr txBox="1"/>
          <p:nvPr/>
        </p:nvSpPr>
        <p:spPr>
          <a:xfrm>
            <a:off x="4617720" y="2304288"/>
            <a:ext cx="3108960" cy="45720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spatial, temporal and contextual — including K-Means location clustering.</a:t>
            </a:r>
          </a:p>
        </p:txBody>
      </p:sp>
      <p:sp>
        <p:nvSpPr>
          <p:cNvPr id="19" name="Rectangle 18"/>
          <p:cNvSpPr/>
          <p:nvPr/>
        </p:nvSpPr>
        <p:spPr>
          <a:xfrm>
            <a:off x="8138160" y="1353312"/>
            <a:ext cx="3520440" cy="1463040"/>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353312"/>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57616" y="1572768"/>
            <a:ext cx="3017520" cy="237744"/>
          </a:xfrm>
          <a:prstGeom prst="rect">
            <a:avLst/>
          </a:prstGeom>
          <a:noFill/>
        </p:spPr>
        <p:txBody>
          <a:bodyPr wrap="square" anchor="t" lIns="0" rIns="0" tIns="0" bIns="0">
            <a:spAutoFit/>
          </a:bodyPr>
          <a:lstStyle/>
          <a:p>
            <a:pPr algn="l">
              <a:lnSpc>
                <a:spcPct val="125000"/>
              </a:lnSpc>
              <a:spcAft>
                <a:spcPts val="600"/>
              </a:spcAft>
            </a:pPr>
            <a:r>
              <a:rPr sz="1250" b="1" i="0">
                <a:solidFill>
                  <a:srgbClr val="C26A02"/>
                </a:solidFill>
                <a:latin typeface="Consolas"/>
              </a:rPr>
              <a:t>03</a:t>
            </a:r>
          </a:p>
        </p:txBody>
      </p:sp>
      <p:sp>
        <p:nvSpPr>
          <p:cNvPr id="22" name="TextBox 21"/>
          <p:cNvSpPr txBox="1"/>
          <p:nvPr/>
        </p:nvSpPr>
        <p:spPr>
          <a:xfrm>
            <a:off x="8357616" y="1828800"/>
            <a:ext cx="3108960" cy="457200"/>
          </a:xfrm>
          <a:prstGeom prst="rect">
            <a:avLst/>
          </a:prstGeom>
          <a:noFill/>
        </p:spPr>
        <p:txBody>
          <a:bodyPr wrap="square" anchor="t" lIns="0" rIns="0" tIns="0" bIns="0">
            <a:spAutoFit/>
          </a:bodyPr>
          <a:lstStyle/>
          <a:p>
            <a:pPr algn="l">
              <a:lnSpc>
                <a:spcPct val="115000"/>
              </a:lnSpc>
              <a:spcAft>
                <a:spcPts val="600"/>
              </a:spcAft>
            </a:pPr>
            <a:r>
              <a:rPr sz="1350" b="1" i="0">
                <a:solidFill>
                  <a:srgbClr val="1A1F2E"/>
                </a:solidFill>
                <a:latin typeface="Calibri"/>
              </a:rPr>
              <a:t>Train four heterogeneous classifiers</a:t>
            </a:r>
          </a:p>
        </p:txBody>
      </p:sp>
      <p:sp>
        <p:nvSpPr>
          <p:cNvPr id="23" name="TextBox 22"/>
          <p:cNvSpPr txBox="1"/>
          <p:nvPr/>
        </p:nvSpPr>
        <p:spPr>
          <a:xfrm>
            <a:off x="8357616" y="2304288"/>
            <a:ext cx="3108960" cy="45720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LightGBM, XGBoost, an MLP and TabNet, each evaluated independently first.</a:t>
            </a:r>
          </a:p>
        </p:txBody>
      </p:sp>
      <p:sp>
        <p:nvSpPr>
          <p:cNvPr id="24" name="Rectangle 23"/>
          <p:cNvSpPr/>
          <p:nvPr/>
        </p:nvSpPr>
        <p:spPr>
          <a:xfrm>
            <a:off x="658368" y="2962656"/>
            <a:ext cx="3520440" cy="1463040"/>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2962656"/>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3182112"/>
            <a:ext cx="3017520" cy="237744"/>
          </a:xfrm>
          <a:prstGeom prst="rect">
            <a:avLst/>
          </a:prstGeom>
          <a:noFill/>
        </p:spPr>
        <p:txBody>
          <a:bodyPr wrap="square" anchor="t" lIns="0" rIns="0" tIns="0" bIns="0">
            <a:spAutoFit/>
          </a:bodyPr>
          <a:lstStyle/>
          <a:p>
            <a:pPr algn="l">
              <a:lnSpc>
                <a:spcPct val="125000"/>
              </a:lnSpc>
              <a:spcAft>
                <a:spcPts val="600"/>
              </a:spcAft>
            </a:pPr>
            <a:r>
              <a:rPr sz="1250" b="1" i="0">
                <a:solidFill>
                  <a:srgbClr val="C26A02"/>
                </a:solidFill>
                <a:latin typeface="Consolas"/>
              </a:rPr>
              <a:t>04</a:t>
            </a:r>
          </a:p>
        </p:txBody>
      </p:sp>
      <p:sp>
        <p:nvSpPr>
          <p:cNvPr id="27" name="TextBox 26"/>
          <p:cNvSpPr txBox="1"/>
          <p:nvPr/>
        </p:nvSpPr>
        <p:spPr>
          <a:xfrm>
            <a:off x="877824" y="3438144"/>
            <a:ext cx="3108960" cy="457200"/>
          </a:xfrm>
          <a:prstGeom prst="rect">
            <a:avLst/>
          </a:prstGeom>
          <a:noFill/>
        </p:spPr>
        <p:txBody>
          <a:bodyPr wrap="square" anchor="t" lIns="0" rIns="0" tIns="0" bIns="0">
            <a:spAutoFit/>
          </a:bodyPr>
          <a:lstStyle/>
          <a:p>
            <a:pPr algn="l">
              <a:lnSpc>
                <a:spcPct val="115000"/>
              </a:lnSpc>
              <a:spcAft>
                <a:spcPts val="600"/>
              </a:spcAft>
            </a:pPr>
            <a:r>
              <a:rPr sz="1350" b="1" i="0">
                <a:solidFill>
                  <a:srgbClr val="1A1F2E"/>
                </a:solidFill>
                <a:latin typeface="Calibri"/>
              </a:rPr>
              <a:t>Combine via out-of-fold stacking</a:t>
            </a:r>
          </a:p>
        </p:txBody>
      </p:sp>
      <p:sp>
        <p:nvSpPr>
          <p:cNvPr id="28" name="TextBox 27"/>
          <p:cNvSpPr txBox="1"/>
          <p:nvPr/>
        </p:nvSpPr>
        <p:spPr>
          <a:xfrm>
            <a:off x="877824" y="3913632"/>
            <a:ext cx="3108960" cy="45720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with a LightGBM meta-learner — reported honestly, including where it fails.</a:t>
            </a:r>
          </a:p>
        </p:txBody>
      </p:sp>
      <p:sp>
        <p:nvSpPr>
          <p:cNvPr id="29" name="Rectangle 28"/>
          <p:cNvSpPr/>
          <p:nvPr/>
        </p:nvSpPr>
        <p:spPr>
          <a:xfrm>
            <a:off x="4398264" y="2962656"/>
            <a:ext cx="3520440" cy="1463040"/>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98264" y="2962656"/>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3182112"/>
            <a:ext cx="3017520" cy="237744"/>
          </a:xfrm>
          <a:prstGeom prst="rect">
            <a:avLst/>
          </a:prstGeom>
          <a:noFill/>
        </p:spPr>
        <p:txBody>
          <a:bodyPr wrap="square" anchor="t" lIns="0" rIns="0" tIns="0" bIns="0">
            <a:spAutoFit/>
          </a:bodyPr>
          <a:lstStyle/>
          <a:p>
            <a:pPr algn="l">
              <a:lnSpc>
                <a:spcPct val="125000"/>
              </a:lnSpc>
              <a:spcAft>
                <a:spcPts val="600"/>
              </a:spcAft>
            </a:pPr>
            <a:r>
              <a:rPr sz="1250" b="1" i="0">
                <a:solidFill>
                  <a:srgbClr val="C26A02"/>
                </a:solidFill>
                <a:latin typeface="Consolas"/>
              </a:rPr>
              <a:t>05</a:t>
            </a:r>
          </a:p>
        </p:txBody>
      </p:sp>
      <p:sp>
        <p:nvSpPr>
          <p:cNvPr id="32" name="TextBox 31"/>
          <p:cNvSpPr txBox="1"/>
          <p:nvPr/>
        </p:nvSpPr>
        <p:spPr>
          <a:xfrm>
            <a:off x="4617720" y="3438144"/>
            <a:ext cx="3108960" cy="457200"/>
          </a:xfrm>
          <a:prstGeom prst="rect">
            <a:avLst/>
          </a:prstGeom>
          <a:noFill/>
        </p:spPr>
        <p:txBody>
          <a:bodyPr wrap="square" anchor="t" lIns="0" rIns="0" tIns="0" bIns="0">
            <a:spAutoFit/>
          </a:bodyPr>
          <a:lstStyle/>
          <a:p>
            <a:pPr algn="l">
              <a:lnSpc>
                <a:spcPct val="115000"/>
              </a:lnSpc>
              <a:spcAft>
                <a:spcPts val="600"/>
              </a:spcAft>
            </a:pPr>
            <a:r>
              <a:rPr sz="1350" b="1" i="0">
                <a:solidFill>
                  <a:srgbClr val="1A1F2E"/>
                </a:solidFill>
                <a:latin typeface="Calibri"/>
              </a:rPr>
              <a:t>Evaluate with imbalance-aware metrics</a:t>
            </a:r>
          </a:p>
        </p:txBody>
      </p:sp>
      <p:sp>
        <p:nvSpPr>
          <p:cNvPr id="33" name="TextBox 32"/>
          <p:cNvSpPr txBox="1"/>
          <p:nvPr/>
        </p:nvSpPr>
        <p:spPr>
          <a:xfrm>
            <a:off x="4617720" y="3913632"/>
            <a:ext cx="3108960" cy="45720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macro-F1 and per-class recall, not accuracy alone.</a:t>
            </a:r>
          </a:p>
        </p:txBody>
      </p:sp>
      <p:sp>
        <p:nvSpPr>
          <p:cNvPr id="34" name="Rectangle 33"/>
          <p:cNvSpPr/>
          <p:nvPr/>
        </p:nvSpPr>
        <p:spPr>
          <a:xfrm>
            <a:off x="8138160" y="2962656"/>
            <a:ext cx="3520440" cy="1463040"/>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60" y="2962656"/>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57616" y="3182112"/>
            <a:ext cx="3017520" cy="237744"/>
          </a:xfrm>
          <a:prstGeom prst="rect">
            <a:avLst/>
          </a:prstGeom>
          <a:noFill/>
        </p:spPr>
        <p:txBody>
          <a:bodyPr wrap="square" anchor="t" lIns="0" rIns="0" tIns="0" bIns="0">
            <a:spAutoFit/>
          </a:bodyPr>
          <a:lstStyle/>
          <a:p>
            <a:pPr algn="l">
              <a:lnSpc>
                <a:spcPct val="125000"/>
              </a:lnSpc>
              <a:spcAft>
                <a:spcPts val="600"/>
              </a:spcAft>
            </a:pPr>
            <a:r>
              <a:rPr sz="1250" b="1" i="0">
                <a:solidFill>
                  <a:srgbClr val="C26A02"/>
                </a:solidFill>
                <a:latin typeface="Consolas"/>
              </a:rPr>
              <a:t>06</a:t>
            </a:r>
          </a:p>
        </p:txBody>
      </p:sp>
      <p:sp>
        <p:nvSpPr>
          <p:cNvPr id="37" name="TextBox 36"/>
          <p:cNvSpPr txBox="1"/>
          <p:nvPr/>
        </p:nvSpPr>
        <p:spPr>
          <a:xfrm>
            <a:off x="8357616" y="3438144"/>
            <a:ext cx="3108960" cy="457200"/>
          </a:xfrm>
          <a:prstGeom prst="rect">
            <a:avLst/>
          </a:prstGeom>
          <a:noFill/>
        </p:spPr>
        <p:txBody>
          <a:bodyPr wrap="square" anchor="t" lIns="0" rIns="0" tIns="0" bIns="0">
            <a:spAutoFit/>
          </a:bodyPr>
          <a:lstStyle/>
          <a:p>
            <a:pPr algn="l">
              <a:lnSpc>
                <a:spcPct val="115000"/>
              </a:lnSpc>
              <a:spcAft>
                <a:spcPts val="600"/>
              </a:spcAft>
            </a:pPr>
            <a:r>
              <a:rPr sz="1350" b="1" i="0">
                <a:solidFill>
                  <a:srgbClr val="1A1F2E"/>
                </a:solidFill>
                <a:latin typeface="Calibri"/>
              </a:rPr>
              <a:t>Deploy as a working full-stack service</a:t>
            </a:r>
          </a:p>
        </p:txBody>
      </p:sp>
      <p:sp>
        <p:nvSpPr>
          <p:cNvPr id="38" name="TextBox 37"/>
          <p:cNvSpPr txBox="1"/>
          <p:nvPr/>
        </p:nvSpPr>
        <p:spPr>
          <a:xfrm>
            <a:off x="8357616" y="3913632"/>
            <a:ext cx="3108960" cy="45720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so the model is exercised as an operator would, not from a notebook.</a:t>
            </a:r>
          </a:p>
        </p:txBody>
      </p:sp>
      <p:sp>
        <p:nvSpPr>
          <p:cNvPr id="39" name="TextBox 38"/>
          <p:cNvSpPr txBox="1"/>
          <p:nvPr/>
        </p:nvSpPr>
        <p:spPr>
          <a:xfrm>
            <a:off x="658368" y="4663440"/>
            <a:ext cx="54864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KEY DELIVERABLES</a:t>
            </a:r>
          </a:p>
        </p:txBody>
      </p:sp>
      <p:sp>
        <p:nvSpPr>
          <p:cNvPr id="40" name="Rectangle 39"/>
          <p:cNvSpPr/>
          <p:nvPr/>
        </p:nvSpPr>
        <p:spPr>
          <a:xfrm>
            <a:off x="658368" y="5029200"/>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96112" y="4956048"/>
            <a:ext cx="10735056" cy="384048"/>
          </a:xfrm>
          <a:prstGeom prst="rect">
            <a:avLst/>
          </a:prstGeom>
          <a:noFill/>
        </p:spPr>
        <p:txBody>
          <a:bodyPr wrap="square" anchor="t" lIns="0" rIns="0" tIns="0" bIns="0">
            <a:spAutoFit/>
          </a:bodyPr>
          <a:lstStyle/>
          <a:p>
            <a:pPr algn="l">
              <a:lnSpc>
                <a:spcPct val="122000"/>
              </a:lnSpc>
              <a:spcAft>
                <a:spcPts val="600"/>
              </a:spcAft>
            </a:pPr>
            <a:r>
              <a:rPr sz="1250" b="1" i="0">
                <a:solidFill>
                  <a:srgbClr val="1A1F2E"/>
                </a:solidFill>
                <a:latin typeface="Calibri"/>
              </a:rPr>
              <a:t>Reproducible preprocessing pipeline  </a:t>
            </a:r>
            <a:r>
              <a:rPr sz="1250" b="0" i="0">
                <a:solidFill>
                  <a:srgbClr val="5B6478"/>
                </a:solidFill>
                <a:latin typeface="Calibri"/>
              </a:rPr>
              <a:t>— imputation, encoding, K-Means clustering, all serialized.</a:t>
            </a:r>
          </a:p>
        </p:txBody>
      </p:sp>
      <p:sp>
        <p:nvSpPr>
          <p:cNvPr id="42" name="Rectangle 41"/>
          <p:cNvSpPr/>
          <p:nvPr/>
        </p:nvSpPr>
        <p:spPr>
          <a:xfrm>
            <a:off x="658368" y="5413248"/>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5340096"/>
            <a:ext cx="10735056" cy="384048"/>
          </a:xfrm>
          <a:prstGeom prst="rect">
            <a:avLst/>
          </a:prstGeom>
          <a:noFill/>
        </p:spPr>
        <p:txBody>
          <a:bodyPr wrap="square" anchor="t" lIns="0" rIns="0" tIns="0" bIns="0">
            <a:spAutoFit/>
          </a:bodyPr>
          <a:lstStyle/>
          <a:p>
            <a:pPr algn="l">
              <a:lnSpc>
                <a:spcPct val="122000"/>
              </a:lnSpc>
              <a:spcAft>
                <a:spcPts val="600"/>
              </a:spcAft>
            </a:pPr>
            <a:r>
              <a:rPr sz="1250" b="1" i="0">
                <a:solidFill>
                  <a:srgbClr val="1A1F2E"/>
                </a:solidFill>
                <a:latin typeface="Calibri"/>
              </a:rPr>
              <a:t>Five trained models + comparative evaluation  </a:t>
            </a:r>
            <a:r>
              <a:rPr sz="1250" b="0" i="0">
                <a:solidFill>
                  <a:srgbClr val="5B6478"/>
                </a:solidFill>
                <a:latin typeface="Calibri"/>
              </a:rPr>
              <a:t>— four base learners, one stacked meta-learner.</a:t>
            </a:r>
          </a:p>
        </p:txBody>
      </p:sp>
      <p:sp>
        <p:nvSpPr>
          <p:cNvPr id="44" name="Rectangle 43"/>
          <p:cNvSpPr/>
          <p:nvPr/>
        </p:nvSpPr>
        <p:spPr>
          <a:xfrm>
            <a:off x="658368" y="5797296"/>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724144"/>
            <a:ext cx="10735056" cy="384048"/>
          </a:xfrm>
          <a:prstGeom prst="rect">
            <a:avLst/>
          </a:prstGeom>
          <a:noFill/>
        </p:spPr>
        <p:txBody>
          <a:bodyPr wrap="square" anchor="t" lIns="0" rIns="0" tIns="0" bIns="0">
            <a:spAutoFit/>
          </a:bodyPr>
          <a:lstStyle/>
          <a:p>
            <a:pPr algn="l">
              <a:lnSpc>
                <a:spcPct val="122000"/>
              </a:lnSpc>
              <a:spcAft>
                <a:spcPts val="600"/>
              </a:spcAft>
            </a:pPr>
            <a:r>
              <a:rPr sz="1250" b="1" i="0">
                <a:solidFill>
                  <a:srgbClr val="1A1F2E"/>
                </a:solidFill>
                <a:latin typeface="Calibri"/>
              </a:rPr>
              <a:t>Rule-based recommendation engine  </a:t>
            </a:r>
            <a:r>
              <a:rPr sz="1250" b="0" i="0">
                <a:solidFill>
                  <a:srgbClr val="5B6478"/>
                </a:solidFill>
                <a:latin typeface="Calibri"/>
              </a:rPr>
              <a:t>— severity to manpower, barricading and diversion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3  ·  LITERATURE SURVEY</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Related Work and Where This Thesis Sits</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4</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371600"/>
            <a:ext cx="3520440" cy="1965960"/>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536192"/>
            <a:ext cx="3108960" cy="274320"/>
          </a:xfrm>
          <a:prstGeom prst="rect">
            <a:avLst/>
          </a:prstGeom>
          <a:noFill/>
        </p:spPr>
        <p:txBody>
          <a:bodyPr wrap="square" anchor="t" lIns="0" rIns="0" tIns="0" bIns="0">
            <a:spAutoFit/>
          </a:bodyPr>
          <a:lstStyle/>
          <a:p>
            <a:pPr algn="l">
              <a:lnSpc>
                <a:spcPct val="125000"/>
              </a:lnSpc>
              <a:spcAft>
                <a:spcPts val="600"/>
              </a:spcAft>
            </a:pPr>
            <a:r>
              <a:rPr sz="1350" b="1" i="0">
                <a:solidFill>
                  <a:srgbClr val="1A1F2E"/>
                </a:solidFill>
                <a:latin typeface="Calibri"/>
              </a:rPr>
              <a:t>ML for incident severity</a:t>
            </a:r>
          </a:p>
        </p:txBody>
      </p:sp>
      <p:sp>
        <p:nvSpPr>
          <p:cNvPr id="11" name="TextBox 10"/>
          <p:cNvSpPr txBox="1"/>
          <p:nvPr/>
        </p:nvSpPr>
        <p:spPr>
          <a:xfrm>
            <a:off x="877824" y="1865376"/>
            <a:ext cx="3108960" cy="914400"/>
          </a:xfrm>
          <a:prstGeom prst="rect">
            <a:avLst/>
          </a:prstGeom>
          <a:noFill/>
        </p:spPr>
        <p:txBody>
          <a:bodyPr wrap="square" anchor="t" lIns="0" rIns="0" tIns="0" bIns="0">
            <a:spAutoFit/>
          </a:bodyPr>
          <a:lstStyle/>
          <a:p>
            <a:pPr algn="l">
              <a:lnSpc>
                <a:spcPct val="126000"/>
              </a:lnSpc>
              <a:spcAft>
                <a:spcPts val="600"/>
              </a:spcAft>
            </a:pPr>
            <a:r>
              <a:rPr sz="1150" b="0" i="0">
                <a:solidFill>
                  <a:srgbClr val="1A1F2E"/>
                </a:solidFill>
                <a:latin typeface="Calibri"/>
              </a:rPr>
              <a:t>Gradient-boosted tree ensembles consistently perform best on structured, tabular crash- and incident-severity data.</a:t>
            </a:r>
          </a:p>
        </p:txBody>
      </p:sp>
      <p:sp>
        <p:nvSpPr>
          <p:cNvPr id="12" name="TextBox 11"/>
          <p:cNvSpPr txBox="1"/>
          <p:nvPr/>
        </p:nvSpPr>
        <p:spPr>
          <a:xfrm>
            <a:off x="877824" y="2962656"/>
            <a:ext cx="3108960" cy="256032"/>
          </a:xfrm>
          <a:prstGeom prst="rect">
            <a:avLst/>
          </a:prstGeom>
          <a:noFill/>
        </p:spPr>
        <p:txBody>
          <a:bodyPr wrap="square" anchor="t" lIns="0" rIns="0" tIns="0" bIns="0">
            <a:spAutoFit/>
          </a:bodyPr>
          <a:lstStyle/>
          <a:p>
            <a:pPr algn="l">
              <a:lnSpc>
                <a:spcPct val="125000"/>
              </a:lnSpc>
              <a:spcAft>
                <a:spcPts val="600"/>
              </a:spcAft>
            </a:pPr>
            <a:r>
              <a:rPr sz="950" b="1" i="0">
                <a:solidFill>
                  <a:srgbClr val="1B7F4B"/>
                </a:solidFill>
                <a:latin typeface="Consolas"/>
              </a:rPr>
              <a:t>Iranitalab &amp; Khattak · Zhu · Chen</a:t>
            </a:r>
          </a:p>
        </p:txBody>
      </p:sp>
      <p:sp>
        <p:nvSpPr>
          <p:cNvPr id="13" name="Rectangle 12"/>
          <p:cNvSpPr/>
          <p:nvPr/>
        </p:nvSpPr>
        <p:spPr>
          <a:xfrm>
            <a:off x="4398264" y="1371600"/>
            <a:ext cx="3520440" cy="1965960"/>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536192"/>
            <a:ext cx="3108960" cy="274320"/>
          </a:xfrm>
          <a:prstGeom prst="rect">
            <a:avLst/>
          </a:prstGeom>
          <a:noFill/>
        </p:spPr>
        <p:txBody>
          <a:bodyPr wrap="square" anchor="t" lIns="0" rIns="0" tIns="0" bIns="0">
            <a:spAutoFit/>
          </a:bodyPr>
          <a:lstStyle/>
          <a:p>
            <a:pPr algn="l">
              <a:lnSpc>
                <a:spcPct val="125000"/>
              </a:lnSpc>
              <a:spcAft>
                <a:spcPts val="600"/>
              </a:spcAft>
            </a:pPr>
            <a:r>
              <a:rPr sz="1350" b="1" i="0">
                <a:solidFill>
                  <a:srgbClr val="1A1F2E"/>
                </a:solidFill>
                <a:latin typeface="Calibri"/>
              </a:rPr>
              <a:t>Deep learning for congestion</a:t>
            </a:r>
          </a:p>
        </p:txBody>
      </p:sp>
      <p:sp>
        <p:nvSpPr>
          <p:cNvPr id="15" name="TextBox 14"/>
          <p:cNvSpPr txBox="1"/>
          <p:nvPr/>
        </p:nvSpPr>
        <p:spPr>
          <a:xfrm>
            <a:off x="4617720" y="1865376"/>
            <a:ext cx="3108960" cy="914400"/>
          </a:xfrm>
          <a:prstGeom prst="rect">
            <a:avLst/>
          </a:prstGeom>
          <a:noFill/>
        </p:spPr>
        <p:txBody>
          <a:bodyPr wrap="square" anchor="t" lIns="0" rIns="0" tIns="0" bIns="0">
            <a:spAutoFit/>
          </a:bodyPr>
          <a:lstStyle/>
          <a:p>
            <a:pPr algn="l">
              <a:lnSpc>
                <a:spcPct val="126000"/>
              </a:lnSpc>
              <a:spcAft>
                <a:spcPts val="600"/>
              </a:spcAft>
            </a:pPr>
            <a:r>
              <a:rPr sz="1150" b="0" i="0">
                <a:solidFill>
                  <a:srgbClr val="1A1F2E"/>
                </a:solidFill>
                <a:latin typeface="Calibri"/>
              </a:rPr>
              <a:t>Research concentrates on recurring, sensor-driven congestion — leaving event-driven, non-recurring congestion under-explored.</a:t>
            </a:r>
          </a:p>
        </p:txBody>
      </p:sp>
      <p:sp>
        <p:nvSpPr>
          <p:cNvPr id="16" name="TextBox 15"/>
          <p:cNvSpPr txBox="1"/>
          <p:nvPr/>
        </p:nvSpPr>
        <p:spPr>
          <a:xfrm>
            <a:off x="4617720" y="2962656"/>
            <a:ext cx="3108960" cy="256032"/>
          </a:xfrm>
          <a:prstGeom prst="rect">
            <a:avLst/>
          </a:prstGeom>
          <a:noFill/>
        </p:spPr>
        <p:txBody>
          <a:bodyPr wrap="square" anchor="t" lIns="0" rIns="0" tIns="0" bIns="0">
            <a:spAutoFit/>
          </a:bodyPr>
          <a:lstStyle/>
          <a:p>
            <a:pPr algn="l">
              <a:lnSpc>
                <a:spcPct val="125000"/>
              </a:lnSpc>
              <a:spcAft>
                <a:spcPts val="600"/>
              </a:spcAft>
            </a:pPr>
            <a:r>
              <a:rPr sz="950" b="1" i="0">
                <a:solidFill>
                  <a:srgbClr val="2B598A"/>
                </a:solidFill>
                <a:latin typeface="Consolas"/>
              </a:rPr>
              <a:t>Yin · Hussain · Dong</a:t>
            </a:r>
          </a:p>
        </p:txBody>
      </p:sp>
      <p:sp>
        <p:nvSpPr>
          <p:cNvPr id="17" name="Rectangle 16"/>
          <p:cNvSpPr/>
          <p:nvPr/>
        </p:nvSpPr>
        <p:spPr>
          <a:xfrm>
            <a:off x="8138160" y="1371600"/>
            <a:ext cx="3520440" cy="196596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6" y="1536192"/>
            <a:ext cx="3108960" cy="274320"/>
          </a:xfrm>
          <a:prstGeom prst="rect">
            <a:avLst/>
          </a:prstGeom>
          <a:noFill/>
        </p:spPr>
        <p:txBody>
          <a:bodyPr wrap="square" anchor="t" lIns="0" rIns="0" tIns="0" bIns="0">
            <a:spAutoFit/>
          </a:bodyPr>
          <a:lstStyle/>
          <a:p>
            <a:pPr algn="l">
              <a:lnSpc>
                <a:spcPct val="125000"/>
              </a:lnSpc>
              <a:spcAft>
                <a:spcPts val="600"/>
              </a:spcAft>
            </a:pPr>
            <a:r>
              <a:rPr sz="1350" b="1" i="0">
                <a:solidFill>
                  <a:srgbClr val="1A1F2E"/>
                </a:solidFill>
                <a:latin typeface="Calibri"/>
              </a:rPr>
              <a:t>Ensembles &amp; imbalance</a:t>
            </a:r>
          </a:p>
        </p:txBody>
      </p:sp>
      <p:sp>
        <p:nvSpPr>
          <p:cNvPr id="19" name="TextBox 18"/>
          <p:cNvSpPr txBox="1"/>
          <p:nvPr/>
        </p:nvSpPr>
        <p:spPr>
          <a:xfrm>
            <a:off x="8357616" y="1865376"/>
            <a:ext cx="3108960" cy="914400"/>
          </a:xfrm>
          <a:prstGeom prst="rect">
            <a:avLst/>
          </a:prstGeom>
          <a:noFill/>
        </p:spPr>
        <p:txBody>
          <a:bodyPr wrap="square" anchor="t" lIns="0" rIns="0" tIns="0" bIns="0">
            <a:spAutoFit/>
          </a:bodyPr>
          <a:lstStyle/>
          <a:p>
            <a:pPr algn="l">
              <a:lnSpc>
                <a:spcPct val="126000"/>
              </a:lnSpc>
              <a:spcAft>
                <a:spcPts val="600"/>
              </a:spcAft>
            </a:pPr>
            <a:r>
              <a:rPr sz="1150" b="0" i="0">
                <a:solidFill>
                  <a:srgbClr val="1A1F2E"/>
                </a:solidFill>
                <a:latin typeface="Calibri"/>
              </a:rPr>
              <a:t>Stacked generalization and imbalance-aware evaluation are each well established, but rarely applied together.</a:t>
            </a:r>
          </a:p>
        </p:txBody>
      </p:sp>
      <p:sp>
        <p:nvSpPr>
          <p:cNvPr id="20" name="TextBox 19"/>
          <p:cNvSpPr txBox="1"/>
          <p:nvPr/>
        </p:nvSpPr>
        <p:spPr>
          <a:xfrm>
            <a:off x="8357616" y="2962656"/>
            <a:ext cx="3108960" cy="256032"/>
          </a:xfrm>
          <a:prstGeom prst="rect">
            <a:avLst/>
          </a:prstGeom>
          <a:noFill/>
        </p:spPr>
        <p:txBody>
          <a:bodyPr wrap="square" anchor="t" lIns="0" rIns="0" tIns="0" bIns="0">
            <a:spAutoFit/>
          </a:bodyPr>
          <a:lstStyle/>
          <a:p>
            <a:pPr algn="l">
              <a:lnSpc>
                <a:spcPct val="125000"/>
              </a:lnSpc>
              <a:spcAft>
                <a:spcPts val="600"/>
              </a:spcAft>
            </a:pPr>
            <a:r>
              <a:rPr sz="950" b="1" i="0">
                <a:solidFill>
                  <a:srgbClr val="C26A02"/>
                </a:solidFill>
                <a:latin typeface="Consolas"/>
              </a:rPr>
              <a:t>Wolpert · Chawla (SMOTE) · Zhang</a:t>
            </a:r>
          </a:p>
        </p:txBody>
      </p:sp>
      <p:sp>
        <p:nvSpPr>
          <p:cNvPr id="21" name="Rectangle 20"/>
          <p:cNvSpPr/>
          <p:nvPr/>
        </p:nvSpPr>
        <p:spPr>
          <a:xfrm>
            <a:off x="658368" y="3611880"/>
            <a:ext cx="10874959" cy="1417320"/>
          </a:xfrm>
          <a:prstGeom prst="rect">
            <a:avLst/>
          </a:prstGeom>
          <a:solidFill>
            <a:srgbClr val="F4F5F7"/>
          </a:solidFill>
          <a:ln w="1905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3794760"/>
            <a:ext cx="10326319" cy="274320"/>
          </a:xfrm>
          <a:prstGeom prst="rect">
            <a:avLst/>
          </a:prstGeom>
          <a:noFill/>
        </p:spPr>
        <p:txBody>
          <a:bodyPr wrap="square" anchor="t" lIns="0" rIns="0" tIns="0" bIns="0">
            <a:spAutoFit/>
          </a:bodyPr>
          <a:lstStyle/>
          <a:p>
            <a:pPr algn="l">
              <a:lnSpc>
                <a:spcPct val="125000"/>
              </a:lnSpc>
              <a:spcAft>
                <a:spcPts val="600"/>
              </a:spcAft>
            </a:pPr>
            <a:r>
              <a:rPr sz="1100" b="1" i="0">
                <a:solidFill>
                  <a:srgbClr val="C26A02"/>
                </a:solidFill>
                <a:latin typeface="Calibri"/>
              </a:rPr>
              <a:t>THIS THESIS SITS AT THE INTERSECTION</a:t>
            </a:r>
          </a:p>
        </p:txBody>
      </p:sp>
      <p:sp>
        <p:nvSpPr>
          <p:cNvPr id="23" name="TextBox 22"/>
          <p:cNvSpPr txBox="1"/>
          <p:nvPr/>
        </p:nvSpPr>
        <p:spPr>
          <a:xfrm>
            <a:off x="932688" y="4114800"/>
            <a:ext cx="10326319" cy="822960"/>
          </a:xfrm>
          <a:prstGeom prst="rect">
            <a:avLst/>
          </a:prstGeom>
          <a:noFill/>
        </p:spPr>
        <p:txBody>
          <a:bodyPr wrap="square" anchor="t" lIns="0" rIns="0" tIns="0" bIns="0">
            <a:spAutoFit/>
          </a:bodyPr>
          <a:lstStyle/>
          <a:p>
            <a:pPr algn="l">
              <a:lnSpc>
                <a:spcPct val="130000"/>
              </a:lnSpc>
              <a:spcAft>
                <a:spcPts val="600"/>
              </a:spcAft>
            </a:pPr>
            <a:r>
              <a:rPr sz="1300" b="0" i="0">
                <a:solidFill>
                  <a:srgbClr val="1A1F2E"/>
                </a:solidFill>
                <a:latin typeface="Calibri"/>
              </a:rPr>
              <a:t>It applies a stacked ensemble of tree-based and neural classifiers to event-driven severity prediction, evaluates it with explicit, front-loaded attention to class imbalance rather than accuracy alone, and — unlike most severity-prediction work surveyed — couples the prediction directly to a deterministic resource-recommendation engine that turns a severity label into an actionable deployment plan.</a:t>
            </a:r>
          </a:p>
        </p:txBody>
      </p:sp>
      <p:sp>
        <p:nvSpPr>
          <p:cNvPr id="24" name="Rectangle 23"/>
          <p:cNvSpPr/>
          <p:nvPr/>
        </p:nvSpPr>
        <p:spPr>
          <a:xfrm>
            <a:off x="658368" y="5230368"/>
            <a:ext cx="3520440" cy="841248"/>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5367528"/>
            <a:ext cx="310896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B02A37"/>
                </a:solidFill>
                <a:latin typeface="Calibri"/>
              </a:rPr>
              <a:t>GAP 1</a:t>
            </a:r>
          </a:p>
        </p:txBody>
      </p:sp>
      <p:sp>
        <p:nvSpPr>
          <p:cNvPr id="26" name="TextBox 25"/>
          <p:cNvSpPr txBox="1"/>
          <p:nvPr/>
        </p:nvSpPr>
        <p:spPr>
          <a:xfrm>
            <a:off x="877824" y="5596128"/>
            <a:ext cx="3108960" cy="457200"/>
          </a:xfrm>
          <a:prstGeom prst="rect">
            <a:avLst/>
          </a:prstGeom>
          <a:noFill/>
        </p:spPr>
        <p:txBody>
          <a:bodyPr wrap="square" anchor="t" lIns="0" rIns="0" tIns="0" bIns="0">
            <a:spAutoFit/>
          </a:bodyPr>
          <a:lstStyle/>
          <a:p>
            <a:pPr algn="l">
              <a:lnSpc>
                <a:spcPct val="122000"/>
              </a:lnSpc>
              <a:spcAft>
                <a:spcPts val="600"/>
              </a:spcAft>
            </a:pPr>
            <a:r>
              <a:rPr sz="1100" b="0" i="0">
                <a:solidFill>
                  <a:srgbClr val="1A1F2E"/>
                </a:solidFill>
                <a:latin typeface="Calibri"/>
              </a:rPr>
              <a:t>Event-driven congestion is under-studied next to recurring congestion.</a:t>
            </a:r>
          </a:p>
        </p:txBody>
      </p:sp>
      <p:sp>
        <p:nvSpPr>
          <p:cNvPr id="27" name="Rectangle 26"/>
          <p:cNvSpPr/>
          <p:nvPr/>
        </p:nvSpPr>
        <p:spPr>
          <a:xfrm>
            <a:off x="4398264" y="5230368"/>
            <a:ext cx="3520440" cy="841248"/>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17720" y="5367528"/>
            <a:ext cx="310896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B02A37"/>
                </a:solidFill>
                <a:latin typeface="Calibri"/>
              </a:rPr>
              <a:t>GAP 2</a:t>
            </a:r>
          </a:p>
        </p:txBody>
      </p:sp>
      <p:sp>
        <p:nvSpPr>
          <p:cNvPr id="29" name="TextBox 28"/>
          <p:cNvSpPr txBox="1"/>
          <p:nvPr/>
        </p:nvSpPr>
        <p:spPr>
          <a:xfrm>
            <a:off x="4617720" y="5596128"/>
            <a:ext cx="3108960" cy="457200"/>
          </a:xfrm>
          <a:prstGeom prst="rect">
            <a:avLst/>
          </a:prstGeom>
          <a:noFill/>
        </p:spPr>
        <p:txBody>
          <a:bodyPr wrap="square" anchor="t" lIns="0" rIns="0" tIns="0" bIns="0">
            <a:spAutoFit/>
          </a:bodyPr>
          <a:lstStyle/>
          <a:p>
            <a:pPr algn="l">
              <a:lnSpc>
                <a:spcPct val="122000"/>
              </a:lnSpc>
              <a:spcAft>
                <a:spcPts val="600"/>
              </a:spcAft>
            </a:pPr>
            <a:r>
              <a:rPr sz="1100" b="0" i="0">
                <a:solidFill>
                  <a:srgbClr val="1A1F2E"/>
                </a:solidFill>
                <a:latin typeface="Calibri"/>
              </a:rPr>
              <a:t>Stacking and imbalance-aware evaluation are rarely combined.</a:t>
            </a:r>
          </a:p>
        </p:txBody>
      </p:sp>
      <p:sp>
        <p:nvSpPr>
          <p:cNvPr id="30" name="Rectangle 29"/>
          <p:cNvSpPr/>
          <p:nvPr/>
        </p:nvSpPr>
        <p:spPr>
          <a:xfrm>
            <a:off x="8138160" y="5230368"/>
            <a:ext cx="3520440" cy="841248"/>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57616" y="5367528"/>
            <a:ext cx="310896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B02A37"/>
                </a:solidFill>
                <a:latin typeface="Calibri"/>
              </a:rPr>
              <a:t>GAP 3</a:t>
            </a:r>
          </a:p>
        </p:txBody>
      </p:sp>
      <p:sp>
        <p:nvSpPr>
          <p:cNvPr id="32" name="TextBox 31"/>
          <p:cNvSpPr txBox="1"/>
          <p:nvPr/>
        </p:nvSpPr>
        <p:spPr>
          <a:xfrm>
            <a:off x="8357616" y="5596128"/>
            <a:ext cx="3108960" cy="457200"/>
          </a:xfrm>
          <a:prstGeom prst="rect">
            <a:avLst/>
          </a:prstGeom>
          <a:noFill/>
        </p:spPr>
        <p:txBody>
          <a:bodyPr wrap="square" anchor="t" lIns="0" rIns="0" tIns="0" bIns="0">
            <a:spAutoFit/>
          </a:bodyPr>
          <a:lstStyle/>
          <a:p>
            <a:pPr algn="l">
              <a:lnSpc>
                <a:spcPct val="122000"/>
              </a:lnSpc>
              <a:spcAft>
                <a:spcPts val="600"/>
              </a:spcAft>
            </a:pPr>
            <a:r>
              <a:rPr sz="1100" b="0" i="0">
                <a:solidFill>
                  <a:srgbClr val="1A1F2E"/>
                </a:solidFill>
                <a:latin typeface="Calibri"/>
              </a:rPr>
              <a:t>Predictions are rarely converted into operational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5  ·  DATASET</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The Data and Its Missing-Value Audit</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5</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TextBox 8"/>
          <p:cNvSpPr txBox="1"/>
          <p:nvPr/>
        </p:nvSpPr>
        <p:spPr>
          <a:xfrm>
            <a:off x="658368" y="1371600"/>
            <a:ext cx="5852160" cy="502920"/>
          </a:xfrm>
          <a:prstGeom prst="rect">
            <a:avLst/>
          </a:prstGeom>
          <a:noFill/>
        </p:spPr>
        <p:txBody>
          <a:bodyPr wrap="square" anchor="t" lIns="0" rIns="0" tIns="0" bIns="0">
            <a:spAutoFit/>
          </a:bodyPr>
          <a:lstStyle/>
          <a:p>
            <a:pPr algn="l">
              <a:lnSpc>
                <a:spcPct val="130000"/>
              </a:lnSpc>
              <a:spcAft>
                <a:spcPts val="600"/>
              </a:spcAft>
            </a:pPr>
            <a:r>
              <a:rPr sz="1300" b="0" i="0">
                <a:solidFill>
                  <a:srgbClr val="1A1F2E"/>
                </a:solidFill>
                <a:latin typeface="Calibri"/>
              </a:rPr>
              <a:t>An anonymised export of 8,173 Bengaluru traffic events with 46 raw attributes. A column-by-column missingness audit split them into four bands:</a:t>
            </a:r>
          </a:p>
        </p:txBody>
      </p:sp>
      <p:sp>
        <p:nvSpPr>
          <p:cNvPr id="10" name="Rectangle 9"/>
          <p:cNvSpPr/>
          <p:nvPr/>
        </p:nvSpPr>
        <p:spPr>
          <a:xfrm>
            <a:off x="658368" y="2011680"/>
            <a:ext cx="5852160" cy="877824"/>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121408"/>
            <a:ext cx="2011680" cy="256032"/>
          </a:xfrm>
          <a:prstGeom prst="rect">
            <a:avLst/>
          </a:prstGeom>
          <a:noFill/>
        </p:spPr>
        <p:txBody>
          <a:bodyPr wrap="square" anchor="t" lIns="0" rIns="0" tIns="0" bIns="0">
            <a:spAutoFit/>
          </a:bodyPr>
          <a:lstStyle/>
          <a:p>
            <a:pPr algn="l">
              <a:lnSpc>
                <a:spcPct val="125000"/>
              </a:lnSpc>
              <a:spcAft>
                <a:spcPts val="600"/>
              </a:spcAft>
            </a:pPr>
            <a:r>
              <a:rPr sz="1200" b="1" i="0">
                <a:solidFill>
                  <a:srgbClr val="B02A37"/>
                </a:solidFill>
                <a:latin typeface="Calibri"/>
              </a:rPr>
              <a:t>96–100% missing</a:t>
            </a:r>
          </a:p>
        </p:txBody>
      </p:sp>
      <p:sp>
        <p:nvSpPr>
          <p:cNvPr id="12" name="TextBox 11"/>
          <p:cNvSpPr txBox="1"/>
          <p:nvPr/>
        </p:nvSpPr>
        <p:spPr>
          <a:xfrm>
            <a:off x="877824" y="2377440"/>
            <a:ext cx="539496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comment · map_file · meta_data · resolution fields</a:t>
            </a:r>
          </a:p>
        </p:txBody>
      </p:sp>
      <p:sp>
        <p:nvSpPr>
          <p:cNvPr id="13" name="TextBox 12"/>
          <p:cNvSpPr txBox="1"/>
          <p:nvPr/>
        </p:nvSpPr>
        <p:spPr>
          <a:xfrm>
            <a:off x="877824" y="2615184"/>
            <a:ext cx="5394960" cy="237744"/>
          </a:xfrm>
          <a:prstGeom prst="rect">
            <a:avLst/>
          </a:prstGeom>
          <a:noFill/>
        </p:spPr>
        <p:txBody>
          <a:bodyPr wrap="square" anchor="t" lIns="0" rIns="0" tIns="0" bIns="0">
            <a:spAutoFit/>
          </a:bodyPr>
          <a:lstStyle/>
          <a:p>
            <a:pPr algn="l">
              <a:lnSpc>
                <a:spcPct val="125000"/>
              </a:lnSpc>
              <a:spcAft>
                <a:spcPts val="600"/>
              </a:spcAft>
            </a:pPr>
            <a:r>
              <a:rPr sz="1100" b="0" i="0">
                <a:solidFill>
                  <a:srgbClr val="1A1F2E"/>
                </a:solidFill>
                <a:latin typeface="Calibri"/>
              </a:rPr>
              <a:t>Dropped outright — essentially no signal.</a:t>
            </a:r>
          </a:p>
        </p:txBody>
      </p:sp>
      <p:sp>
        <p:nvSpPr>
          <p:cNvPr id="14" name="Rectangle 13"/>
          <p:cNvSpPr/>
          <p:nvPr/>
        </p:nvSpPr>
        <p:spPr>
          <a:xfrm>
            <a:off x="658368" y="2980944"/>
            <a:ext cx="5852160" cy="877824"/>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3090672"/>
            <a:ext cx="2011680" cy="256032"/>
          </a:xfrm>
          <a:prstGeom prst="rect">
            <a:avLst/>
          </a:prstGeom>
          <a:noFill/>
        </p:spPr>
        <p:txBody>
          <a:bodyPr wrap="square" anchor="t" lIns="0" rIns="0" tIns="0" bIns="0">
            <a:spAutoFit/>
          </a:bodyPr>
          <a:lstStyle/>
          <a:p>
            <a:pPr algn="l">
              <a:lnSpc>
                <a:spcPct val="125000"/>
              </a:lnSpc>
              <a:spcAft>
                <a:spcPts val="600"/>
              </a:spcAft>
            </a:pPr>
            <a:r>
              <a:rPr sz="1200" b="1" i="0">
                <a:solidFill>
                  <a:srgbClr val="C26A02"/>
                </a:solidFill>
                <a:latin typeface="Calibri"/>
              </a:rPr>
              <a:t>40–70% missing</a:t>
            </a:r>
          </a:p>
        </p:txBody>
      </p:sp>
      <p:sp>
        <p:nvSpPr>
          <p:cNvPr id="16" name="TextBox 15"/>
          <p:cNvSpPr txBox="1"/>
          <p:nvPr/>
        </p:nvSpPr>
        <p:spPr>
          <a:xfrm>
            <a:off x="877824" y="3346704"/>
            <a:ext cx="539496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junction 69.3% · closed_datetime 61.6% · zone 57.9% · veh_type 40.2%</a:t>
            </a:r>
          </a:p>
        </p:txBody>
      </p:sp>
      <p:sp>
        <p:nvSpPr>
          <p:cNvPr id="17" name="TextBox 16"/>
          <p:cNvSpPr txBox="1"/>
          <p:nvPr/>
        </p:nvSpPr>
        <p:spPr>
          <a:xfrm>
            <a:off x="877824" y="3584448"/>
            <a:ext cx="5394960" cy="237744"/>
          </a:xfrm>
          <a:prstGeom prst="rect">
            <a:avLst/>
          </a:prstGeom>
          <a:noFill/>
        </p:spPr>
        <p:txBody>
          <a:bodyPr wrap="square" anchor="t" lIns="0" rIns="0" tIns="0" bIns="0">
            <a:spAutoFit/>
          </a:bodyPr>
          <a:lstStyle/>
          <a:p>
            <a:pPr algn="l">
              <a:lnSpc>
                <a:spcPct val="125000"/>
              </a:lnSpc>
              <a:spcAft>
                <a:spcPts val="600"/>
              </a:spcAft>
            </a:pPr>
            <a:r>
              <a:rPr sz="1100" b="0" i="0">
                <a:solidFill>
                  <a:srgbClr val="1A1F2E"/>
                </a:solidFill>
                <a:latin typeface="Calibri"/>
              </a:rPr>
              <a:t>Kept, with an explicit "unknown" category or presence flag.</a:t>
            </a:r>
          </a:p>
        </p:txBody>
      </p:sp>
      <p:sp>
        <p:nvSpPr>
          <p:cNvPr id="18" name="Rectangle 17"/>
          <p:cNvSpPr/>
          <p:nvPr/>
        </p:nvSpPr>
        <p:spPr>
          <a:xfrm>
            <a:off x="658368" y="3950208"/>
            <a:ext cx="5852160" cy="877824"/>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4059936"/>
            <a:ext cx="2011680" cy="256032"/>
          </a:xfrm>
          <a:prstGeom prst="rect">
            <a:avLst/>
          </a:prstGeom>
          <a:noFill/>
        </p:spPr>
        <p:txBody>
          <a:bodyPr wrap="square" anchor="t" lIns="0" rIns="0" tIns="0" bIns="0">
            <a:spAutoFit/>
          </a:bodyPr>
          <a:lstStyle/>
          <a:p>
            <a:pPr algn="l">
              <a:lnSpc>
                <a:spcPct val="125000"/>
              </a:lnSpc>
              <a:spcAft>
                <a:spcPts val="600"/>
              </a:spcAft>
            </a:pPr>
            <a:r>
              <a:rPr sz="1200" b="1" i="0">
                <a:solidFill>
                  <a:srgbClr val="1B7F4B"/>
                </a:solidFill>
                <a:latin typeface="Calibri"/>
              </a:rPr>
              <a:t>0% missing</a:t>
            </a:r>
          </a:p>
        </p:txBody>
      </p:sp>
      <p:sp>
        <p:nvSpPr>
          <p:cNvPr id="20" name="TextBox 19"/>
          <p:cNvSpPr txBox="1"/>
          <p:nvPr/>
        </p:nvSpPr>
        <p:spPr>
          <a:xfrm>
            <a:off x="877824" y="4315968"/>
            <a:ext cx="539496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coordinates · event cause · priority · closure flag</a:t>
            </a:r>
          </a:p>
        </p:txBody>
      </p:sp>
      <p:sp>
        <p:nvSpPr>
          <p:cNvPr id="21" name="TextBox 20"/>
          <p:cNvSpPr txBox="1"/>
          <p:nvPr/>
        </p:nvSpPr>
        <p:spPr>
          <a:xfrm>
            <a:off x="877824" y="4553712"/>
            <a:ext cx="5394960" cy="237744"/>
          </a:xfrm>
          <a:prstGeom prst="rect">
            <a:avLst/>
          </a:prstGeom>
          <a:noFill/>
        </p:spPr>
        <p:txBody>
          <a:bodyPr wrap="square" anchor="t" lIns="0" rIns="0" tIns="0" bIns="0">
            <a:spAutoFit/>
          </a:bodyPr>
          <a:lstStyle/>
          <a:p>
            <a:pPr algn="l">
              <a:lnSpc>
                <a:spcPct val="125000"/>
              </a:lnSpc>
              <a:spcAft>
                <a:spcPts val="600"/>
              </a:spcAft>
            </a:pPr>
            <a:r>
              <a:rPr sz="1100" b="0" i="0">
                <a:solidFill>
                  <a:srgbClr val="1A1F2E"/>
                </a:solidFill>
                <a:latin typeface="Calibri"/>
              </a:rPr>
              <a:t>Retained — these build the target and the core features.</a:t>
            </a:r>
          </a:p>
        </p:txBody>
      </p:sp>
      <p:sp>
        <p:nvSpPr>
          <p:cNvPr id="22" name="Rectangle 21"/>
          <p:cNvSpPr/>
          <p:nvPr/>
        </p:nvSpPr>
        <p:spPr>
          <a:xfrm>
            <a:off x="658368" y="4919472"/>
            <a:ext cx="5852160" cy="877824"/>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029200"/>
            <a:ext cx="2011680" cy="256032"/>
          </a:xfrm>
          <a:prstGeom prst="rect">
            <a:avLst/>
          </a:prstGeom>
          <a:noFill/>
        </p:spPr>
        <p:txBody>
          <a:bodyPr wrap="square" anchor="t" lIns="0" rIns="0" tIns="0" bIns="0">
            <a:spAutoFit/>
          </a:bodyPr>
          <a:lstStyle/>
          <a:p>
            <a:pPr algn="l">
              <a:lnSpc>
                <a:spcPct val="125000"/>
              </a:lnSpc>
              <a:spcAft>
                <a:spcPts val="600"/>
              </a:spcAft>
            </a:pPr>
            <a:r>
              <a:rPr sz="1200" b="1" i="0">
                <a:solidFill>
                  <a:srgbClr val="5B6478"/>
                </a:solidFill>
                <a:latin typeface="Calibri"/>
              </a:rPr>
              <a:t>Identifiers</a:t>
            </a:r>
          </a:p>
        </p:txBody>
      </p:sp>
      <p:sp>
        <p:nvSpPr>
          <p:cNvPr id="24" name="TextBox 23"/>
          <p:cNvSpPr txBox="1"/>
          <p:nvPr/>
        </p:nvSpPr>
        <p:spPr>
          <a:xfrm>
            <a:off x="877824" y="5285232"/>
            <a:ext cx="539496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id · client_id · created_by_id and similar keys</a:t>
            </a:r>
          </a:p>
        </p:txBody>
      </p:sp>
      <p:sp>
        <p:nvSpPr>
          <p:cNvPr id="25" name="TextBox 24"/>
          <p:cNvSpPr txBox="1"/>
          <p:nvPr/>
        </p:nvSpPr>
        <p:spPr>
          <a:xfrm>
            <a:off x="877824" y="5522976"/>
            <a:ext cx="5394960" cy="237744"/>
          </a:xfrm>
          <a:prstGeom prst="rect">
            <a:avLst/>
          </a:prstGeom>
          <a:noFill/>
        </p:spPr>
        <p:txBody>
          <a:bodyPr wrap="square" anchor="t" lIns="0" rIns="0" tIns="0" bIns="0">
            <a:spAutoFit/>
          </a:bodyPr>
          <a:lstStyle/>
          <a:p>
            <a:pPr algn="l">
              <a:lnSpc>
                <a:spcPct val="125000"/>
              </a:lnSpc>
              <a:spcAft>
                <a:spcPts val="600"/>
              </a:spcAft>
            </a:pPr>
            <a:r>
              <a:rPr sz="1100" b="0" i="0">
                <a:solidFill>
                  <a:srgbClr val="1A1F2E"/>
                </a:solidFill>
                <a:latin typeface="Calibri"/>
              </a:rPr>
              <a:t>Dropped regardless — a database key carries no signal.</a:t>
            </a:r>
          </a:p>
        </p:txBody>
      </p:sp>
      <p:sp>
        <p:nvSpPr>
          <p:cNvPr id="26" name="Rectangle 25"/>
          <p:cNvSpPr/>
          <p:nvPr/>
        </p:nvSpPr>
        <p:spPr>
          <a:xfrm>
            <a:off x="6821424" y="1411634"/>
            <a:ext cx="4748479" cy="4034731"/>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issing_values.png"/>
          <p:cNvPicPr>
            <a:picLocks noChangeAspect="1"/>
          </p:cNvPicPr>
          <p:nvPr/>
        </p:nvPicPr>
        <p:blipFill>
          <a:blip r:embed="rId2"/>
          <a:stretch>
            <a:fillRect/>
          </a:stretch>
        </p:blipFill>
        <p:spPr>
          <a:xfrm>
            <a:off x="6858000" y="1448210"/>
            <a:ext cx="4675327" cy="3961579"/>
          </a:xfrm>
          <a:prstGeom prst="rect">
            <a:avLst/>
          </a:prstGeom>
        </p:spPr>
      </p:pic>
      <p:sp>
        <p:nvSpPr>
          <p:cNvPr id="28" name="TextBox 27"/>
          <p:cNvSpPr txBox="1"/>
          <p:nvPr/>
        </p:nvSpPr>
        <p:spPr>
          <a:xfrm>
            <a:off x="6858000" y="5623560"/>
            <a:ext cx="4675327" cy="548640"/>
          </a:xfrm>
          <a:prstGeom prst="rect">
            <a:avLst/>
          </a:prstGeom>
          <a:noFill/>
        </p:spPr>
        <p:txBody>
          <a:bodyPr wrap="square" anchor="t" lIns="0" rIns="0" tIns="0" bIns="0">
            <a:spAutoFit/>
          </a:bodyPr>
          <a:lstStyle/>
          <a:p>
            <a:pPr algn="ctr">
              <a:lnSpc>
                <a:spcPct val="125000"/>
              </a:lnSpc>
              <a:spcAft>
                <a:spcPts val="600"/>
              </a:spcAft>
            </a:pPr>
            <a:r>
              <a:rPr sz="1050" b="0" i="0">
                <a:solidFill>
                  <a:srgbClr val="5B6478"/>
                </a:solidFill>
                <a:latin typeface="Calibri"/>
              </a:rPr>
              <a:t>Missing-value distribution across the 46 raw columns (n = 8,173). Dropping the mid-band outright would have discarded real information.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5  ·  EXPLORATORY ANALYSIS</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What the Data Looks Like Before Modelling</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6</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TextBox 8"/>
          <p:cNvSpPr txBox="1"/>
          <p:nvPr/>
        </p:nvSpPr>
        <p:spPr>
          <a:xfrm>
            <a:off x="658368" y="1316736"/>
            <a:ext cx="10874959" cy="457200"/>
          </a:xfrm>
          <a:prstGeom prst="rect">
            <a:avLst/>
          </a:prstGeom>
          <a:noFill/>
        </p:spPr>
        <p:txBody>
          <a:bodyPr wrap="square" anchor="t" lIns="0" rIns="0" tIns="0" bIns="0">
            <a:spAutoFit/>
          </a:bodyPr>
          <a:lstStyle/>
          <a:p>
            <a:pPr algn="l">
              <a:lnSpc>
                <a:spcPct val="128000"/>
              </a:lnSpc>
              <a:spcAft>
                <a:spcPts val="600"/>
              </a:spcAft>
            </a:pPr>
            <a:r>
              <a:rPr sz="1250" b="0" i="0">
                <a:solidFill>
                  <a:srgbClr val="1A1F2E"/>
                </a:solidFill>
                <a:latin typeface="Calibri"/>
              </a:rPr>
              <a:t>Exploratory analysis drove the feature design — the temporal structure below is the direct reason the engineered feature set carries rush-hour and day-of-week flags.</a:t>
            </a:r>
          </a:p>
        </p:txBody>
      </p:sp>
      <p:sp>
        <p:nvSpPr>
          <p:cNvPr id="10" name="TextBox 9"/>
          <p:cNvSpPr txBox="1"/>
          <p:nvPr/>
        </p:nvSpPr>
        <p:spPr>
          <a:xfrm>
            <a:off x="658368" y="1883664"/>
            <a:ext cx="54864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TEMPORAL STRUCTURE</a:t>
            </a:r>
          </a:p>
        </p:txBody>
      </p:sp>
      <p:sp>
        <p:nvSpPr>
          <p:cNvPr id="11" name="Rectangle 10"/>
          <p:cNvSpPr/>
          <p:nvPr/>
        </p:nvSpPr>
        <p:spPr>
          <a:xfrm>
            <a:off x="2382012" y="2103120"/>
            <a:ext cx="7434071" cy="2176272"/>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emporal_overview.png"/>
          <p:cNvPicPr>
            <a:picLocks noChangeAspect="1"/>
          </p:cNvPicPr>
          <p:nvPr/>
        </p:nvPicPr>
        <p:blipFill>
          <a:blip r:embed="rId2"/>
          <a:stretch>
            <a:fillRect/>
          </a:stretch>
        </p:blipFill>
        <p:spPr>
          <a:xfrm>
            <a:off x="2418588" y="2139696"/>
            <a:ext cx="7360919" cy="2103120"/>
          </a:xfrm>
          <a:prstGeom prst="rect">
            <a:avLst/>
          </a:prstGeom>
        </p:spPr>
      </p:pic>
      <p:sp>
        <p:nvSpPr>
          <p:cNvPr id="13" name="TextBox 12"/>
          <p:cNvSpPr txBox="1"/>
          <p:nvPr/>
        </p:nvSpPr>
        <p:spPr>
          <a:xfrm>
            <a:off x="658368" y="4315968"/>
            <a:ext cx="10881360" cy="274320"/>
          </a:xfrm>
          <a:prstGeom prst="rect">
            <a:avLst/>
          </a:prstGeom>
          <a:noFill/>
        </p:spPr>
        <p:txBody>
          <a:bodyPr wrap="square" anchor="t" lIns="0" rIns="0" tIns="0" bIns="0">
            <a:spAutoFit/>
          </a:bodyPr>
          <a:lstStyle/>
          <a:p>
            <a:pPr algn="ctr">
              <a:lnSpc>
                <a:spcPct val="125000"/>
              </a:lnSpc>
              <a:spcAft>
                <a:spcPts val="600"/>
              </a:spcAft>
            </a:pPr>
            <a:r>
              <a:rPr sz="1050" b="0" i="0">
                <a:solidFill>
                  <a:srgbClr val="5B6478"/>
                </a:solidFill>
                <a:latin typeface="Calibri"/>
              </a:rPr>
              <a:t>Event volume by hour and by day of week across all 8,173 records.</a:t>
            </a:r>
          </a:p>
        </p:txBody>
      </p:sp>
      <p:sp>
        <p:nvSpPr>
          <p:cNvPr id="14" name="TextBox 13"/>
          <p:cNvSpPr txBox="1"/>
          <p:nvPr/>
        </p:nvSpPr>
        <p:spPr>
          <a:xfrm>
            <a:off x="658368" y="4608576"/>
            <a:ext cx="54864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FEATURE DISTRIBUTIONS</a:t>
            </a:r>
          </a:p>
        </p:txBody>
      </p:sp>
      <p:sp>
        <p:nvSpPr>
          <p:cNvPr id="15" name="Rectangle 14"/>
          <p:cNvSpPr/>
          <p:nvPr/>
        </p:nvSpPr>
        <p:spPr>
          <a:xfrm>
            <a:off x="1959102" y="4828032"/>
            <a:ext cx="3159252" cy="1444752"/>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distributions.png"/>
          <p:cNvPicPr>
            <a:picLocks noChangeAspect="1"/>
          </p:cNvPicPr>
          <p:nvPr/>
        </p:nvPicPr>
        <p:blipFill>
          <a:blip r:embed="rId3"/>
          <a:stretch>
            <a:fillRect/>
          </a:stretch>
        </p:blipFill>
        <p:spPr>
          <a:xfrm>
            <a:off x="1995678" y="4864608"/>
            <a:ext cx="3086100" cy="1371600"/>
          </a:xfrm>
          <a:prstGeom prst="rect">
            <a:avLst/>
          </a:prstGeom>
        </p:spPr>
      </p:pic>
      <p:sp>
        <p:nvSpPr>
          <p:cNvPr id="17" name="Rectangle 16"/>
          <p:cNvSpPr/>
          <p:nvPr/>
        </p:nvSpPr>
        <p:spPr>
          <a:xfrm>
            <a:off x="6720840" y="4608576"/>
            <a:ext cx="4812487" cy="1664208"/>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4754880"/>
            <a:ext cx="429768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WHAT THIS MOTIVATED</a:t>
            </a:r>
          </a:p>
        </p:txBody>
      </p:sp>
      <p:sp>
        <p:nvSpPr>
          <p:cNvPr id="19" name="Rectangle 18"/>
          <p:cNvSpPr/>
          <p:nvPr/>
        </p:nvSpPr>
        <p:spPr>
          <a:xfrm>
            <a:off x="6967728" y="5120640"/>
            <a:ext cx="54864" cy="54864"/>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50608" y="5065776"/>
            <a:ext cx="4069080" cy="274320"/>
          </a:xfrm>
          <a:prstGeom prst="rect">
            <a:avLst/>
          </a:prstGeom>
          <a:noFill/>
        </p:spPr>
        <p:txBody>
          <a:bodyPr wrap="square" anchor="t" lIns="0" rIns="0" tIns="0" bIns="0">
            <a:spAutoFit/>
          </a:bodyPr>
          <a:lstStyle/>
          <a:p>
            <a:pPr algn="l">
              <a:lnSpc>
                <a:spcPct val="120000"/>
              </a:lnSpc>
              <a:spcAft>
                <a:spcPts val="600"/>
              </a:spcAft>
            </a:pPr>
            <a:r>
              <a:rPr sz="1000" b="1" i="0">
                <a:solidFill>
                  <a:srgbClr val="1A1F2E"/>
                </a:solidFill>
                <a:latin typeface="Calibri"/>
              </a:rPr>
              <a:t>Peak-hour flags  </a:t>
            </a:r>
            <a:r>
              <a:rPr sz="1000" b="0" i="0">
                <a:solidFill>
                  <a:srgbClr val="5B6478"/>
                </a:solidFill>
                <a:latin typeface="Calibri"/>
              </a:rPr>
              <a:t>7–10 and 17–21 became binary features.</a:t>
            </a:r>
          </a:p>
        </p:txBody>
      </p:sp>
      <p:sp>
        <p:nvSpPr>
          <p:cNvPr id="21" name="Rectangle 20"/>
          <p:cNvSpPr/>
          <p:nvPr/>
        </p:nvSpPr>
        <p:spPr>
          <a:xfrm>
            <a:off x="6967728" y="5413248"/>
            <a:ext cx="54864" cy="54864"/>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50608" y="5358384"/>
            <a:ext cx="4069080" cy="274320"/>
          </a:xfrm>
          <a:prstGeom prst="rect">
            <a:avLst/>
          </a:prstGeom>
          <a:noFill/>
        </p:spPr>
        <p:txBody>
          <a:bodyPr wrap="square" anchor="t" lIns="0" rIns="0" tIns="0" bIns="0">
            <a:spAutoFit/>
          </a:bodyPr>
          <a:lstStyle/>
          <a:p>
            <a:pPr algn="l">
              <a:lnSpc>
                <a:spcPct val="120000"/>
              </a:lnSpc>
              <a:spcAft>
                <a:spcPts val="600"/>
              </a:spcAft>
            </a:pPr>
            <a:r>
              <a:rPr sz="1000" b="1" i="0">
                <a:solidFill>
                  <a:srgbClr val="1A1F2E"/>
                </a:solidFill>
                <a:latin typeface="Calibri"/>
              </a:rPr>
              <a:t>Day-of-week + weekend  </a:t>
            </a:r>
            <a:r>
              <a:rPr sz="1000" b="0" i="0">
                <a:solidFill>
                  <a:srgbClr val="5B6478"/>
                </a:solidFill>
                <a:latin typeface="Calibri"/>
              </a:rPr>
              <a:t>weekday and weekend traffic differ.</a:t>
            </a:r>
          </a:p>
        </p:txBody>
      </p:sp>
      <p:sp>
        <p:nvSpPr>
          <p:cNvPr id="23" name="Rectangle 22"/>
          <p:cNvSpPr/>
          <p:nvPr/>
        </p:nvSpPr>
        <p:spPr>
          <a:xfrm>
            <a:off x="6967728" y="5705855"/>
            <a:ext cx="54864" cy="54864"/>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50608" y="5650992"/>
            <a:ext cx="4069080" cy="274320"/>
          </a:xfrm>
          <a:prstGeom prst="rect">
            <a:avLst/>
          </a:prstGeom>
          <a:noFill/>
        </p:spPr>
        <p:txBody>
          <a:bodyPr wrap="square" anchor="t" lIns="0" rIns="0" tIns="0" bIns="0">
            <a:spAutoFit/>
          </a:bodyPr>
          <a:lstStyle/>
          <a:p>
            <a:pPr algn="l">
              <a:lnSpc>
                <a:spcPct val="120000"/>
              </a:lnSpc>
              <a:spcAft>
                <a:spcPts val="600"/>
              </a:spcAft>
            </a:pPr>
            <a:r>
              <a:rPr sz="1000" b="1" i="0">
                <a:solidFill>
                  <a:srgbClr val="1A1F2E"/>
                </a:solidFill>
                <a:latin typeface="Calibri"/>
              </a:rPr>
              <a:t>Time-of-day bucket  </a:t>
            </a:r>
            <a:r>
              <a:rPr sz="1000" b="0" i="0">
                <a:solidFill>
                  <a:srgbClr val="5B6478"/>
                </a:solidFill>
                <a:latin typeface="Calibri"/>
              </a:rPr>
              <a:t>a coarse grouping beside the raw hour.</a:t>
            </a:r>
          </a:p>
        </p:txBody>
      </p:sp>
      <p:sp>
        <p:nvSpPr>
          <p:cNvPr id="25" name="Rectangle 24"/>
          <p:cNvSpPr/>
          <p:nvPr/>
        </p:nvSpPr>
        <p:spPr>
          <a:xfrm>
            <a:off x="6967728" y="5998464"/>
            <a:ext cx="54864" cy="54864"/>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50608" y="5943600"/>
            <a:ext cx="4069080" cy="274320"/>
          </a:xfrm>
          <a:prstGeom prst="rect">
            <a:avLst/>
          </a:prstGeom>
          <a:noFill/>
        </p:spPr>
        <p:txBody>
          <a:bodyPr wrap="square" anchor="t" lIns="0" rIns="0" tIns="0" bIns="0">
            <a:spAutoFit/>
          </a:bodyPr>
          <a:lstStyle/>
          <a:p>
            <a:pPr algn="l">
              <a:lnSpc>
                <a:spcPct val="120000"/>
              </a:lnSpc>
              <a:spcAft>
                <a:spcPts val="600"/>
              </a:spcAft>
            </a:pPr>
            <a:r>
              <a:rPr sz="1000" b="1" i="0">
                <a:solidFill>
                  <a:srgbClr val="1A1F2E"/>
                </a:solidFill>
                <a:latin typeface="Calibri"/>
              </a:rPr>
              <a:t>Duration retained  </a:t>
            </a:r>
            <a:r>
              <a:rPr sz="1000" b="0" i="0">
                <a:solidFill>
                  <a:srgbClr val="5B6478"/>
                </a:solidFill>
                <a:latin typeface="Calibri"/>
              </a:rPr>
              <a:t>event length ties strongly to severity.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5  ·  TARGET CONSTRUCTION</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Building a Severity Label That Does Not Exist</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7</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371600"/>
            <a:ext cx="5943600" cy="786384"/>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508760"/>
            <a:ext cx="5468112" cy="512064"/>
          </a:xfrm>
          <a:prstGeom prst="rect">
            <a:avLst/>
          </a:prstGeom>
          <a:noFill/>
        </p:spPr>
        <p:txBody>
          <a:bodyPr wrap="square" anchor="t" lIns="0" rIns="0" tIns="0" bIns="0">
            <a:spAutoFit/>
          </a:bodyPr>
          <a:lstStyle/>
          <a:p>
            <a:pPr algn="l">
              <a:lnSpc>
                <a:spcPct val="126000"/>
              </a:lnSpc>
              <a:spcAft>
                <a:spcPts val="600"/>
              </a:spcAft>
            </a:pPr>
            <a:r>
              <a:rPr sz="1250" b="1" i="0">
                <a:solidFill>
                  <a:srgbClr val="B02A37"/>
                </a:solidFill>
                <a:latin typeface="Calibri"/>
              </a:rPr>
              <a:t>No severity column exists in the raw log.  </a:t>
            </a:r>
            <a:r>
              <a:rPr sz="1250" b="0" i="0">
                <a:solidFill>
                  <a:srgbClr val="1A1F2E"/>
                </a:solidFill>
                <a:latin typeface="Calibri"/>
              </a:rPr>
              <a:t>The four-class target is built by crossing two fields the control room records independently for its own purposes.</a:t>
            </a:r>
          </a:p>
        </p:txBody>
      </p:sp>
      <p:graphicFrame>
        <p:nvGraphicFramePr>
          <p:cNvPr id="11" name="Table 10"/>
          <p:cNvGraphicFramePr>
            <a:graphicFrameLocks noGrp="1"/>
          </p:cNvGraphicFramePr>
          <p:nvPr/>
        </p:nvGraphicFramePr>
        <p:xfrm>
          <a:off x="658368" y="2340864"/>
          <a:ext cx="5943597" cy="1572768"/>
        </p:xfrm>
        <a:graphic>
          <a:graphicData uri="http://schemas.openxmlformats.org/drawingml/2006/table">
            <a:tbl>
              <a:tblPr>
                <a:tableStyleId>{5C22544A-7EE6-4342-B048-85BDC9FD1C3A}</a:tableStyleId>
              </a:tblPr>
              <a:tblGrid>
                <a:gridCol w="1611823"/>
                <a:gridCol w="1712562"/>
                <a:gridCol w="1007389"/>
                <a:gridCol w="1611823"/>
              </a:tblGrid>
              <a:tr h="329184">
                <a:tc>
                  <a:txBody>
                    <a:bodyPr/>
                    <a:lstStyle/>
                    <a:p>
                      <a:pPr algn="l"/>
                      <a:r>
                        <a:rPr sz="1200" b="1">
                          <a:solidFill>
                            <a:srgbClr val="FFFFFF"/>
                          </a:solidFill>
                          <a:latin typeface="Calibri"/>
                        </a:rPr>
                        <a:t>Priority</a:t>
                      </a:r>
                    </a:p>
                  </a:txBody>
                  <a:tcPr marL="73152" marR="73152" marT="9144" marB="9144" anchor="ctr">
                    <a:solidFill>
                      <a:srgbClr val="1A1F2E"/>
                    </a:solidFill>
                  </a:tcPr>
                </a:tc>
                <a:tc>
                  <a:txBody>
                    <a:bodyPr/>
                    <a:lstStyle/>
                    <a:p>
                      <a:pPr algn="ctr"/>
                      <a:r>
                        <a:rPr sz="1200" b="1">
                          <a:solidFill>
                            <a:srgbClr val="FFFFFF"/>
                          </a:solidFill>
                          <a:latin typeface="Consolas"/>
                        </a:rPr>
                        <a:t>Road closure</a:t>
                      </a:r>
                    </a:p>
                  </a:txBody>
                  <a:tcPr marL="73152" marR="73152" marT="9144" marB="9144" anchor="ctr">
                    <a:solidFill>
                      <a:srgbClr val="1A1F2E"/>
                    </a:solidFill>
                  </a:tcPr>
                </a:tc>
                <a:tc>
                  <a:txBody>
                    <a:bodyPr/>
                    <a:lstStyle/>
                    <a:p>
                      <a:pPr algn="ctr"/>
                      <a:r>
                        <a:rPr sz="1200" b="1">
                          <a:solidFill>
                            <a:srgbClr val="FFFFFF"/>
                          </a:solidFill>
                          <a:latin typeface="Consolas"/>
                        </a:rPr>
                        <a:t>Code</a:t>
                      </a:r>
                    </a:p>
                  </a:txBody>
                  <a:tcPr marL="73152" marR="73152" marT="9144" marB="9144" anchor="ctr">
                    <a:solidFill>
                      <a:srgbClr val="1A1F2E"/>
                    </a:solidFill>
                  </a:tcPr>
                </a:tc>
                <a:tc>
                  <a:txBody>
                    <a:bodyPr/>
                    <a:lstStyle/>
                    <a:p>
                      <a:pPr algn="ctr"/>
                      <a:r>
                        <a:rPr sz="1200" b="1">
                          <a:solidFill>
                            <a:srgbClr val="FFFFFF"/>
                          </a:solidFill>
                          <a:latin typeface="Consolas"/>
                        </a:rPr>
                        <a:t>Label</a:t>
                      </a:r>
                    </a:p>
                  </a:txBody>
                  <a:tcPr marL="73152" marR="73152" marT="9144" marB="9144" anchor="ctr">
                    <a:solidFill>
                      <a:srgbClr val="1A1F2E"/>
                    </a:solidFill>
                  </a:tcPr>
                </a:tc>
              </a:tr>
              <a:tr h="310896">
                <a:tc>
                  <a:txBody>
                    <a:bodyPr/>
                    <a:lstStyle/>
                    <a:p>
                      <a:pPr algn="l"/>
                      <a:r>
                        <a:rPr sz="1200" b="0">
                          <a:solidFill>
                            <a:srgbClr val="1A1F2E"/>
                          </a:solidFill>
                          <a:latin typeface="Calibri"/>
                        </a:rPr>
                        <a:t>Low</a:t>
                      </a:r>
                    </a:p>
                  </a:txBody>
                  <a:tcPr marL="73152" marR="73152" marT="9144" marB="9144" anchor="ctr">
                    <a:solidFill>
                      <a:srgbClr val="F4F5F7"/>
                    </a:solidFill>
                  </a:tcPr>
                </a:tc>
                <a:tc>
                  <a:txBody>
                    <a:bodyPr/>
                    <a:lstStyle/>
                    <a:p>
                      <a:pPr algn="ctr"/>
                      <a:r>
                        <a:rPr sz="1200" b="0">
                          <a:solidFill>
                            <a:srgbClr val="1A1F2E"/>
                          </a:solidFill>
                          <a:latin typeface="Consolas"/>
                        </a:rPr>
                        <a:t>No</a:t>
                      </a:r>
                    </a:p>
                  </a:txBody>
                  <a:tcPr marL="73152" marR="73152" marT="9144" marB="9144" anchor="ctr">
                    <a:solidFill>
                      <a:srgbClr val="F4F5F7"/>
                    </a:solidFill>
                  </a:tcPr>
                </a:tc>
                <a:tc>
                  <a:txBody>
                    <a:bodyPr/>
                    <a:lstStyle/>
                    <a:p>
                      <a:pPr algn="ctr"/>
                      <a:r>
                        <a:rPr sz="1200" b="0">
                          <a:solidFill>
                            <a:srgbClr val="1A1F2E"/>
                          </a:solidFill>
                          <a:latin typeface="Consolas"/>
                        </a:rPr>
                        <a:t>0</a:t>
                      </a:r>
                    </a:p>
                  </a:txBody>
                  <a:tcPr marL="73152" marR="73152" marT="9144" marB="9144" anchor="ctr">
                    <a:solidFill>
                      <a:srgbClr val="F4F5F7"/>
                    </a:solidFill>
                  </a:tcPr>
                </a:tc>
                <a:tc>
                  <a:txBody>
                    <a:bodyPr/>
                    <a:lstStyle/>
                    <a:p>
                      <a:pPr algn="ctr"/>
                      <a:r>
                        <a:rPr sz="1200" b="0">
                          <a:solidFill>
                            <a:srgbClr val="1A1F2E"/>
                          </a:solidFill>
                          <a:latin typeface="Consolas"/>
                        </a:rPr>
                        <a:t>Low</a:t>
                      </a:r>
                    </a:p>
                  </a:txBody>
                  <a:tcPr marL="73152" marR="73152" marT="9144" marB="9144" anchor="ctr">
                    <a:solidFill>
                      <a:srgbClr val="F4F5F7"/>
                    </a:solidFill>
                  </a:tcPr>
                </a:tc>
              </a:tr>
              <a:tr h="310896">
                <a:tc>
                  <a:txBody>
                    <a:bodyPr/>
                    <a:lstStyle/>
                    <a:p>
                      <a:pPr algn="l"/>
                      <a:r>
                        <a:rPr sz="1200" b="0">
                          <a:solidFill>
                            <a:srgbClr val="1A1F2E"/>
                          </a:solidFill>
                          <a:latin typeface="Calibri"/>
                        </a:rPr>
                        <a:t>Low</a:t>
                      </a:r>
                    </a:p>
                  </a:txBody>
                  <a:tcPr marL="73152" marR="73152" marT="9144" marB="9144" anchor="ctr">
                    <a:solidFill>
                      <a:srgbClr val="FFFFFF"/>
                    </a:solidFill>
                  </a:tcPr>
                </a:tc>
                <a:tc>
                  <a:txBody>
                    <a:bodyPr/>
                    <a:lstStyle/>
                    <a:p>
                      <a:pPr algn="ctr"/>
                      <a:r>
                        <a:rPr sz="1200" b="0">
                          <a:solidFill>
                            <a:srgbClr val="1A1F2E"/>
                          </a:solidFill>
                          <a:latin typeface="Consolas"/>
                        </a:rPr>
                        <a:t>Yes</a:t>
                      </a:r>
                    </a:p>
                  </a:txBody>
                  <a:tcPr marL="73152" marR="73152" marT="9144" marB="9144" anchor="ctr">
                    <a:solidFill>
                      <a:srgbClr val="FFFFFF"/>
                    </a:solidFill>
                  </a:tcPr>
                </a:tc>
                <a:tc>
                  <a:txBody>
                    <a:bodyPr/>
                    <a:lstStyle/>
                    <a:p>
                      <a:pPr algn="ctr"/>
                      <a:r>
                        <a:rPr sz="1200" b="0">
                          <a:solidFill>
                            <a:srgbClr val="1A1F2E"/>
                          </a:solidFill>
                          <a:latin typeface="Consolas"/>
                        </a:rPr>
                        <a:t>1</a:t>
                      </a:r>
                    </a:p>
                  </a:txBody>
                  <a:tcPr marL="73152" marR="73152" marT="9144" marB="9144" anchor="ctr">
                    <a:solidFill>
                      <a:srgbClr val="FFFFFF"/>
                    </a:solidFill>
                  </a:tcPr>
                </a:tc>
                <a:tc>
                  <a:txBody>
                    <a:bodyPr/>
                    <a:lstStyle/>
                    <a:p>
                      <a:pPr algn="ctr"/>
                      <a:r>
                        <a:rPr sz="1200" b="0">
                          <a:solidFill>
                            <a:srgbClr val="1A1F2E"/>
                          </a:solidFill>
                          <a:latin typeface="Consolas"/>
                        </a:rPr>
                        <a:t>Medium</a:t>
                      </a:r>
                    </a:p>
                  </a:txBody>
                  <a:tcPr marL="73152" marR="73152" marT="9144" marB="9144" anchor="ctr">
                    <a:solidFill>
                      <a:srgbClr val="FFFFFF"/>
                    </a:solidFill>
                  </a:tcPr>
                </a:tc>
              </a:tr>
              <a:tr h="310896">
                <a:tc>
                  <a:txBody>
                    <a:bodyPr/>
                    <a:lstStyle/>
                    <a:p>
                      <a:pPr algn="l"/>
                      <a:r>
                        <a:rPr sz="1200" b="0">
                          <a:solidFill>
                            <a:srgbClr val="1A1F2E"/>
                          </a:solidFill>
                          <a:latin typeface="Calibri"/>
                        </a:rPr>
                        <a:t>High</a:t>
                      </a:r>
                    </a:p>
                  </a:txBody>
                  <a:tcPr marL="73152" marR="73152" marT="9144" marB="9144" anchor="ctr">
                    <a:solidFill>
                      <a:srgbClr val="F4F5F7"/>
                    </a:solidFill>
                  </a:tcPr>
                </a:tc>
                <a:tc>
                  <a:txBody>
                    <a:bodyPr/>
                    <a:lstStyle/>
                    <a:p>
                      <a:pPr algn="ctr"/>
                      <a:r>
                        <a:rPr sz="1200" b="0">
                          <a:solidFill>
                            <a:srgbClr val="1A1F2E"/>
                          </a:solidFill>
                          <a:latin typeface="Consolas"/>
                        </a:rPr>
                        <a:t>No</a:t>
                      </a:r>
                    </a:p>
                  </a:txBody>
                  <a:tcPr marL="73152" marR="73152" marT="9144" marB="9144" anchor="ctr">
                    <a:solidFill>
                      <a:srgbClr val="F4F5F7"/>
                    </a:solidFill>
                  </a:tcPr>
                </a:tc>
                <a:tc>
                  <a:txBody>
                    <a:bodyPr/>
                    <a:lstStyle/>
                    <a:p>
                      <a:pPr algn="ctr"/>
                      <a:r>
                        <a:rPr sz="1200" b="0">
                          <a:solidFill>
                            <a:srgbClr val="1A1F2E"/>
                          </a:solidFill>
                          <a:latin typeface="Consolas"/>
                        </a:rPr>
                        <a:t>2</a:t>
                      </a:r>
                    </a:p>
                  </a:txBody>
                  <a:tcPr marL="73152" marR="73152" marT="9144" marB="9144" anchor="ctr">
                    <a:solidFill>
                      <a:srgbClr val="F4F5F7"/>
                    </a:solidFill>
                  </a:tcPr>
                </a:tc>
                <a:tc>
                  <a:txBody>
                    <a:bodyPr/>
                    <a:lstStyle/>
                    <a:p>
                      <a:pPr algn="ctr"/>
                      <a:r>
                        <a:rPr sz="1200" b="0">
                          <a:solidFill>
                            <a:srgbClr val="1A1F2E"/>
                          </a:solidFill>
                          <a:latin typeface="Consolas"/>
                        </a:rPr>
                        <a:t>High</a:t>
                      </a:r>
                    </a:p>
                  </a:txBody>
                  <a:tcPr marL="73152" marR="73152" marT="9144" marB="9144" anchor="ctr">
                    <a:solidFill>
                      <a:srgbClr val="F4F5F7"/>
                    </a:solidFill>
                  </a:tcPr>
                </a:tc>
              </a:tr>
              <a:tr h="310896">
                <a:tc>
                  <a:txBody>
                    <a:bodyPr/>
                    <a:lstStyle/>
                    <a:p>
                      <a:pPr algn="l"/>
                      <a:r>
                        <a:rPr sz="1200" b="0">
                          <a:solidFill>
                            <a:srgbClr val="1A1F2E"/>
                          </a:solidFill>
                          <a:latin typeface="Calibri"/>
                        </a:rPr>
                        <a:t>High</a:t>
                      </a:r>
                    </a:p>
                  </a:txBody>
                  <a:tcPr marL="73152" marR="73152" marT="9144" marB="9144" anchor="ctr">
                    <a:solidFill>
                      <a:srgbClr val="FFFFFF"/>
                    </a:solidFill>
                  </a:tcPr>
                </a:tc>
                <a:tc>
                  <a:txBody>
                    <a:bodyPr/>
                    <a:lstStyle/>
                    <a:p>
                      <a:pPr algn="ctr"/>
                      <a:r>
                        <a:rPr sz="1200" b="0">
                          <a:solidFill>
                            <a:srgbClr val="1A1F2E"/>
                          </a:solidFill>
                          <a:latin typeface="Consolas"/>
                        </a:rPr>
                        <a:t>Yes</a:t>
                      </a:r>
                    </a:p>
                  </a:txBody>
                  <a:tcPr marL="73152" marR="73152" marT="9144" marB="9144" anchor="ctr">
                    <a:solidFill>
                      <a:srgbClr val="FFFFFF"/>
                    </a:solidFill>
                  </a:tcPr>
                </a:tc>
                <a:tc>
                  <a:txBody>
                    <a:bodyPr/>
                    <a:lstStyle/>
                    <a:p>
                      <a:pPr algn="ctr"/>
                      <a:r>
                        <a:rPr sz="1200" b="0">
                          <a:solidFill>
                            <a:srgbClr val="1A1F2E"/>
                          </a:solidFill>
                          <a:latin typeface="Consolas"/>
                        </a:rPr>
                        <a:t>3</a:t>
                      </a:r>
                    </a:p>
                  </a:txBody>
                  <a:tcPr marL="73152" marR="73152" marT="9144" marB="9144" anchor="ctr">
                    <a:solidFill>
                      <a:srgbClr val="FFFFFF"/>
                    </a:solidFill>
                  </a:tcPr>
                </a:tc>
                <a:tc>
                  <a:txBody>
                    <a:bodyPr/>
                    <a:lstStyle/>
                    <a:p>
                      <a:pPr algn="ctr"/>
                      <a:r>
                        <a:rPr sz="1200" b="1">
                          <a:solidFill>
                            <a:srgbClr val="B02A37"/>
                          </a:solidFill>
                          <a:latin typeface="Consolas"/>
                        </a:rPr>
                        <a:t>Critical</a:t>
                      </a:r>
                    </a:p>
                  </a:txBody>
                  <a:tcPr marL="73152" marR="73152" marT="9144" marB="9144" anchor="ctr">
                    <a:solidFill>
                      <a:srgbClr val="FFFFFF"/>
                    </a:solidFill>
                  </a:tcPr>
                </a:tc>
              </a:tr>
            </a:tbl>
          </a:graphicData>
        </a:graphic>
      </p:graphicFrame>
      <p:sp>
        <p:nvSpPr>
          <p:cNvPr id="12" name="Rectangle 11"/>
          <p:cNvSpPr/>
          <p:nvPr/>
        </p:nvSpPr>
        <p:spPr>
          <a:xfrm>
            <a:off x="658368" y="4114800"/>
            <a:ext cx="5943600" cy="91440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51960"/>
            <a:ext cx="5468112" cy="640080"/>
          </a:xfrm>
          <a:prstGeom prst="rect">
            <a:avLst/>
          </a:prstGeom>
          <a:noFill/>
        </p:spPr>
        <p:txBody>
          <a:bodyPr wrap="square" anchor="t" lIns="0" rIns="0" tIns="0" bIns="0">
            <a:spAutoFit/>
          </a:bodyPr>
          <a:lstStyle/>
          <a:p>
            <a:pPr algn="l">
              <a:lnSpc>
                <a:spcPct val="126000"/>
              </a:lnSpc>
              <a:spcAft>
                <a:spcPts val="600"/>
              </a:spcAft>
            </a:pPr>
            <a:r>
              <a:rPr sz="1200" b="1" i="0">
                <a:solidFill>
                  <a:srgbClr val="C26A02"/>
                </a:solidFill>
                <a:latin typeface="Calibri"/>
              </a:rPr>
              <a:t>Both source fields were then removed.  </a:t>
            </a:r>
            <a:r>
              <a:rPr sz="1200" b="0" i="0">
                <a:solidFill>
                  <a:srgbClr val="1A1F2E"/>
                </a:solidFill>
                <a:latin typeface="Calibri"/>
              </a:rPr>
              <a:t>If left in, a model would simply re-learn this deterministic mapping instead of inferring severity from spatial, temporal and contextual signals — and would be useless on a genuinely new, unassessed event.</a:t>
            </a:r>
          </a:p>
        </p:txBody>
      </p:sp>
      <p:sp>
        <p:nvSpPr>
          <p:cNvPr id="14" name="TextBox 13"/>
          <p:cNvSpPr txBox="1"/>
          <p:nvPr/>
        </p:nvSpPr>
        <p:spPr>
          <a:xfrm>
            <a:off x="658368" y="5193792"/>
            <a:ext cx="59436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RESULTING CLASS DISTRIBUTION</a:t>
            </a:r>
          </a:p>
        </p:txBody>
      </p:sp>
      <p:graphicFrame>
        <p:nvGraphicFramePr>
          <p:cNvPr id="15" name="Table 14"/>
          <p:cNvGraphicFramePr>
            <a:graphicFrameLocks noGrp="1"/>
          </p:cNvGraphicFramePr>
          <p:nvPr/>
        </p:nvGraphicFramePr>
        <p:xfrm>
          <a:off x="658368" y="5468112"/>
          <a:ext cx="5943599" cy="1115568"/>
        </p:xfrm>
        <a:graphic>
          <a:graphicData uri="http://schemas.openxmlformats.org/drawingml/2006/table">
            <a:tbl>
              <a:tblPr>
                <a:tableStyleId>{5C22544A-7EE6-4342-B048-85BDC9FD1C3A}</a:tableStyleId>
              </a:tblPr>
              <a:tblGrid>
                <a:gridCol w="972589"/>
                <a:gridCol w="1945178"/>
                <a:gridCol w="1512916"/>
                <a:gridCol w="1512916"/>
              </a:tblGrid>
              <a:tr h="237744">
                <a:tc>
                  <a:txBody>
                    <a:bodyPr/>
                    <a:lstStyle/>
                    <a:p>
                      <a:pPr algn="l"/>
                      <a:r>
                        <a:rPr sz="1050" b="1">
                          <a:solidFill>
                            <a:srgbClr val="FFFFFF"/>
                          </a:solidFill>
                          <a:latin typeface="Calibri"/>
                        </a:rPr>
                        <a:t>Code</a:t>
                      </a:r>
                    </a:p>
                  </a:txBody>
                  <a:tcPr marL="73152" marR="73152" marT="9144" marB="9144" anchor="ctr">
                    <a:solidFill>
                      <a:srgbClr val="1A1F2E"/>
                    </a:solidFill>
                  </a:tcPr>
                </a:tc>
                <a:tc>
                  <a:txBody>
                    <a:bodyPr/>
                    <a:lstStyle/>
                    <a:p>
                      <a:pPr algn="ctr"/>
                      <a:r>
                        <a:rPr sz="1050" b="1">
                          <a:solidFill>
                            <a:srgbClr val="FFFFFF"/>
                          </a:solidFill>
                          <a:latin typeface="Consolas"/>
                        </a:rPr>
                        <a:t>Label</a:t>
                      </a:r>
                    </a:p>
                  </a:txBody>
                  <a:tcPr marL="73152" marR="73152" marT="9144" marB="9144" anchor="ctr">
                    <a:solidFill>
                      <a:srgbClr val="1A1F2E"/>
                    </a:solidFill>
                  </a:tcPr>
                </a:tc>
                <a:tc>
                  <a:txBody>
                    <a:bodyPr/>
                    <a:lstStyle/>
                    <a:p>
                      <a:pPr algn="ctr"/>
                      <a:r>
                        <a:rPr sz="1050" b="1">
                          <a:solidFill>
                            <a:srgbClr val="FFFFFF"/>
                          </a:solidFill>
                          <a:latin typeface="Consolas"/>
                        </a:rPr>
                        <a:t>Count</a:t>
                      </a:r>
                    </a:p>
                  </a:txBody>
                  <a:tcPr marL="73152" marR="73152" marT="9144" marB="9144" anchor="ctr">
                    <a:solidFill>
                      <a:srgbClr val="1A1F2E"/>
                    </a:solidFill>
                  </a:tcPr>
                </a:tc>
                <a:tc>
                  <a:txBody>
                    <a:bodyPr/>
                    <a:lstStyle/>
                    <a:p>
                      <a:pPr algn="ctr"/>
                      <a:r>
                        <a:rPr sz="1050" b="1">
                          <a:solidFill>
                            <a:srgbClr val="FFFFFF"/>
                          </a:solidFill>
                          <a:latin typeface="Consolas"/>
                        </a:rPr>
                        <a:t>Share</a:t>
                      </a:r>
                    </a:p>
                  </a:txBody>
                  <a:tcPr marL="73152" marR="73152" marT="9144" marB="9144" anchor="ctr">
                    <a:solidFill>
                      <a:srgbClr val="1A1F2E"/>
                    </a:solidFill>
                  </a:tcPr>
                </a:tc>
              </a:tr>
              <a:tr h="219456">
                <a:tc>
                  <a:txBody>
                    <a:bodyPr/>
                    <a:lstStyle/>
                    <a:p>
                      <a:pPr algn="l"/>
                      <a:r>
                        <a:rPr sz="1050" b="0">
                          <a:solidFill>
                            <a:srgbClr val="1A1F2E"/>
                          </a:solidFill>
                          <a:latin typeface="Calibri"/>
                        </a:rPr>
                        <a:t>0</a:t>
                      </a:r>
                    </a:p>
                  </a:txBody>
                  <a:tcPr marL="73152" marR="73152" marT="9144" marB="9144" anchor="ctr">
                    <a:solidFill>
                      <a:srgbClr val="F4F5F7"/>
                    </a:solidFill>
                  </a:tcPr>
                </a:tc>
                <a:tc>
                  <a:txBody>
                    <a:bodyPr/>
                    <a:lstStyle/>
                    <a:p>
                      <a:pPr algn="ctr"/>
                      <a:r>
                        <a:rPr sz="1050" b="0">
                          <a:solidFill>
                            <a:srgbClr val="1A1F2E"/>
                          </a:solidFill>
                          <a:latin typeface="Consolas"/>
                        </a:rPr>
                        <a:t>Low</a:t>
                      </a:r>
                    </a:p>
                  </a:txBody>
                  <a:tcPr marL="73152" marR="73152" marT="9144" marB="9144" anchor="ctr">
                    <a:solidFill>
                      <a:srgbClr val="F4F5F7"/>
                    </a:solidFill>
                  </a:tcPr>
                </a:tc>
                <a:tc>
                  <a:txBody>
                    <a:bodyPr/>
                    <a:lstStyle/>
                    <a:p>
                      <a:pPr algn="ctr"/>
                      <a:r>
                        <a:rPr sz="1050" b="0">
                          <a:solidFill>
                            <a:srgbClr val="1A1F2E"/>
                          </a:solidFill>
                          <a:latin typeface="Consolas"/>
                        </a:rPr>
                        <a:t>2,764</a:t>
                      </a:r>
                    </a:p>
                  </a:txBody>
                  <a:tcPr marL="73152" marR="73152" marT="9144" marB="9144" anchor="ctr">
                    <a:solidFill>
                      <a:srgbClr val="F4F5F7"/>
                    </a:solidFill>
                  </a:tcPr>
                </a:tc>
                <a:tc>
                  <a:txBody>
                    <a:bodyPr/>
                    <a:lstStyle/>
                    <a:p>
                      <a:pPr algn="ctr"/>
                      <a:r>
                        <a:rPr sz="1050" b="0">
                          <a:solidFill>
                            <a:srgbClr val="1A1F2E"/>
                          </a:solidFill>
                          <a:latin typeface="Consolas"/>
                        </a:rPr>
                        <a:t>33.8%</a:t>
                      </a:r>
                    </a:p>
                  </a:txBody>
                  <a:tcPr marL="73152" marR="73152" marT="9144" marB="9144" anchor="ctr">
                    <a:solidFill>
                      <a:srgbClr val="F4F5F7"/>
                    </a:solidFill>
                  </a:tcPr>
                </a:tc>
              </a:tr>
              <a:tr h="219456">
                <a:tc>
                  <a:txBody>
                    <a:bodyPr/>
                    <a:lstStyle/>
                    <a:p>
                      <a:pPr algn="l"/>
                      <a:r>
                        <a:rPr sz="1050" b="0">
                          <a:solidFill>
                            <a:srgbClr val="1A1F2E"/>
                          </a:solidFill>
                          <a:latin typeface="Calibri"/>
                        </a:rPr>
                        <a:t>1</a:t>
                      </a:r>
                    </a:p>
                  </a:txBody>
                  <a:tcPr marL="73152" marR="73152" marT="9144" marB="9144" anchor="ctr">
                    <a:solidFill>
                      <a:srgbClr val="FFFFFF"/>
                    </a:solidFill>
                  </a:tcPr>
                </a:tc>
                <a:tc>
                  <a:txBody>
                    <a:bodyPr/>
                    <a:lstStyle/>
                    <a:p>
                      <a:pPr algn="ctr"/>
                      <a:r>
                        <a:rPr sz="1050" b="0">
                          <a:solidFill>
                            <a:srgbClr val="1A1F2E"/>
                          </a:solidFill>
                          <a:latin typeface="Consolas"/>
                        </a:rPr>
                        <a:t>Medium</a:t>
                      </a:r>
                    </a:p>
                  </a:txBody>
                  <a:tcPr marL="73152" marR="73152" marT="9144" marB="9144" anchor="ctr">
                    <a:solidFill>
                      <a:srgbClr val="FFFFFF"/>
                    </a:solidFill>
                  </a:tcPr>
                </a:tc>
                <a:tc>
                  <a:txBody>
                    <a:bodyPr/>
                    <a:lstStyle/>
                    <a:p>
                      <a:pPr algn="ctr"/>
                      <a:r>
                        <a:rPr sz="1050" b="0">
                          <a:solidFill>
                            <a:srgbClr val="1A1F2E"/>
                          </a:solidFill>
                          <a:latin typeface="Consolas"/>
                        </a:rPr>
                        <a:t>379</a:t>
                      </a:r>
                    </a:p>
                  </a:txBody>
                  <a:tcPr marL="73152" marR="73152" marT="9144" marB="9144" anchor="ctr">
                    <a:solidFill>
                      <a:srgbClr val="FFFFFF"/>
                    </a:solidFill>
                  </a:tcPr>
                </a:tc>
                <a:tc>
                  <a:txBody>
                    <a:bodyPr/>
                    <a:lstStyle/>
                    <a:p>
                      <a:pPr algn="ctr"/>
                      <a:r>
                        <a:rPr sz="1050" b="1">
                          <a:solidFill>
                            <a:srgbClr val="B02A37"/>
                          </a:solidFill>
                          <a:latin typeface="Consolas"/>
                        </a:rPr>
                        <a:t>4.6%</a:t>
                      </a:r>
                    </a:p>
                  </a:txBody>
                  <a:tcPr marL="73152" marR="73152" marT="9144" marB="9144" anchor="ctr">
                    <a:solidFill>
                      <a:srgbClr val="FFFFFF"/>
                    </a:solidFill>
                  </a:tcPr>
                </a:tc>
              </a:tr>
              <a:tr h="219456">
                <a:tc>
                  <a:txBody>
                    <a:bodyPr/>
                    <a:lstStyle/>
                    <a:p>
                      <a:pPr algn="l"/>
                      <a:r>
                        <a:rPr sz="1050" b="0">
                          <a:solidFill>
                            <a:srgbClr val="1A1F2E"/>
                          </a:solidFill>
                          <a:latin typeface="Calibri"/>
                        </a:rPr>
                        <a:t>2</a:t>
                      </a:r>
                    </a:p>
                  </a:txBody>
                  <a:tcPr marL="73152" marR="73152" marT="9144" marB="9144" anchor="ctr">
                    <a:solidFill>
                      <a:srgbClr val="F4F5F7"/>
                    </a:solidFill>
                  </a:tcPr>
                </a:tc>
                <a:tc>
                  <a:txBody>
                    <a:bodyPr/>
                    <a:lstStyle/>
                    <a:p>
                      <a:pPr algn="ctr"/>
                      <a:r>
                        <a:rPr sz="1050" b="0">
                          <a:solidFill>
                            <a:srgbClr val="1A1F2E"/>
                          </a:solidFill>
                          <a:latin typeface="Consolas"/>
                        </a:rPr>
                        <a:t>High</a:t>
                      </a:r>
                    </a:p>
                  </a:txBody>
                  <a:tcPr marL="73152" marR="73152" marT="9144" marB="9144" anchor="ctr">
                    <a:solidFill>
                      <a:srgbClr val="F4F5F7"/>
                    </a:solidFill>
                  </a:tcPr>
                </a:tc>
                <a:tc>
                  <a:txBody>
                    <a:bodyPr/>
                    <a:lstStyle/>
                    <a:p>
                      <a:pPr algn="ctr"/>
                      <a:r>
                        <a:rPr sz="1050" b="0">
                          <a:solidFill>
                            <a:srgbClr val="1A1F2E"/>
                          </a:solidFill>
                          <a:latin typeface="Consolas"/>
                        </a:rPr>
                        <a:t>4,733</a:t>
                      </a:r>
                    </a:p>
                  </a:txBody>
                  <a:tcPr marL="73152" marR="73152" marT="9144" marB="9144" anchor="ctr">
                    <a:solidFill>
                      <a:srgbClr val="F4F5F7"/>
                    </a:solidFill>
                  </a:tcPr>
                </a:tc>
                <a:tc>
                  <a:txBody>
                    <a:bodyPr/>
                    <a:lstStyle/>
                    <a:p>
                      <a:pPr algn="ctr"/>
                      <a:r>
                        <a:rPr sz="1050" b="0">
                          <a:solidFill>
                            <a:srgbClr val="1A1F2E"/>
                          </a:solidFill>
                          <a:latin typeface="Consolas"/>
                        </a:rPr>
                        <a:t>57.9%</a:t>
                      </a:r>
                    </a:p>
                  </a:txBody>
                  <a:tcPr marL="73152" marR="73152" marT="9144" marB="9144" anchor="ctr">
                    <a:solidFill>
                      <a:srgbClr val="F4F5F7"/>
                    </a:solidFill>
                  </a:tcPr>
                </a:tc>
              </a:tr>
              <a:tr h="219456">
                <a:tc>
                  <a:txBody>
                    <a:bodyPr/>
                    <a:lstStyle/>
                    <a:p>
                      <a:pPr algn="l"/>
                      <a:r>
                        <a:rPr sz="1050" b="0">
                          <a:solidFill>
                            <a:srgbClr val="1A1F2E"/>
                          </a:solidFill>
                          <a:latin typeface="Calibri"/>
                        </a:rPr>
                        <a:t>3</a:t>
                      </a:r>
                    </a:p>
                  </a:txBody>
                  <a:tcPr marL="73152" marR="73152" marT="9144" marB="9144" anchor="ctr">
                    <a:solidFill>
                      <a:srgbClr val="FFFFFF"/>
                    </a:solidFill>
                  </a:tcPr>
                </a:tc>
                <a:tc>
                  <a:txBody>
                    <a:bodyPr/>
                    <a:lstStyle/>
                    <a:p>
                      <a:pPr algn="ctr"/>
                      <a:r>
                        <a:rPr sz="1050" b="0">
                          <a:solidFill>
                            <a:srgbClr val="1A1F2E"/>
                          </a:solidFill>
                          <a:latin typeface="Consolas"/>
                        </a:rPr>
                        <a:t>Critical</a:t>
                      </a:r>
                    </a:p>
                  </a:txBody>
                  <a:tcPr marL="73152" marR="73152" marT="9144" marB="9144" anchor="ctr">
                    <a:solidFill>
                      <a:srgbClr val="FFFFFF"/>
                    </a:solidFill>
                  </a:tcPr>
                </a:tc>
                <a:tc>
                  <a:txBody>
                    <a:bodyPr/>
                    <a:lstStyle/>
                    <a:p>
                      <a:pPr algn="ctr"/>
                      <a:r>
                        <a:rPr sz="1050" b="0">
                          <a:solidFill>
                            <a:srgbClr val="1A1F2E"/>
                          </a:solidFill>
                          <a:latin typeface="Consolas"/>
                        </a:rPr>
                        <a:t>297</a:t>
                      </a:r>
                    </a:p>
                  </a:txBody>
                  <a:tcPr marL="73152" marR="73152" marT="9144" marB="9144" anchor="ctr">
                    <a:solidFill>
                      <a:srgbClr val="FFFFFF"/>
                    </a:solidFill>
                  </a:tcPr>
                </a:tc>
                <a:tc>
                  <a:txBody>
                    <a:bodyPr/>
                    <a:lstStyle/>
                    <a:p>
                      <a:pPr algn="ctr"/>
                      <a:r>
                        <a:rPr sz="1050" b="1">
                          <a:solidFill>
                            <a:srgbClr val="B02A37"/>
                          </a:solidFill>
                          <a:latin typeface="Consolas"/>
                        </a:rPr>
                        <a:t>3.6%</a:t>
                      </a:r>
                    </a:p>
                  </a:txBody>
                  <a:tcPr marL="73152" marR="73152" marT="9144" marB="9144" anchor="ctr">
                    <a:solidFill>
                      <a:srgbClr val="FFFFFF"/>
                    </a:solidFill>
                  </a:tcPr>
                </a:tc>
              </a:tr>
            </a:tbl>
          </a:graphicData>
        </a:graphic>
      </p:graphicFrame>
      <p:sp>
        <p:nvSpPr>
          <p:cNvPr id="16" name="Rectangle 15"/>
          <p:cNvSpPr/>
          <p:nvPr/>
        </p:nvSpPr>
        <p:spPr>
          <a:xfrm>
            <a:off x="6821424" y="1871744"/>
            <a:ext cx="4748479" cy="1742911"/>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rget_distribution.png"/>
          <p:cNvPicPr>
            <a:picLocks noChangeAspect="1"/>
          </p:cNvPicPr>
          <p:nvPr/>
        </p:nvPicPr>
        <p:blipFill>
          <a:blip r:embed="rId2"/>
          <a:stretch>
            <a:fillRect/>
          </a:stretch>
        </p:blipFill>
        <p:spPr>
          <a:xfrm>
            <a:off x="6858000" y="1908320"/>
            <a:ext cx="4675327" cy="1669759"/>
          </a:xfrm>
          <a:prstGeom prst="rect">
            <a:avLst/>
          </a:prstGeom>
        </p:spPr>
      </p:pic>
      <p:sp>
        <p:nvSpPr>
          <p:cNvPr id="18" name="Rectangle 17"/>
          <p:cNvSpPr/>
          <p:nvPr/>
        </p:nvSpPr>
        <p:spPr>
          <a:xfrm>
            <a:off x="6858000" y="4343400"/>
            <a:ext cx="4675327" cy="123444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95744" y="4480560"/>
            <a:ext cx="4199839" cy="960120"/>
          </a:xfrm>
          <a:prstGeom prst="rect">
            <a:avLst/>
          </a:prstGeom>
          <a:noFill/>
        </p:spPr>
        <p:txBody>
          <a:bodyPr wrap="square" anchor="t" lIns="0" rIns="0" tIns="0" bIns="0">
            <a:spAutoFit/>
          </a:bodyPr>
          <a:lstStyle/>
          <a:p>
            <a:pPr algn="l">
              <a:lnSpc>
                <a:spcPct val="126000"/>
              </a:lnSpc>
              <a:spcAft>
                <a:spcPts val="600"/>
              </a:spcAft>
            </a:pPr>
            <a:r>
              <a:rPr sz="1200" b="1" i="0">
                <a:solidFill>
                  <a:srgbClr val="1A1F2E"/>
                </a:solidFill>
                <a:latin typeface="Calibri"/>
              </a:rPr>
              <a:t>The imbalance that shapes everything.  </a:t>
            </a:r>
            <a:r>
              <a:rPr sz="1200" b="0" i="0">
                <a:solidFill>
                  <a:srgbClr val="1A1F2E"/>
                </a:solidFill>
                <a:latin typeface="Calibri"/>
              </a:rPr>
              <a:t>Low and High together are 91.7% of all events. Medium and Critical make up under 9% between them — fewer than 300 Critical events in 8,173.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ML CONCEPT  ·  FEATURE ENGINEERING</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30 Features — and Why Coordinates Need Clustering</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8</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371600"/>
            <a:ext cx="5852160" cy="82296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499616"/>
            <a:ext cx="539496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SPATIAL</a:t>
            </a:r>
          </a:p>
        </p:txBody>
      </p:sp>
      <p:sp>
        <p:nvSpPr>
          <p:cNvPr id="11" name="TextBox 10"/>
          <p:cNvSpPr txBox="1"/>
          <p:nvPr/>
        </p:nvSpPr>
        <p:spPr>
          <a:xfrm>
            <a:off x="877824" y="1755648"/>
            <a:ext cx="5394960" cy="384048"/>
          </a:xfrm>
          <a:prstGeom prst="rect">
            <a:avLst/>
          </a:prstGeom>
          <a:noFill/>
        </p:spPr>
        <p:txBody>
          <a:bodyPr wrap="square" anchor="t" lIns="0" rIns="0" tIns="0" bIns="0">
            <a:spAutoFit/>
          </a:bodyPr>
          <a:lstStyle/>
          <a:p>
            <a:pPr algn="l">
              <a:lnSpc>
                <a:spcPct val="125000"/>
              </a:lnSpc>
              <a:spcAft>
                <a:spcPts val="600"/>
              </a:spcAft>
            </a:pPr>
            <a:r>
              <a:rPr sz="1150" b="0" i="0">
                <a:solidFill>
                  <a:srgbClr val="1A1F2E"/>
                </a:solidFill>
                <a:latin typeface="Calibri"/>
              </a:rPr>
              <a:t>latitude · longitude · corridor · police station · zone · junction · location cluster</a:t>
            </a:r>
          </a:p>
        </p:txBody>
      </p:sp>
      <p:sp>
        <p:nvSpPr>
          <p:cNvPr id="12" name="Rectangle 11"/>
          <p:cNvSpPr/>
          <p:nvPr/>
        </p:nvSpPr>
        <p:spPr>
          <a:xfrm>
            <a:off x="658368" y="2304288"/>
            <a:ext cx="5852160" cy="82296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 y="2432304"/>
            <a:ext cx="539496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TEMPORAL</a:t>
            </a:r>
          </a:p>
        </p:txBody>
      </p:sp>
      <p:sp>
        <p:nvSpPr>
          <p:cNvPr id="14" name="TextBox 13"/>
          <p:cNvSpPr txBox="1"/>
          <p:nvPr/>
        </p:nvSpPr>
        <p:spPr>
          <a:xfrm>
            <a:off x="877824" y="2688336"/>
            <a:ext cx="5394960" cy="384048"/>
          </a:xfrm>
          <a:prstGeom prst="rect">
            <a:avLst/>
          </a:prstGeom>
          <a:noFill/>
        </p:spPr>
        <p:txBody>
          <a:bodyPr wrap="square" anchor="t" lIns="0" rIns="0" tIns="0" bIns="0">
            <a:spAutoFit/>
          </a:bodyPr>
          <a:lstStyle/>
          <a:p>
            <a:pPr algn="l">
              <a:lnSpc>
                <a:spcPct val="125000"/>
              </a:lnSpc>
              <a:spcAft>
                <a:spcPts val="600"/>
              </a:spcAft>
            </a:pPr>
            <a:r>
              <a:rPr sz="1150" b="0" i="0">
                <a:solidFill>
                  <a:srgbClr val="1A1F2E"/>
                </a:solidFill>
                <a:latin typeface="Calibri"/>
              </a:rPr>
              <a:t>hour · minute · day of week · month · weekend flag · rush-hour flags · time bucket</a:t>
            </a:r>
          </a:p>
        </p:txBody>
      </p:sp>
      <p:sp>
        <p:nvSpPr>
          <p:cNvPr id="15" name="Rectangle 14"/>
          <p:cNvSpPr/>
          <p:nvPr/>
        </p:nvSpPr>
        <p:spPr>
          <a:xfrm>
            <a:off x="658368" y="3236976"/>
            <a:ext cx="5852160" cy="82296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364992"/>
            <a:ext cx="539496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CONTEXTUAL</a:t>
            </a:r>
          </a:p>
        </p:txBody>
      </p:sp>
      <p:sp>
        <p:nvSpPr>
          <p:cNvPr id="17" name="TextBox 16"/>
          <p:cNvSpPr txBox="1"/>
          <p:nvPr/>
        </p:nvSpPr>
        <p:spPr>
          <a:xfrm>
            <a:off x="877824" y="3621024"/>
            <a:ext cx="5394960" cy="384048"/>
          </a:xfrm>
          <a:prstGeom prst="rect">
            <a:avLst/>
          </a:prstGeom>
          <a:noFill/>
        </p:spPr>
        <p:txBody>
          <a:bodyPr wrap="square" anchor="t" lIns="0" rIns="0" tIns="0" bIns="0">
            <a:spAutoFit/>
          </a:bodyPr>
          <a:lstStyle/>
          <a:p>
            <a:pPr algn="l">
              <a:lnSpc>
                <a:spcPct val="125000"/>
              </a:lnSpc>
              <a:spcAft>
                <a:spcPts val="600"/>
              </a:spcAft>
            </a:pPr>
            <a:r>
              <a:rPr sz="1150" b="0" i="0">
                <a:solidFill>
                  <a:srgbClr val="1A1F2E"/>
                </a:solidFill>
                <a:latin typeface="Calibri"/>
              </a:rPr>
              <a:t>event type · event cause · vehicle type · duration · status · weather flag</a:t>
            </a:r>
          </a:p>
        </p:txBody>
      </p:sp>
      <p:sp>
        <p:nvSpPr>
          <p:cNvPr id="18" name="Rectangle 17"/>
          <p:cNvSpPr/>
          <p:nvPr/>
        </p:nvSpPr>
        <p:spPr>
          <a:xfrm>
            <a:off x="658368" y="4261104"/>
            <a:ext cx="5852160" cy="2103120"/>
          </a:xfrm>
          <a:prstGeom prst="rect">
            <a:avLst/>
          </a:prstGeom>
          <a:solidFill>
            <a:srgbClr val="F3F0F8"/>
          </a:solidFill>
          <a:ln w="19050">
            <a:solidFill>
              <a:srgbClr val="C4B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4443984"/>
            <a:ext cx="539496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56517E"/>
                </a:solidFill>
                <a:latin typeface="Calibri"/>
              </a:rPr>
              <a:t>K-MEANS  ·  THE ONE UNSUPERVISED STEP</a:t>
            </a:r>
          </a:p>
        </p:txBody>
      </p:sp>
      <p:sp>
        <p:nvSpPr>
          <p:cNvPr id="20" name="TextBox 19"/>
          <p:cNvSpPr txBox="1"/>
          <p:nvPr/>
        </p:nvSpPr>
        <p:spPr>
          <a:xfrm>
            <a:off x="877824" y="4736592"/>
            <a:ext cx="5394960" cy="868680"/>
          </a:xfrm>
          <a:prstGeom prst="rect">
            <a:avLst/>
          </a:prstGeom>
          <a:noFill/>
        </p:spPr>
        <p:txBody>
          <a:bodyPr wrap="square" anchor="t" lIns="0" rIns="0" tIns="0" bIns="0">
            <a:spAutoFit/>
          </a:bodyPr>
          <a:lstStyle/>
          <a:p>
            <a:pPr algn="l">
              <a:lnSpc>
                <a:spcPct val="126000"/>
              </a:lnSpc>
              <a:spcAft>
                <a:spcPts val="600"/>
              </a:spcAft>
            </a:pPr>
            <a:r>
              <a:rPr sz="1150" b="0" i="0">
                <a:solidFill>
                  <a:srgbClr val="1A1F2E"/>
                </a:solidFill>
                <a:latin typeface="Calibri"/>
              </a:rPr>
              <a:t>Supervised models learn from examples where the answer is known. K-Means is unsupervised — nobody tells it the answer, it just finds structure. It repeatedly assigns each event to the nearest cluster centre, then recomputes each centre as the mean of its points, until nothing moves.</a:t>
            </a:r>
          </a:p>
        </p:txBody>
      </p:sp>
      <p:sp>
        <p:nvSpPr>
          <p:cNvPr id="21" name="TextBox 20"/>
          <p:cNvSpPr txBox="1"/>
          <p:nvPr/>
        </p:nvSpPr>
        <p:spPr>
          <a:xfrm>
            <a:off x="877824" y="5687568"/>
            <a:ext cx="5394960" cy="548640"/>
          </a:xfrm>
          <a:prstGeom prst="rect">
            <a:avLst/>
          </a:prstGeom>
          <a:noFill/>
        </p:spPr>
        <p:txBody>
          <a:bodyPr wrap="square" anchor="t" lIns="0" rIns="0" tIns="0" bIns="0">
            <a:spAutoFit/>
          </a:bodyPr>
          <a:lstStyle/>
          <a:p>
            <a:pPr algn="l">
              <a:lnSpc>
                <a:spcPct val="126000"/>
              </a:lnSpc>
              <a:spcAft>
                <a:spcPts val="600"/>
              </a:spcAft>
            </a:pPr>
            <a:r>
              <a:rPr sz="1150" b="1" i="0">
                <a:solidFill>
                  <a:srgbClr val="56517E"/>
                </a:solidFill>
                <a:latin typeface="Calibri"/>
              </a:rPr>
              <a:t>Why it matters:  </a:t>
            </a:r>
            <a:r>
              <a:rPr sz="1150" b="0" i="0">
                <a:solidFill>
                  <a:srgbClr val="1A1F2E"/>
                </a:solidFill>
                <a:latin typeface="Calibri"/>
              </a:rPr>
              <a:t>raw lat/long are useless to a classifier — two events 100 m apart look like unrelated numbers. The cluster ID (0–19) becomes a feature instead.</a:t>
            </a:r>
          </a:p>
        </p:txBody>
      </p:sp>
      <p:sp>
        <p:nvSpPr>
          <p:cNvPr id="22" name="Rectangle 21"/>
          <p:cNvSpPr/>
          <p:nvPr/>
        </p:nvSpPr>
        <p:spPr>
          <a:xfrm>
            <a:off x="6821424" y="1522293"/>
            <a:ext cx="4748479" cy="3813413"/>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geo_clusters.png"/>
          <p:cNvPicPr>
            <a:picLocks noChangeAspect="1"/>
          </p:cNvPicPr>
          <p:nvPr/>
        </p:nvPicPr>
        <p:blipFill>
          <a:blip r:embed="rId2"/>
          <a:stretch>
            <a:fillRect/>
          </a:stretch>
        </p:blipFill>
        <p:spPr>
          <a:xfrm>
            <a:off x="6858000" y="1558869"/>
            <a:ext cx="4675327" cy="3740261"/>
          </a:xfrm>
          <a:prstGeom prst="rect">
            <a:avLst/>
          </a:prstGeom>
        </p:spPr>
      </p:pic>
      <p:sp>
        <p:nvSpPr>
          <p:cNvPr id="24" name="TextBox 23"/>
          <p:cNvSpPr txBox="1"/>
          <p:nvPr/>
        </p:nvSpPr>
        <p:spPr>
          <a:xfrm>
            <a:off x="6858000" y="5623560"/>
            <a:ext cx="4675327" cy="457200"/>
          </a:xfrm>
          <a:prstGeom prst="rect">
            <a:avLst/>
          </a:prstGeom>
          <a:noFill/>
        </p:spPr>
        <p:txBody>
          <a:bodyPr wrap="square" anchor="t" lIns="0" rIns="0" tIns="0" bIns="0">
            <a:spAutoFit/>
          </a:bodyPr>
          <a:lstStyle/>
          <a:p>
            <a:pPr algn="ctr">
              <a:lnSpc>
                <a:spcPct val="125000"/>
              </a:lnSpc>
              <a:spcAft>
                <a:spcPts val="600"/>
              </a:spcAft>
            </a:pPr>
            <a:r>
              <a:rPr sz="1100" b="0" i="0">
                <a:solidFill>
                  <a:srgbClr val="5B6478"/>
                </a:solidFill>
                <a:latin typeface="Calibri"/>
              </a:rPr>
              <a:t>20 K-Means clusters over Bengaluru incident coordinates.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5  ·  METHODOLOGY</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End-to-End ML Pipeline</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9</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417320"/>
            <a:ext cx="1664208" cy="713232"/>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35608"/>
            <a:ext cx="1664208" cy="392277"/>
          </a:xfrm>
          <a:prstGeom prst="rect">
            <a:avLst/>
          </a:prstGeom>
          <a:noFill/>
        </p:spPr>
        <p:txBody>
          <a:bodyPr wrap="square" anchor="ctr" lIns="0" rIns="0" tIns="0" bIns="0">
            <a:spAutoFit/>
          </a:bodyPr>
          <a:lstStyle/>
          <a:p>
            <a:pPr algn="ctr">
              <a:lnSpc>
                <a:spcPct val="115000"/>
              </a:lnSpc>
              <a:spcAft>
                <a:spcPts val="600"/>
              </a:spcAft>
            </a:pPr>
            <a:r>
              <a:rPr sz="1200" b="1" i="0">
                <a:solidFill>
                  <a:srgbClr val="1A1F2E"/>
                </a:solidFill>
                <a:latin typeface="Calibri"/>
              </a:rPr>
              <a:t>Raw log</a:t>
            </a:r>
          </a:p>
        </p:txBody>
      </p:sp>
      <p:sp>
        <p:nvSpPr>
          <p:cNvPr id="11" name="TextBox 10"/>
          <p:cNvSpPr txBox="1"/>
          <p:nvPr/>
        </p:nvSpPr>
        <p:spPr>
          <a:xfrm>
            <a:off x="704088" y="1809597"/>
            <a:ext cx="1572768" cy="299557"/>
          </a:xfrm>
          <a:prstGeom prst="rect">
            <a:avLst/>
          </a:prstGeom>
          <a:noFill/>
        </p:spPr>
        <p:txBody>
          <a:bodyPr wrap="square" anchor="t" lIns="0" rIns="0" tIns="0" bIns="0">
            <a:spAutoFit/>
          </a:bodyPr>
          <a:lstStyle/>
          <a:p>
            <a:pPr algn="ctr">
              <a:lnSpc>
                <a:spcPct val="115000"/>
              </a:lnSpc>
              <a:spcAft>
                <a:spcPts val="600"/>
              </a:spcAft>
            </a:pPr>
            <a:r>
              <a:rPr sz="950" b="0" i="0">
                <a:solidFill>
                  <a:srgbClr val="5B6478"/>
                </a:solidFill>
                <a:latin typeface="Calibri"/>
              </a:rPr>
              <a:t>8,173 × 46</a:t>
            </a:r>
          </a:p>
        </p:txBody>
      </p:sp>
      <p:sp>
        <p:nvSpPr>
          <p:cNvPr id="12" name="TextBox 11"/>
          <p:cNvSpPr txBox="1"/>
          <p:nvPr/>
        </p:nvSpPr>
        <p:spPr>
          <a:xfrm>
            <a:off x="2340864" y="1417320"/>
            <a:ext cx="201168" cy="713232"/>
          </a:xfrm>
          <a:prstGeom prst="rect">
            <a:avLst/>
          </a:prstGeom>
          <a:noFill/>
        </p:spPr>
        <p:txBody>
          <a:bodyPr wrap="square" anchor="ctr" lIns="0" rIns="0" tIns="0" bIns="0">
            <a:spAutoFit/>
          </a:bodyPr>
          <a:lstStyle/>
          <a:p>
            <a:pPr algn="ctr">
              <a:lnSpc>
                <a:spcPct val="125000"/>
              </a:lnSpc>
              <a:spcAft>
                <a:spcPts val="600"/>
              </a:spcAft>
            </a:pPr>
            <a:r>
              <a:rPr sz="1500" b="1" i="0">
                <a:solidFill>
                  <a:srgbClr val="C26A02"/>
                </a:solidFill>
                <a:latin typeface="Calibri"/>
              </a:rPr>
              <a:t>›</a:t>
            </a:r>
          </a:p>
        </p:txBody>
      </p:sp>
      <p:sp>
        <p:nvSpPr>
          <p:cNvPr id="13" name="Rectangle 12"/>
          <p:cNvSpPr/>
          <p:nvPr/>
        </p:nvSpPr>
        <p:spPr>
          <a:xfrm>
            <a:off x="2505456" y="1417320"/>
            <a:ext cx="1664208" cy="713232"/>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05456" y="1435608"/>
            <a:ext cx="1664208" cy="392277"/>
          </a:xfrm>
          <a:prstGeom prst="rect">
            <a:avLst/>
          </a:prstGeom>
          <a:noFill/>
        </p:spPr>
        <p:txBody>
          <a:bodyPr wrap="square" anchor="ctr" lIns="0" rIns="0" tIns="0" bIns="0">
            <a:spAutoFit/>
          </a:bodyPr>
          <a:lstStyle/>
          <a:p>
            <a:pPr algn="ctr">
              <a:lnSpc>
                <a:spcPct val="115000"/>
              </a:lnSpc>
              <a:spcAft>
                <a:spcPts val="600"/>
              </a:spcAft>
            </a:pPr>
            <a:r>
              <a:rPr sz="1200" b="1" i="0">
                <a:solidFill>
                  <a:srgbClr val="1A1F2E"/>
                </a:solidFill>
                <a:latin typeface="Calibri"/>
              </a:rPr>
              <a:t>Cleaning</a:t>
            </a:r>
          </a:p>
        </p:txBody>
      </p:sp>
      <p:sp>
        <p:nvSpPr>
          <p:cNvPr id="15" name="TextBox 14"/>
          <p:cNvSpPr txBox="1"/>
          <p:nvPr/>
        </p:nvSpPr>
        <p:spPr>
          <a:xfrm>
            <a:off x="2551176" y="1809597"/>
            <a:ext cx="1572768" cy="299557"/>
          </a:xfrm>
          <a:prstGeom prst="rect">
            <a:avLst/>
          </a:prstGeom>
          <a:noFill/>
        </p:spPr>
        <p:txBody>
          <a:bodyPr wrap="square" anchor="t" lIns="0" rIns="0" tIns="0" bIns="0">
            <a:spAutoFit/>
          </a:bodyPr>
          <a:lstStyle/>
          <a:p>
            <a:pPr algn="ctr">
              <a:lnSpc>
                <a:spcPct val="115000"/>
              </a:lnSpc>
              <a:spcAft>
                <a:spcPts val="600"/>
              </a:spcAft>
            </a:pPr>
            <a:r>
              <a:rPr sz="950" b="0" i="0">
                <a:solidFill>
                  <a:srgbClr val="5B6478"/>
                </a:solidFill>
                <a:latin typeface="Calibri"/>
              </a:rPr>
              <a:t>impute / drop</a:t>
            </a:r>
          </a:p>
        </p:txBody>
      </p:sp>
      <p:sp>
        <p:nvSpPr>
          <p:cNvPr id="16" name="TextBox 15"/>
          <p:cNvSpPr txBox="1"/>
          <p:nvPr/>
        </p:nvSpPr>
        <p:spPr>
          <a:xfrm>
            <a:off x="4187952" y="1417320"/>
            <a:ext cx="201168" cy="713232"/>
          </a:xfrm>
          <a:prstGeom prst="rect">
            <a:avLst/>
          </a:prstGeom>
          <a:noFill/>
        </p:spPr>
        <p:txBody>
          <a:bodyPr wrap="square" anchor="ctr" lIns="0" rIns="0" tIns="0" bIns="0">
            <a:spAutoFit/>
          </a:bodyPr>
          <a:lstStyle/>
          <a:p>
            <a:pPr algn="ctr">
              <a:lnSpc>
                <a:spcPct val="125000"/>
              </a:lnSpc>
              <a:spcAft>
                <a:spcPts val="600"/>
              </a:spcAft>
            </a:pPr>
            <a:r>
              <a:rPr sz="1500" b="1" i="0">
                <a:solidFill>
                  <a:srgbClr val="C26A02"/>
                </a:solidFill>
                <a:latin typeface="Calibri"/>
              </a:rPr>
              <a:t>›</a:t>
            </a:r>
          </a:p>
        </p:txBody>
      </p:sp>
      <p:sp>
        <p:nvSpPr>
          <p:cNvPr id="17" name="Rectangle 16"/>
          <p:cNvSpPr/>
          <p:nvPr/>
        </p:nvSpPr>
        <p:spPr>
          <a:xfrm>
            <a:off x="4352544" y="1417320"/>
            <a:ext cx="1664208" cy="713232"/>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2544" y="1435608"/>
            <a:ext cx="1664208" cy="392277"/>
          </a:xfrm>
          <a:prstGeom prst="rect">
            <a:avLst/>
          </a:prstGeom>
          <a:noFill/>
        </p:spPr>
        <p:txBody>
          <a:bodyPr wrap="square" anchor="ctr" lIns="0" rIns="0" tIns="0" bIns="0">
            <a:spAutoFit/>
          </a:bodyPr>
          <a:lstStyle/>
          <a:p>
            <a:pPr algn="ctr">
              <a:lnSpc>
                <a:spcPct val="115000"/>
              </a:lnSpc>
              <a:spcAft>
                <a:spcPts val="600"/>
              </a:spcAft>
            </a:pPr>
            <a:r>
              <a:rPr sz="1200" b="1" i="0">
                <a:solidFill>
                  <a:srgbClr val="1A1F2E"/>
                </a:solidFill>
                <a:latin typeface="Calibri"/>
              </a:rPr>
              <a:t>30 features</a:t>
            </a:r>
          </a:p>
        </p:txBody>
      </p:sp>
      <p:sp>
        <p:nvSpPr>
          <p:cNvPr id="19" name="TextBox 18"/>
          <p:cNvSpPr txBox="1"/>
          <p:nvPr/>
        </p:nvSpPr>
        <p:spPr>
          <a:xfrm>
            <a:off x="4398264" y="1809597"/>
            <a:ext cx="1572768" cy="299557"/>
          </a:xfrm>
          <a:prstGeom prst="rect">
            <a:avLst/>
          </a:prstGeom>
          <a:noFill/>
        </p:spPr>
        <p:txBody>
          <a:bodyPr wrap="square" anchor="t" lIns="0" rIns="0" tIns="0" bIns="0">
            <a:spAutoFit/>
          </a:bodyPr>
          <a:lstStyle/>
          <a:p>
            <a:pPr algn="ctr">
              <a:lnSpc>
                <a:spcPct val="115000"/>
              </a:lnSpc>
              <a:spcAft>
                <a:spcPts val="600"/>
              </a:spcAft>
            </a:pPr>
            <a:r>
              <a:rPr sz="950" b="0" i="0">
                <a:solidFill>
                  <a:srgbClr val="5B6478"/>
                </a:solidFill>
                <a:latin typeface="Calibri"/>
              </a:rPr>
              <a:t>spatial · temporal</a:t>
            </a:r>
          </a:p>
        </p:txBody>
      </p:sp>
      <p:sp>
        <p:nvSpPr>
          <p:cNvPr id="20" name="TextBox 19"/>
          <p:cNvSpPr txBox="1"/>
          <p:nvPr/>
        </p:nvSpPr>
        <p:spPr>
          <a:xfrm>
            <a:off x="6035040" y="1417320"/>
            <a:ext cx="201168" cy="713232"/>
          </a:xfrm>
          <a:prstGeom prst="rect">
            <a:avLst/>
          </a:prstGeom>
          <a:noFill/>
        </p:spPr>
        <p:txBody>
          <a:bodyPr wrap="square" anchor="ctr" lIns="0" rIns="0" tIns="0" bIns="0">
            <a:spAutoFit/>
          </a:bodyPr>
          <a:lstStyle/>
          <a:p>
            <a:pPr algn="ctr">
              <a:lnSpc>
                <a:spcPct val="125000"/>
              </a:lnSpc>
              <a:spcAft>
                <a:spcPts val="600"/>
              </a:spcAft>
            </a:pPr>
            <a:r>
              <a:rPr sz="1500" b="1" i="0">
                <a:solidFill>
                  <a:srgbClr val="C26A02"/>
                </a:solidFill>
                <a:latin typeface="Calibri"/>
              </a:rPr>
              <a:t>›</a:t>
            </a:r>
          </a:p>
        </p:txBody>
      </p:sp>
      <p:sp>
        <p:nvSpPr>
          <p:cNvPr id="21" name="Rectangle 20"/>
          <p:cNvSpPr/>
          <p:nvPr/>
        </p:nvSpPr>
        <p:spPr>
          <a:xfrm>
            <a:off x="6199632" y="1417320"/>
            <a:ext cx="1664208" cy="713232"/>
          </a:xfrm>
          <a:prstGeom prst="rect">
            <a:avLst/>
          </a:prstGeom>
          <a:solidFill>
            <a:srgbClr val="F3F0F8"/>
          </a:solidFill>
          <a:ln w="12700">
            <a:solidFill>
              <a:srgbClr val="C4B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9632" y="1435608"/>
            <a:ext cx="1664208" cy="392277"/>
          </a:xfrm>
          <a:prstGeom prst="rect">
            <a:avLst/>
          </a:prstGeom>
          <a:noFill/>
        </p:spPr>
        <p:txBody>
          <a:bodyPr wrap="square" anchor="ctr" lIns="0" rIns="0" tIns="0" bIns="0">
            <a:spAutoFit/>
          </a:bodyPr>
          <a:lstStyle/>
          <a:p>
            <a:pPr algn="ctr">
              <a:lnSpc>
                <a:spcPct val="115000"/>
              </a:lnSpc>
              <a:spcAft>
                <a:spcPts val="600"/>
              </a:spcAft>
            </a:pPr>
            <a:r>
              <a:rPr sz="1200" b="1" i="0">
                <a:solidFill>
                  <a:srgbClr val="1A1F2E"/>
                </a:solidFill>
                <a:latin typeface="Calibri"/>
              </a:rPr>
              <a:t>K-Means</a:t>
            </a:r>
          </a:p>
        </p:txBody>
      </p:sp>
      <p:sp>
        <p:nvSpPr>
          <p:cNvPr id="23" name="TextBox 22"/>
          <p:cNvSpPr txBox="1"/>
          <p:nvPr/>
        </p:nvSpPr>
        <p:spPr>
          <a:xfrm>
            <a:off x="6245352" y="1809597"/>
            <a:ext cx="1572768" cy="299557"/>
          </a:xfrm>
          <a:prstGeom prst="rect">
            <a:avLst/>
          </a:prstGeom>
          <a:noFill/>
        </p:spPr>
        <p:txBody>
          <a:bodyPr wrap="square" anchor="t" lIns="0" rIns="0" tIns="0" bIns="0">
            <a:spAutoFit/>
          </a:bodyPr>
          <a:lstStyle/>
          <a:p>
            <a:pPr algn="ctr">
              <a:lnSpc>
                <a:spcPct val="115000"/>
              </a:lnSpc>
              <a:spcAft>
                <a:spcPts val="600"/>
              </a:spcAft>
            </a:pPr>
            <a:r>
              <a:rPr sz="950" b="0" i="0">
                <a:solidFill>
                  <a:srgbClr val="5B6478"/>
                </a:solidFill>
                <a:latin typeface="Calibri"/>
              </a:rPr>
              <a:t>K = 20</a:t>
            </a:r>
          </a:p>
        </p:txBody>
      </p:sp>
      <p:sp>
        <p:nvSpPr>
          <p:cNvPr id="24" name="TextBox 23"/>
          <p:cNvSpPr txBox="1"/>
          <p:nvPr/>
        </p:nvSpPr>
        <p:spPr>
          <a:xfrm>
            <a:off x="7882128" y="1417320"/>
            <a:ext cx="201168" cy="713232"/>
          </a:xfrm>
          <a:prstGeom prst="rect">
            <a:avLst/>
          </a:prstGeom>
          <a:noFill/>
        </p:spPr>
        <p:txBody>
          <a:bodyPr wrap="square" anchor="ctr" lIns="0" rIns="0" tIns="0" bIns="0">
            <a:spAutoFit/>
          </a:bodyPr>
          <a:lstStyle/>
          <a:p>
            <a:pPr algn="ctr">
              <a:lnSpc>
                <a:spcPct val="125000"/>
              </a:lnSpc>
              <a:spcAft>
                <a:spcPts val="600"/>
              </a:spcAft>
            </a:pPr>
            <a:r>
              <a:rPr sz="1500" b="1" i="0">
                <a:solidFill>
                  <a:srgbClr val="C26A02"/>
                </a:solidFill>
                <a:latin typeface="Calibri"/>
              </a:rPr>
              <a:t>›</a:t>
            </a:r>
          </a:p>
        </p:txBody>
      </p:sp>
      <p:sp>
        <p:nvSpPr>
          <p:cNvPr id="25" name="Rectangle 24"/>
          <p:cNvSpPr/>
          <p:nvPr/>
        </p:nvSpPr>
        <p:spPr>
          <a:xfrm>
            <a:off x="8046720" y="1417320"/>
            <a:ext cx="1664208" cy="713232"/>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1435608"/>
            <a:ext cx="1664208" cy="392277"/>
          </a:xfrm>
          <a:prstGeom prst="rect">
            <a:avLst/>
          </a:prstGeom>
          <a:noFill/>
        </p:spPr>
        <p:txBody>
          <a:bodyPr wrap="square" anchor="ctr" lIns="0" rIns="0" tIns="0" bIns="0">
            <a:spAutoFit/>
          </a:bodyPr>
          <a:lstStyle/>
          <a:p>
            <a:pPr algn="ctr">
              <a:lnSpc>
                <a:spcPct val="115000"/>
              </a:lnSpc>
              <a:spcAft>
                <a:spcPts val="600"/>
              </a:spcAft>
            </a:pPr>
            <a:r>
              <a:rPr sz="1200" b="1" i="0">
                <a:solidFill>
                  <a:srgbClr val="1A1F2E"/>
                </a:solidFill>
                <a:latin typeface="Calibri"/>
              </a:rPr>
              <a:t>Encode + scale</a:t>
            </a:r>
          </a:p>
        </p:txBody>
      </p:sp>
      <p:sp>
        <p:nvSpPr>
          <p:cNvPr id="27" name="TextBox 26"/>
          <p:cNvSpPr txBox="1"/>
          <p:nvPr/>
        </p:nvSpPr>
        <p:spPr>
          <a:xfrm>
            <a:off x="8092440" y="1809597"/>
            <a:ext cx="1572768" cy="299557"/>
          </a:xfrm>
          <a:prstGeom prst="rect">
            <a:avLst/>
          </a:prstGeom>
          <a:noFill/>
        </p:spPr>
        <p:txBody>
          <a:bodyPr wrap="square" anchor="t" lIns="0" rIns="0" tIns="0" bIns="0">
            <a:spAutoFit/>
          </a:bodyPr>
          <a:lstStyle/>
          <a:p>
            <a:pPr algn="ctr">
              <a:lnSpc>
                <a:spcPct val="115000"/>
              </a:lnSpc>
              <a:spcAft>
                <a:spcPts val="600"/>
              </a:spcAft>
            </a:pPr>
            <a:r>
              <a:rPr sz="950" b="0" i="0">
                <a:solidFill>
                  <a:srgbClr val="5B6478"/>
                </a:solidFill>
                <a:latin typeface="Calibri"/>
              </a:rPr>
              <a:t>9 encoders</a:t>
            </a:r>
          </a:p>
        </p:txBody>
      </p:sp>
      <p:sp>
        <p:nvSpPr>
          <p:cNvPr id="28" name="TextBox 27"/>
          <p:cNvSpPr txBox="1"/>
          <p:nvPr/>
        </p:nvSpPr>
        <p:spPr>
          <a:xfrm>
            <a:off x="9729216" y="1417320"/>
            <a:ext cx="201168" cy="713232"/>
          </a:xfrm>
          <a:prstGeom prst="rect">
            <a:avLst/>
          </a:prstGeom>
          <a:noFill/>
        </p:spPr>
        <p:txBody>
          <a:bodyPr wrap="square" anchor="ctr" lIns="0" rIns="0" tIns="0" bIns="0">
            <a:spAutoFit/>
          </a:bodyPr>
          <a:lstStyle/>
          <a:p>
            <a:pPr algn="ctr">
              <a:lnSpc>
                <a:spcPct val="125000"/>
              </a:lnSpc>
              <a:spcAft>
                <a:spcPts val="600"/>
              </a:spcAft>
            </a:pPr>
            <a:r>
              <a:rPr sz="1500" b="1" i="0">
                <a:solidFill>
                  <a:srgbClr val="C26A02"/>
                </a:solidFill>
                <a:latin typeface="Calibri"/>
              </a:rPr>
              <a:t>›</a:t>
            </a:r>
          </a:p>
        </p:txBody>
      </p:sp>
      <p:sp>
        <p:nvSpPr>
          <p:cNvPr id="29" name="Rectangle 28"/>
          <p:cNvSpPr/>
          <p:nvPr/>
        </p:nvSpPr>
        <p:spPr>
          <a:xfrm>
            <a:off x="9893808" y="1417320"/>
            <a:ext cx="1664208" cy="713232"/>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8" y="1435608"/>
            <a:ext cx="1664208" cy="392277"/>
          </a:xfrm>
          <a:prstGeom prst="rect">
            <a:avLst/>
          </a:prstGeom>
          <a:noFill/>
        </p:spPr>
        <p:txBody>
          <a:bodyPr wrap="square" anchor="ctr" lIns="0" rIns="0" tIns="0" bIns="0">
            <a:spAutoFit/>
          </a:bodyPr>
          <a:lstStyle/>
          <a:p>
            <a:pPr algn="ctr">
              <a:lnSpc>
                <a:spcPct val="115000"/>
              </a:lnSpc>
              <a:spcAft>
                <a:spcPts val="600"/>
              </a:spcAft>
            </a:pPr>
            <a:r>
              <a:rPr sz="1200" b="1" i="0">
                <a:solidFill>
                  <a:srgbClr val="1A1F2E"/>
                </a:solidFill>
                <a:latin typeface="Calibri"/>
              </a:rPr>
              <a:t>80/20 split</a:t>
            </a:r>
          </a:p>
        </p:txBody>
      </p:sp>
      <p:sp>
        <p:nvSpPr>
          <p:cNvPr id="31" name="TextBox 30"/>
          <p:cNvSpPr txBox="1"/>
          <p:nvPr/>
        </p:nvSpPr>
        <p:spPr>
          <a:xfrm>
            <a:off x="9939528" y="1809597"/>
            <a:ext cx="1572768" cy="299557"/>
          </a:xfrm>
          <a:prstGeom prst="rect">
            <a:avLst/>
          </a:prstGeom>
          <a:noFill/>
        </p:spPr>
        <p:txBody>
          <a:bodyPr wrap="square" anchor="t" lIns="0" rIns="0" tIns="0" bIns="0">
            <a:spAutoFit/>
          </a:bodyPr>
          <a:lstStyle/>
          <a:p>
            <a:pPr algn="ctr">
              <a:lnSpc>
                <a:spcPct val="115000"/>
              </a:lnSpc>
              <a:spcAft>
                <a:spcPts val="600"/>
              </a:spcAft>
            </a:pPr>
            <a:r>
              <a:rPr sz="950" b="0" i="0">
                <a:solidFill>
                  <a:srgbClr val="5B6478"/>
                </a:solidFill>
                <a:latin typeface="Calibri"/>
              </a:rPr>
              <a:t>stratified</a:t>
            </a:r>
          </a:p>
        </p:txBody>
      </p:sp>
      <p:sp>
        <p:nvSpPr>
          <p:cNvPr id="32" name="Rectangle 31"/>
          <p:cNvSpPr/>
          <p:nvPr/>
        </p:nvSpPr>
        <p:spPr>
          <a:xfrm>
            <a:off x="1161288" y="2487168"/>
            <a:ext cx="2377440" cy="502920"/>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1288" y="2487168"/>
            <a:ext cx="2377440" cy="502920"/>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LightGBM</a:t>
            </a:r>
          </a:p>
        </p:txBody>
      </p:sp>
      <p:cxnSp>
        <p:nvCxnSpPr>
          <p:cNvPr id="34" name="Connector 33"/>
          <p:cNvCxnSpPr/>
          <p:nvPr/>
        </p:nvCxnSpPr>
        <p:spPr>
          <a:xfrm>
            <a:off x="2350008" y="2990088"/>
            <a:ext cx="0" cy="301752"/>
          </a:xfrm>
          <a:prstGeom prst="line">
            <a:avLst/>
          </a:prstGeom>
          <a:ln w="1524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3767328" y="2487168"/>
            <a:ext cx="2377440" cy="502920"/>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67328" y="2487168"/>
            <a:ext cx="2377440" cy="502920"/>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XGBoost</a:t>
            </a:r>
          </a:p>
        </p:txBody>
      </p:sp>
      <p:cxnSp>
        <p:nvCxnSpPr>
          <p:cNvPr id="37" name="Connector 36"/>
          <p:cNvCxnSpPr/>
          <p:nvPr/>
        </p:nvCxnSpPr>
        <p:spPr>
          <a:xfrm>
            <a:off x="4956048" y="2990088"/>
            <a:ext cx="0" cy="301752"/>
          </a:xfrm>
          <a:prstGeom prst="line">
            <a:avLst/>
          </a:prstGeom>
          <a:ln w="1524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373368" y="2487168"/>
            <a:ext cx="2377440" cy="50292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73368" y="2487168"/>
            <a:ext cx="2377440" cy="502920"/>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MLP</a:t>
            </a:r>
          </a:p>
        </p:txBody>
      </p:sp>
      <p:cxnSp>
        <p:nvCxnSpPr>
          <p:cNvPr id="40" name="Connector 39"/>
          <p:cNvCxnSpPr/>
          <p:nvPr/>
        </p:nvCxnSpPr>
        <p:spPr>
          <a:xfrm>
            <a:off x="7562088" y="2990088"/>
            <a:ext cx="0" cy="301752"/>
          </a:xfrm>
          <a:prstGeom prst="line">
            <a:avLst/>
          </a:prstGeom>
          <a:ln w="1524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979408" y="2487168"/>
            <a:ext cx="2377440" cy="50292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79408" y="2487168"/>
            <a:ext cx="2377440" cy="502920"/>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TabNet</a:t>
            </a:r>
          </a:p>
        </p:txBody>
      </p:sp>
      <p:cxnSp>
        <p:nvCxnSpPr>
          <p:cNvPr id="43" name="Connector 42"/>
          <p:cNvCxnSpPr/>
          <p:nvPr/>
        </p:nvCxnSpPr>
        <p:spPr>
          <a:xfrm>
            <a:off x="10168128" y="2990088"/>
            <a:ext cx="0" cy="301752"/>
          </a:xfrm>
          <a:prstGeom prst="line">
            <a:avLst/>
          </a:prstGeom>
          <a:ln w="1524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658368" y="3310128"/>
            <a:ext cx="10874959" cy="420624"/>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 y="3310128"/>
            <a:ext cx="10874959" cy="420624"/>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16 meta-features  =  4 models × 4 class probabilities  ·  generated out-of-fold</a:t>
            </a:r>
          </a:p>
        </p:txBody>
      </p:sp>
      <p:cxnSp>
        <p:nvCxnSpPr>
          <p:cNvPr id="46" name="Connector 45"/>
          <p:cNvCxnSpPr/>
          <p:nvPr/>
        </p:nvCxnSpPr>
        <p:spPr>
          <a:xfrm>
            <a:off x="6095847" y="3730752"/>
            <a:ext cx="0" cy="274320"/>
          </a:xfrm>
          <a:prstGeom prst="line">
            <a:avLst/>
          </a:prstGeom>
          <a:ln w="1905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3840480" y="4023360"/>
            <a:ext cx="4480560" cy="566928"/>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40480" y="4041648"/>
            <a:ext cx="4480560" cy="311810"/>
          </a:xfrm>
          <a:prstGeom prst="rect">
            <a:avLst/>
          </a:prstGeom>
          <a:noFill/>
        </p:spPr>
        <p:txBody>
          <a:bodyPr wrap="square" anchor="ctr" lIns="0" rIns="0" tIns="0" bIns="0">
            <a:spAutoFit/>
          </a:bodyPr>
          <a:lstStyle/>
          <a:p>
            <a:pPr algn="ctr">
              <a:lnSpc>
                <a:spcPct val="115000"/>
              </a:lnSpc>
              <a:spcAft>
                <a:spcPts val="600"/>
              </a:spcAft>
            </a:pPr>
            <a:r>
              <a:rPr sz="1400" b="1" i="0">
                <a:solidFill>
                  <a:srgbClr val="1A1F2E"/>
                </a:solidFill>
                <a:latin typeface="Calibri"/>
              </a:rPr>
              <a:t>Stacked meta-learner  ·  LightGBM</a:t>
            </a:r>
          </a:p>
        </p:txBody>
      </p:sp>
      <p:sp>
        <p:nvSpPr>
          <p:cNvPr id="49" name="TextBox 48"/>
          <p:cNvSpPr txBox="1"/>
          <p:nvPr/>
        </p:nvSpPr>
        <p:spPr>
          <a:xfrm>
            <a:off x="3886200" y="4335170"/>
            <a:ext cx="4389120" cy="238109"/>
          </a:xfrm>
          <a:prstGeom prst="rect">
            <a:avLst/>
          </a:prstGeom>
          <a:noFill/>
        </p:spPr>
        <p:txBody>
          <a:bodyPr wrap="square" anchor="t" lIns="0" rIns="0" tIns="0" bIns="0">
            <a:spAutoFit/>
          </a:bodyPr>
          <a:lstStyle/>
          <a:p>
            <a:pPr algn="ctr">
              <a:lnSpc>
                <a:spcPct val="115000"/>
              </a:lnSpc>
              <a:spcAft>
                <a:spcPts val="600"/>
              </a:spcAft>
            </a:pPr>
            <a:r>
              <a:rPr sz="1000" b="0" i="0">
                <a:solidFill>
                  <a:srgbClr val="5B6478"/>
                </a:solidFill>
                <a:latin typeface="Calibri"/>
              </a:rPr>
              <a:t>learns how much to trust each base model</a:t>
            </a:r>
          </a:p>
        </p:txBody>
      </p:sp>
      <p:cxnSp>
        <p:nvCxnSpPr>
          <p:cNvPr id="50" name="Connector 49"/>
          <p:cNvCxnSpPr/>
          <p:nvPr/>
        </p:nvCxnSpPr>
        <p:spPr>
          <a:xfrm>
            <a:off x="6095847" y="4590288"/>
            <a:ext cx="0" cy="274320"/>
          </a:xfrm>
          <a:prstGeom prst="line">
            <a:avLst/>
          </a:prstGeom>
          <a:ln w="1905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3840480" y="4882896"/>
            <a:ext cx="4480560" cy="457200"/>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40480" y="4882896"/>
            <a:ext cx="4480560" cy="457200"/>
          </a:xfrm>
          <a:prstGeom prst="rect">
            <a:avLst/>
          </a:prstGeom>
          <a:noFill/>
        </p:spPr>
        <p:txBody>
          <a:bodyPr wrap="square" anchor="ctr" lIns="0" rIns="0" tIns="0" bIns="0">
            <a:spAutoFit/>
          </a:bodyPr>
          <a:lstStyle/>
          <a:p>
            <a:pPr algn="ctr">
              <a:lnSpc>
                <a:spcPct val="115000"/>
              </a:lnSpc>
              <a:spcAft>
                <a:spcPts val="600"/>
              </a:spcAft>
            </a:pPr>
            <a:r>
              <a:rPr sz="1250" b="1" i="0">
                <a:solidFill>
                  <a:srgbClr val="1A1F2E"/>
                </a:solidFill>
                <a:latin typeface="Calibri"/>
              </a:rPr>
              <a:t>Severity  0 Low · 1 Medium · 2 High · 3 Critical</a:t>
            </a:r>
          </a:p>
        </p:txBody>
      </p:sp>
      <p:sp>
        <p:nvSpPr>
          <p:cNvPr id="53" name="Rectangle 52"/>
          <p:cNvSpPr/>
          <p:nvPr/>
        </p:nvSpPr>
        <p:spPr>
          <a:xfrm>
            <a:off x="658368" y="5468112"/>
            <a:ext cx="5577840" cy="896112"/>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 y="5605272"/>
            <a:ext cx="5175503" cy="621792"/>
          </a:xfrm>
          <a:prstGeom prst="rect">
            <a:avLst/>
          </a:prstGeom>
          <a:noFill/>
        </p:spPr>
        <p:txBody>
          <a:bodyPr wrap="square" anchor="t" lIns="0" rIns="0" tIns="0" bIns="0">
            <a:spAutoFit/>
          </a:bodyPr>
          <a:lstStyle/>
          <a:p>
            <a:pPr algn="l">
              <a:lnSpc>
                <a:spcPct val="126000"/>
              </a:lnSpc>
              <a:spcAft>
                <a:spcPts val="600"/>
              </a:spcAft>
            </a:pPr>
            <a:r>
              <a:rPr sz="1150" b="1" i="0">
                <a:solidFill>
                  <a:srgbClr val="1B7F4B"/>
                </a:solidFill>
                <a:latin typeface="Calibri"/>
              </a:rPr>
              <a:t>Stage 1 — learned.  </a:t>
            </a:r>
            <a:r>
              <a:rPr sz="1150" b="0" i="0">
                <a:solidFill>
                  <a:srgbClr val="1A1F2E"/>
                </a:solidFill>
                <a:latin typeface="Calibri"/>
              </a:rPr>
              <a:t>Four base classifiers with different structural biases, combined by a meta-learner trained on their out-of-fold probabilities.</a:t>
            </a:r>
          </a:p>
        </p:txBody>
      </p:sp>
      <p:sp>
        <p:nvSpPr>
          <p:cNvPr id="55" name="Rectangle 54"/>
          <p:cNvSpPr/>
          <p:nvPr/>
        </p:nvSpPr>
        <p:spPr>
          <a:xfrm>
            <a:off x="6446520" y="5468112"/>
            <a:ext cx="5086807" cy="896112"/>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47688" y="5605272"/>
            <a:ext cx="4684471" cy="621792"/>
          </a:xfrm>
          <a:prstGeom prst="rect">
            <a:avLst/>
          </a:prstGeom>
          <a:noFill/>
        </p:spPr>
        <p:txBody>
          <a:bodyPr wrap="square" anchor="t" lIns="0" rIns="0" tIns="0" bIns="0">
            <a:spAutoFit/>
          </a:bodyPr>
          <a:lstStyle/>
          <a:p>
            <a:pPr algn="l">
              <a:lnSpc>
                <a:spcPct val="126000"/>
              </a:lnSpc>
              <a:spcAft>
                <a:spcPts val="600"/>
              </a:spcAft>
            </a:pPr>
            <a:r>
              <a:rPr sz="1150" b="1" i="0">
                <a:solidFill>
                  <a:srgbClr val="C26A02"/>
                </a:solidFill>
                <a:latin typeface="Calibri"/>
              </a:rPr>
              <a:t>Stage 2 — deterministic.  </a:t>
            </a:r>
            <a:r>
              <a:rPr sz="1150" b="0" i="0">
                <a:solidFill>
                  <a:srgbClr val="1A1F2E"/>
                </a:solidFill>
                <a:latin typeface="Calibri"/>
              </a:rPr>
              <a:t>A fixed rule table converts the predicted severity into a manpower, barricading and diversion plan. No ML involved.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ML CONCEPT  ·  BASE LEARNERS</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Four Models, Two Very Different Learning Styles</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10</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325880"/>
            <a:ext cx="5623560" cy="2331720"/>
          </a:xfrm>
          <a:prstGeom prst="rect">
            <a:avLst/>
          </a:prstGeom>
          <a:solidFill>
            <a:srgbClr val="E8F1E9"/>
          </a:solidFill>
          <a:ln w="1905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1481328"/>
            <a:ext cx="512064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1B7F4B"/>
                </a:solidFill>
                <a:latin typeface="Calibri"/>
              </a:rPr>
              <a:t>GRADIENT-BOOSTED TREES  ·  LightGBM, XGBoost</a:t>
            </a:r>
          </a:p>
        </p:txBody>
      </p:sp>
      <p:sp>
        <p:nvSpPr>
          <p:cNvPr id="11" name="TextBox 10"/>
          <p:cNvSpPr txBox="1"/>
          <p:nvPr/>
        </p:nvSpPr>
        <p:spPr>
          <a:xfrm>
            <a:off x="886968" y="1764792"/>
            <a:ext cx="5120640" cy="384048"/>
          </a:xfrm>
          <a:prstGeom prst="rect">
            <a:avLst/>
          </a:prstGeom>
          <a:noFill/>
        </p:spPr>
        <p:txBody>
          <a:bodyPr wrap="square" anchor="t" lIns="0" rIns="0" tIns="0" bIns="0">
            <a:spAutoFit/>
          </a:bodyPr>
          <a:lstStyle/>
          <a:p>
            <a:pPr algn="l">
              <a:lnSpc>
                <a:spcPct val="124000"/>
              </a:lnSpc>
              <a:spcAft>
                <a:spcPts val="600"/>
              </a:spcAft>
            </a:pPr>
            <a:r>
              <a:rPr sz="1150" b="0" i="0">
                <a:solidFill>
                  <a:srgbClr val="1A1F2E"/>
                </a:solidFill>
                <a:latin typeface="Calibri"/>
              </a:rPr>
              <a:t>A decision tree is a flowchart of yes/no questions ending in a prediction. One tree is weak — so build hundreds in sequence:</a:t>
            </a:r>
          </a:p>
        </p:txBody>
      </p:sp>
      <p:sp>
        <p:nvSpPr>
          <p:cNvPr id="12" name="Rectangle 11"/>
          <p:cNvSpPr/>
          <p:nvPr/>
        </p:nvSpPr>
        <p:spPr>
          <a:xfrm>
            <a:off x="886968" y="2286000"/>
            <a:ext cx="1097280" cy="548640"/>
          </a:xfrm>
          <a:prstGeom prst="rect">
            <a:avLst/>
          </a:prstGeom>
          <a:solidFill>
            <a:srgbClr val="FFFFFF"/>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2304288"/>
            <a:ext cx="1097280" cy="301752"/>
          </a:xfrm>
          <a:prstGeom prst="rect">
            <a:avLst/>
          </a:prstGeom>
          <a:noFill/>
        </p:spPr>
        <p:txBody>
          <a:bodyPr wrap="square" anchor="ctr" lIns="0" rIns="0" tIns="0" bIns="0">
            <a:spAutoFit/>
          </a:bodyPr>
          <a:lstStyle/>
          <a:p>
            <a:pPr algn="ctr">
              <a:lnSpc>
                <a:spcPct val="115000"/>
              </a:lnSpc>
              <a:spcAft>
                <a:spcPts val="600"/>
              </a:spcAft>
            </a:pPr>
            <a:r>
              <a:rPr sz="1100" b="1" i="0">
                <a:solidFill>
                  <a:srgbClr val="1A1F2E"/>
                </a:solidFill>
                <a:latin typeface="Calibri"/>
              </a:rPr>
              <a:t>Tree 1</a:t>
            </a:r>
          </a:p>
        </p:txBody>
      </p:sp>
      <p:sp>
        <p:nvSpPr>
          <p:cNvPr id="14" name="TextBox 13"/>
          <p:cNvSpPr txBox="1"/>
          <p:nvPr/>
        </p:nvSpPr>
        <p:spPr>
          <a:xfrm>
            <a:off x="932688" y="2587752"/>
            <a:ext cx="1005839" cy="230428"/>
          </a:xfrm>
          <a:prstGeom prst="rect">
            <a:avLst/>
          </a:prstGeom>
          <a:noFill/>
        </p:spPr>
        <p:txBody>
          <a:bodyPr wrap="square" anchor="t" lIns="0" rIns="0" tIns="0" bIns="0">
            <a:spAutoFit/>
          </a:bodyPr>
          <a:lstStyle/>
          <a:p>
            <a:pPr algn="ctr">
              <a:lnSpc>
                <a:spcPct val="115000"/>
              </a:lnSpc>
              <a:spcAft>
                <a:spcPts val="600"/>
              </a:spcAft>
            </a:pPr>
            <a:r>
              <a:rPr sz="850" b="0" i="0">
                <a:solidFill>
                  <a:srgbClr val="5B6478"/>
                </a:solidFill>
                <a:latin typeface="Calibri"/>
              </a:rPr>
              <a:t>first guess</a:t>
            </a:r>
          </a:p>
        </p:txBody>
      </p:sp>
      <p:cxnSp>
        <p:nvCxnSpPr>
          <p:cNvPr id="15" name="Connector 14"/>
          <p:cNvCxnSpPr/>
          <p:nvPr/>
        </p:nvCxnSpPr>
        <p:spPr>
          <a:xfrm>
            <a:off x="1993391" y="2560320"/>
            <a:ext cx="173737" cy="0"/>
          </a:xfrm>
          <a:prstGeom prst="line">
            <a:avLst/>
          </a:prstGeom>
          <a:ln w="1524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185415" y="2286000"/>
            <a:ext cx="1097280" cy="548640"/>
          </a:xfrm>
          <a:prstGeom prst="rect">
            <a:avLst/>
          </a:prstGeom>
          <a:solidFill>
            <a:srgbClr val="FFFFFF"/>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85415" y="2304288"/>
            <a:ext cx="1097280" cy="301752"/>
          </a:xfrm>
          <a:prstGeom prst="rect">
            <a:avLst/>
          </a:prstGeom>
          <a:noFill/>
        </p:spPr>
        <p:txBody>
          <a:bodyPr wrap="square" anchor="ctr" lIns="0" rIns="0" tIns="0" bIns="0">
            <a:spAutoFit/>
          </a:bodyPr>
          <a:lstStyle/>
          <a:p>
            <a:pPr algn="ctr">
              <a:lnSpc>
                <a:spcPct val="115000"/>
              </a:lnSpc>
              <a:spcAft>
                <a:spcPts val="600"/>
              </a:spcAft>
            </a:pPr>
            <a:r>
              <a:rPr sz="1100" b="1" i="0">
                <a:solidFill>
                  <a:srgbClr val="1A1F2E"/>
                </a:solidFill>
                <a:latin typeface="Calibri"/>
              </a:rPr>
              <a:t>Tree 2</a:t>
            </a:r>
          </a:p>
        </p:txBody>
      </p:sp>
      <p:sp>
        <p:nvSpPr>
          <p:cNvPr id="18" name="TextBox 17"/>
          <p:cNvSpPr txBox="1"/>
          <p:nvPr/>
        </p:nvSpPr>
        <p:spPr>
          <a:xfrm>
            <a:off x="2231135" y="2587752"/>
            <a:ext cx="1005839" cy="230428"/>
          </a:xfrm>
          <a:prstGeom prst="rect">
            <a:avLst/>
          </a:prstGeom>
          <a:noFill/>
        </p:spPr>
        <p:txBody>
          <a:bodyPr wrap="square" anchor="t" lIns="0" rIns="0" tIns="0" bIns="0">
            <a:spAutoFit/>
          </a:bodyPr>
          <a:lstStyle/>
          <a:p>
            <a:pPr algn="ctr">
              <a:lnSpc>
                <a:spcPct val="115000"/>
              </a:lnSpc>
              <a:spcAft>
                <a:spcPts val="600"/>
              </a:spcAft>
            </a:pPr>
            <a:r>
              <a:rPr sz="850" b="0" i="0">
                <a:solidFill>
                  <a:srgbClr val="5B6478"/>
                </a:solidFill>
                <a:latin typeface="Calibri"/>
              </a:rPr>
              <a:t>fixes T1 errors</a:t>
            </a:r>
          </a:p>
        </p:txBody>
      </p:sp>
      <p:cxnSp>
        <p:nvCxnSpPr>
          <p:cNvPr id="19" name="Connector 18"/>
          <p:cNvCxnSpPr/>
          <p:nvPr/>
        </p:nvCxnSpPr>
        <p:spPr>
          <a:xfrm>
            <a:off x="3291839" y="2560320"/>
            <a:ext cx="173736" cy="0"/>
          </a:xfrm>
          <a:prstGeom prst="line">
            <a:avLst/>
          </a:prstGeom>
          <a:ln w="1524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483863" y="2286000"/>
            <a:ext cx="1097280" cy="548640"/>
          </a:xfrm>
          <a:prstGeom prst="rect">
            <a:avLst/>
          </a:prstGeom>
          <a:solidFill>
            <a:srgbClr val="FFFFFF"/>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83863" y="2304288"/>
            <a:ext cx="1097280" cy="301752"/>
          </a:xfrm>
          <a:prstGeom prst="rect">
            <a:avLst/>
          </a:prstGeom>
          <a:noFill/>
        </p:spPr>
        <p:txBody>
          <a:bodyPr wrap="square" anchor="ctr" lIns="0" rIns="0" tIns="0" bIns="0">
            <a:spAutoFit/>
          </a:bodyPr>
          <a:lstStyle/>
          <a:p>
            <a:pPr algn="ctr">
              <a:lnSpc>
                <a:spcPct val="115000"/>
              </a:lnSpc>
              <a:spcAft>
                <a:spcPts val="600"/>
              </a:spcAft>
            </a:pPr>
            <a:r>
              <a:rPr sz="1100" b="1" i="0">
                <a:solidFill>
                  <a:srgbClr val="1A1F2E"/>
                </a:solidFill>
                <a:latin typeface="Calibri"/>
              </a:rPr>
              <a:t>Tree 3</a:t>
            </a:r>
          </a:p>
        </p:txBody>
      </p:sp>
      <p:sp>
        <p:nvSpPr>
          <p:cNvPr id="22" name="TextBox 21"/>
          <p:cNvSpPr txBox="1"/>
          <p:nvPr/>
        </p:nvSpPr>
        <p:spPr>
          <a:xfrm>
            <a:off x="3529583" y="2587752"/>
            <a:ext cx="1005839" cy="230428"/>
          </a:xfrm>
          <a:prstGeom prst="rect">
            <a:avLst/>
          </a:prstGeom>
          <a:noFill/>
        </p:spPr>
        <p:txBody>
          <a:bodyPr wrap="square" anchor="t" lIns="0" rIns="0" tIns="0" bIns="0">
            <a:spAutoFit/>
          </a:bodyPr>
          <a:lstStyle/>
          <a:p>
            <a:pPr algn="ctr">
              <a:lnSpc>
                <a:spcPct val="115000"/>
              </a:lnSpc>
              <a:spcAft>
                <a:spcPts val="600"/>
              </a:spcAft>
            </a:pPr>
            <a:r>
              <a:rPr sz="850" b="0" i="0">
                <a:solidFill>
                  <a:srgbClr val="5B6478"/>
                </a:solidFill>
                <a:latin typeface="Calibri"/>
              </a:rPr>
              <a:t>fixes T2 errors</a:t>
            </a:r>
          </a:p>
        </p:txBody>
      </p:sp>
      <p:cxnSp>
        <p:nvCxnSpPr>
          <p:cNvPr id="23" name="Connector 22"/>
          <p:cNvCxnSpPr/>
          <p:nvPr/>
        </p:nvCxnSpPr>
        <p:spPr>
          <a:xfrm>
            <a:off x="4590288" y="2560320"/>
            <a:ext cx="173735" cy="0"/>
          </a:xfrm>
          <a:prstGeom prst="line">
            <a:avLst/>
          </a:prstGeom>
          <a:ln w="1524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782312" y="2286000"/>
            <a:ext cx="1097280" cy="548640"/>
          </a:xfrm>
          <a:prstGeom prst="rect">
            <a:avLst/>
          </a:prstGeom>
          <a:solidFill>
            <a:srgbClr val="FFFFFF"/>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82312" y="2286000"/>
            <a:ext cx="1097280" cy="548640"/>
          </a:xfrm>
          <a:prstGeom prst="rect">
            <a:avLst/>
          </a:prstGeom>
          <a:noFill/>
        </p:spPr>
        <p:txBody>
          <a:bodyPr wrap="square" anchor="ctr" lIns="0" rIns="0" tIns="0" bIns="0">
            <a:spAutoFit/>
          </a:bodyPr>
          <a:lstStyle/>
          <a:p>
            <a:pPr algn="ctr">
              <a:lnSpc>
                <a:spcPct val="115000"/>
              </a:lnSpc>
              <a:spcAft>
                <a:spcPts val="600"/>
              </a:spcAft>
            </a:pPr>
            <a:r>
              <a:rPr sz="1100" b="1" i="0">
                <a:solidFill>
                  <a:srgbClr val="1A1F2E"/>
                </a:solidFill>
                <a:latin typeface="Calibri"/>
              </a:rPr>
              <a:t>… ×1000</a:t>
            </a:r>
          </a:p>
        </p:txBody>
      </p:sp>
      <p:sp>
        <p:nvSpPr>
          <p:cNvPr id="26" name="TextBox 25"/>
          <p:cNvSpPr txBox="1"/>
          <p:nvPr/>
        </p:nvSpPr>
        <p:spPr>
          <a:xfrm>
            <a:off x="886968" y="2944368"/>
            <a:ext cx="5120640" cy="594360"/>
          </a:xfrm>
          <a:prstGeom prst="rect">
            <a:avLst/>
          </a:prstGeom>
          <a:noFill/>
        </p:spPr>
        <p:txBody>
          <a:bodyPr wrap="square" anchor="t" lIns="0" rIns="0" tIns="0" bIns="0">
            <a:spAutoFit/>
          </a:bodyPr>
          <a:lstStyle/>
          <a:p>
            <a:pPr algn="l">
              <a:lnSpc>
                <a:spcPct val="124000"/>
              </a:lnSpc>
              <a:spcAft>
                <a:spcPts val="600"/>
              </a:spcAft>
            </a:pPr>
            <a:r>
              <a:rPr sz="1150" b="0" i="0">
                <a:solidFill>
                  <a:srgbClr val="1A1F2E"/>
                </a:solidFill>
                <a:latin typeface="Calibri"/>
              </a:rPr>
              <a:t>Each new tree specialises in the mistakes the previous ones made. Strongest family for mixed, table-shaped data — and the source of this project's best results.</a:t>
            </a:r>
          </a:p>
        </p:txBody>
      </p:sp>
      <p:sp>
        <p:nvSpPr>
          <p:cNvPr id="27" name="Rectangle 26"/>
          <p:cNvSpPr/>
          <p:nvPr/>
        </p:nvSpPr>
        <p:spPr>
          <a:xfrm>
            <a:off x="6537960" y="1325880"/>
            <a:ext cx="4995367" cy="2331720"/>
          </a:xfrm>
          <a:prstGeom prst="rect">
            <a:avLst/>
          </a:prstGeom>
          <a:solidFill>
            <a:srgbClr val="FDF0E2"/>
          </a:solidFill>
          <a:ln w="1905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1481328"/>
            <a:ext cx="457200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NEURAL APPROACHES  ·  MLP, TabNet</a:t>
            </a:r>
          </a:p>
        </p:txBody>
      </p:sp>
      <p:sp>
        <p:nvSpPr>
          <p:cNvPr id="29" name="TextBox 28"/>
          <p:cNvSpPr txBox="1"/>
          <p:nvPr/>
        </p:nvSpPr>
        <p:spPr>
          <a:xfrm>
            <a:off x="6766560" y="1764792"/>
            <a:ext cx="4572000" cy="384048"/>
          </a:xfrm>
          <a:prstGeom prst="rect">
            <a:avLst/>
          </a:prstGeom>
          <a:noFill/>
        </p:spPr>
        <p:txBody>
          <a:bodyPr wrap="square" anchor="t" lIns="0" rIns="0" tIns="0" bIns="0">
            <a:spAutoFit/>
          </a:bodyPr>
          <a:lstStyle/>
          <a:p>
            <a:pPr algn="l">
              <a:lnSpc>
                <a:spcPct val="124000"/>
              </a:lnSpc>
              <a:spcAft>
                <a:spcPts val="600"/>
              </a:spcAft>
            </a:pPr>
            <a:r>
              <a:rPr sz="1150" b="0" i="0">
                <a:solidFill>
                  <a:srgbClr val="1A1F2E"/>
                </a:solidFill>
                <a:latin typeface="Calibri"/>
              </a:rPr>
              <a:t>Layers of artificial neurons pass weighted signals forward; weights are adjusted over many passes to reduce error.</a:t>
            </a:r>
          </a:p>
        </p:txBody>
      </p:sp>
      <p:sp>
        <p:nvSpPr>
          <p:cNvPr id="30" name="Oval 29"/>
          <p:cNvSpPr/>
          <p:nvPr/>
        </p:nvSpPr>
        <p:spPr>
          <a:xfrm>
            <a:off x="7159752" y="2304288"/>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159752" y="2450592"/>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159752" y="2596896"/>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59752" y="2743200"/>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03720" y="2871216"/>
            <a:ext cx="640080" cy="201168"/>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onsolas"/>
              </a:rPr>
              <a:t>256</a:t>
            </a:r>
          </a:p>
        </p:txBody>
      </p:sp>
      <p:cxnSp>
        <p:nvCxnSpPr>
          <p:cNvPr id="35" name="Connector 34"/>
          <p:cNvCxnSpPr/>
          <p:nvPr/>
        </p:nvCxnSpPr>
        <p:spPr>
          <a:xfrm>
            <a:off x="7562088" y="2514600"/>
            <a:ext cx="210312" cy="0"/>
          </a:xfrm>
          <a:prstGeom prst="line">
            <a:avLst/>
          </a:prstGeom>
          <a:ln w="127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257031" y="2304288"/>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57031" y="2450592"/>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57031" y="2596896"/>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01000" y="2871216"/>
            <a:ext cx="640080" cy="201168"/>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onsolas"/>
              </a:rPr>
              <a:t>128</a:t>
            </a:r>
          </a:p>
        </p:txBody>
      </p:sp>
      <p:cxnSp>
        <p:nvCxnSpPr>
          <p:cNvPr id="40" name="Connector 39"/>
          <p:cNvCxnSpPr/>
          <p:nvPr/>
        </p:nvCxnSpPr>
        <p:spPr>
          <a:xfrm>
            <a:off x="8659368" y="2514600"/>
            <a:ext cx="210312" cy="0"/>
          </a:xfrm>
          <a:prstGeom prst="line">
            <a:avLst/>
          </a:prstGeom>
          <a:ln w="127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9354311" y="2304288"/>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54311" y="2450592"/>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354311" y="2596896"/>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98280" y="2871216"/>
            <a:ext cx="640080" cy="201168"/>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onsolas"/>
              </a:rPr>
              <a:t>64</a:t>
            </a:r>
          </a:p>
        </p:txBody>
      </p:sp>
      <p:cxnSp>
        <p:nvCxnSpPr>
          <p:cNvPr id="45" name="Connector 44"/>
          <p:cNvCxnSpPr/>
          <p:nvPr/>
        </p:nvCxnSpPr>
        <p:spPr>
          <a:xfrm>
            <a:off x="9756648" y="2514600"/>
            <a:ext cx="210311" cy="0"/>
          </a:xfrm>
          <a:prstGeom prst="line">
            <a:avLst/>
          </a:prstGeom>
          <a:ln w="127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451591" y="2304288"/>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451591" y="2450592"/>
            <a:ext cx="109728" cy="109728"/>
          </a:xfrm>
          <a:prstGeom prst="ellipse">
            <a:avLst/>
          </a:prstGeom>
          <a:solidFill>
            <a:srgbClr val="FFFFFF"/>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59" y="2871216"/>
            <a:ext cx="640080" cy="201168"/>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onsolas"/>
              </a:rPr>
              <a:t>32</a:t>
            </a:r>
          </a:p>
        </p:txBody>
      </p:sp>
      <p:sp>
        <p:nvSpPr>
          <p:cNvPr id="49" name="TextBox 48"/>
          <p:cNvSpPr txBox="1"/>
          <p:nvPr/>
        </p:nvSpPr>
        <p:spPr>
          <a:xfrm>
            <a:off x="6766560" y="3127248"/>
            <a:ext cx="4572000" cy="411480"/>
          </a:xfrm>
          <a:prstGeom prst="rect">
            <a:avLst/>
          </a:prstGeom>
          <a:noFill/>
        </p:spPr>
        <p:txBody>
          <a:bodyPr wrap="square" anchor="t" lIns="0" rIns="0" tIns="0" bIns="0">
            <a:spAutoFit/>
          </a:bodyPr>
          <a:lstStyle/>
          <a:p>
            <a:pPr algn="l">
              <a:lnSpc>
                <a:spcPct val="124000"/>
              </a:lnSpc>
              <a:spcAft>
                <a:spcPts val="600"/>
              </a:spcAft>
            </a:pPr>
            <a:r>
              <a:rPr sz="1150" b="0" i="0">
                <a:solidFill>
                  <a:srgbClr val="1A1F2E"/>
                </a:solidFill>
                <a:latin typeface="Calibri"/>
              </a:rPr>
              <a:t>TabNet adds attention — it learns which features to focus on at each decision step rather than weighing everything at once.</a:t>
            </a:r>
          </a:p>
        </p:txBody>
      </p:sp>
      <p:sp>
        <p:nvSpPr>
          <p:cNvPr id="50" name="Rectangle 49"/>
          <p:cNvSpPr/>
          <p:nvPr/>
        </p:nvSpPr>
        <p:spPr>
          <a:xfrm>
            <a:off x="658368" y="3840480"/>
            <a:ext cx="3520440" cy="141732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8368" y="3840480"/>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7824" y="4041648"/>
            <a:ext cx="3108960" cy="256032"/>
          </a:xfrm>
          <a:prstGeom prst="rect">
            <a:avLst/>
          </a:prstGeom>
          <a:noFill/>
        </p:spPr>
        <p:txBody>
          <a:bodyPr wrap="square" anchor="t" lIns="0" rIns="0" tIns="0" bIns="0">
            <a:spAutoFit/>
          </a:bodyPr>
          <a:lstStyle/>
          <a:p>
            <a:pPr algn="l">
              <a:lnSpc>
                <a:spcPct val="125000"/>
              </a:lnSpc>
              <a:spcAft>
                <a:spcPts val="600"/>
              </a:spcAft>
            </a:pPr>
            <a:r>
              <a:rPr sz="1300" b="1" i="0">
                <a:solidFill>
                  <a:srgbClr val="1A1F2E"/>
                </a:solidFill>
                <a:latin typeface="Calibri"/>
              </a:rPr>
              <a:t>Early stopping</a:t>
            </a:r>
          </a:p>
        </p:txBody>
      </p:sp>
      <p:sp>
        <p:nvSpPr>
          <p:cNvPr id="53" name="TextBox 52"/>
          <p:cNvSpPr txBox="1"/>
          <p:nvPr/>
        </p:nvSpPr>
        <p:spPr>
          <a:xfrm>
            <a:off x="877824" y="4343400"/>
            <a:ext cx="3108960" cy="822960"/>
          </a:xfrm>
          <a:prstGeom prst="rect">
            <a:avLst/>
          </a:prstGeom>
          <a:noFill/>
        </p:spPr>
        <p:txBody>
          <a:bodyPr wrap="square" anchor="t" lIns="0" rIns="0" tIns="0" bIns="0">
            <a:spAutoFit/>
          </a:bodyPr>
          <a:lstStyle/>
          <a:p>
            <a:pPr algn="l">
              <a:lnSpc>
                <a:spcPct val="125000"/>
              </a:lnSpc>
              <a:spcAft>
                <a:spcPts val="600"/>
              </a:spcAft>
            </a:pPr>
            <a:r>
              <a:rPr sz="1050" b="0" i="0">
                <a:solidFill>
                  <a:srgbClr val="5B6478"/>
                </a:solidFill>
                <a:latin typeface="Calibri"/>
              </a:rPr>
              <a:t>Training halts once the held-out score stops improving — prevents overfitting, where a model memorises quirks that don't generalise.</a:t>
            </a:r>
          </a:p>
        </p:txBody>
      </p:sp>
      <p:sp>
        <p:nvSpPr>
          <p:cNvPr id="54" name="Rectangle 53"/>
          <p:cNvSpPr/>
          <p:nvPr/>
        </p:nvSpPr>
        <p:spPr>
          <a:xfrm>
            <a:off x="4398264" y="3840480"/>
            <a:ext cx="3520440" cy="141732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398264" y="3840480"/>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17720" y="4041648"/>
            <a:ext cx="3108960" cy="256032"/>
          </a:xfrm>
          <a:prstGeom prst="rect">
            <a:avLst/>
          </a:prstGeom>
          <a:noFill/>
        </p:spPr>
        <p:txBody>
          <a:bodyPr wrap="square" anchor="t" lIns="0" rIns="0" tIns="0" bIns="0">
            <a:spAutoFit/>
          </a:bodyPr>
          <a:lstStyle/>
          <a:p>
            <a:pPr algn="l">
              <a:lnSpc>
                <a:spcPct val="125000"/>
              </a:lnSpc>
              <a:spcAft>
                <a:spcPts val="600"/>
              </a:spcAft>
            </a:pPr>
            <a:r>
              <a:rPr sz="1300" b="1" i="0">
                <a:solidFill>
                  <a:srgbClr val="1A1F2E"/>
                </a:solidFill>
                <a:latin typeface="Calibri"/>
              </a:rPr>
              <a:t>Class weighting</a:t>
            </a:r>
          </a:p>
        </p:txBody>
      </p:sp>
      <p:sp>
        <p:nvSpPr>
          <p:cNvPr id="57" name="TextBox 56"/>
          <p:cNvSpPr txBox="1"/>
          <p:nvPr/>
        </p:nvSpPr>
        <p:spPr>
          <a:xfrm>
            <a:off x="4617720" y="4343400"/>
            <a:ext cx="3108960" cy="822960"/>
          </a:xfrm>
          <a:prstGeom prst="rect">
            <a:avLst/>
          </a:prstGeom>
          <a:noFill/>
        </p:spPr>
        <p:txBody>
          <a:bodyPr wrap="square" anchor="t" lIns="0" rIns="0" tIns="0" bIns="0">
            <a:spAutoFit/>
          </a:bodyPr>
          <a:lstStyle/>
          <a:p>
            <a:pPr algn="l">
              <a:lnSpc>
                <a:spcPct val="125000"/>
              </a:lnSpc>
              <a:spcAft>
                <a:spcPts val="600"/>
              </a:spcAft>
            </a:pPr>
            <a:r>
              <a:rPr sz="1050" b="0" i="0">
                <a:solidFill>
                  <a:srgbClr val="5B6478"/>
                </a:solidFill>
                <a:latin typeface="Calibri"/>
              </a:rPr>
              <a:t>Errors on rare classes cost more. Applied to LightGBM and XGBoost only — and that single choice decides the results on slide 12.</a:t>
            </a:r>
          </a:p>
        </p:txBody>
      </p:sp>
      <p:sp>
        <p:nvSpPr>
          <p:cNvPr id="58" name="Rectangle 57"/>
          <p:cNvSpPr/>
          <p:nvPr/>
        </p:nvSpPr>
        <p:spPr>
          <a:xfrm>
            <a:off x="8138160" y="3840480"/>
            <a:ext cx="3520440" cy="141732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138160" y="3840480"/>
            <a:ext cx="3520440" cy="36576"/>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57616" y="4041648"/>
            <a:ext cx="3108960" cy="256032"/>
          </a:xfrm>
          <a:prstGeom prst="rect">
            <a:avLst/>
          </a:prstGeom>
          <a:noFill/>
        </p:spPr>
        <p:txBody>
          <a:bodyPr wrap="square" anchor="t" lIns="0" rIns="0" tIns="0" bIns="0">
            <a:spAutoFit/>
          </a:bodyPr>
          <a:lstStyle/>
          <a:p>
            <a:pPr algn="l">
              <a:lnSpc>
                <a:spcPct val="125000"/>
              </a:lnSpc>
              <a:spcAft>
                <a:spcPts val="600"/>
              </a:spcAft>
            </a:pPr>
            <a:r>
              <a:rPr sz="1300" b="1" i="0">
                <a:solidFill>
                  <a:srgbClr val="1A1F2E"/>
                </a:solidFill>
                <a:latin typeface="Calibri"/>
              </a:rPr>
              <a:t>Stratified split</a:t>
            </a:r>
          </a:p>
        </p:txBody>
      </p:sp>
      <p:sp>
        <p:nvSpPr>
          <p:cNvPr id="61" name="TextBox 60"/>
          <p:cNvSpPr txBox="1"/>
          <p:nvPr/>
        </p:nvSpPr>
        <p:spPr>
          <a:xfrm>
            <a:off x="8357616" y="4343400"/>
            <a:ext cx="3108960" cy="822960"/>
          </a:xfrm>
          <a:prstGeom prst="rect">
            <a:avLst/>
          </a:prstGeom>
          <a:noFill/>
        </p:spPr>
        <p:txBody>
          <a:bodyPr wrap="square" anchor="t" lIns="0" rIns="0" tIns="0" bIns="0">
            <a:spAutoFit/>
          </a:bodyPr>
          <a:lstStyle/>
          <a:p>
            <a:pPr algn="l">
              <a:lnSpc>
                <a:spcPct val="125000"/>
              </a:lnSpc>
              <a:spcAft>
                <a:spcPts val="600"/>
              </a:spcAft>
            </a:pPr>
            <a:r>
              <a:rPr sz="1050" b="0" i="0">
                <a:solidFill>
                  <a:srgbClr val="5B6478"/>
                </a:solidFill>
                <a:latin typeface="Calibri"/>
              </a:rPr>
              <a:t>6,538 train / 1,635 test, class proportions preserved. With only 297 Critical events, a careless split would make results noise.</a:t>
            </a:r>
          </a:p>
        </p:txBody>
      </p:sp>
      <p:sp>
        <p:nvSpPr>
          <p:cNvPr id="62" name="Rectangle 61"/>
          <p:cNvSpPr/>
          <p:nvPr/>
        </p:nvSpPr>
        <p:spPr>
          <a:xfrm>
            <a:off x="658368" y="5440680"/>
            <a:ext cx="10874959" cy="65836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96112" y="5577840"/>
            <a:ext cx="10399471" cy="384048"/>
          </a:xfrm>
          <a:prstGeom prst="rect">
            <a:avLst/>
          </a:prstGeom>
          <a:noFill/>
        </p:spPr>
        <p:txBody>
          <a:bodyPr wrap="square" anchor="t" lIns="0" rIns="0" tIns="0" bIns="0">
            <a:spAutoFit/>
          </a:bodyPr>
          <a:lstStyle/>
          <a:p>
            <a:pPr algn="l">
              <a:lnSpc>
                <a:spcPct val="126000"/>
              </a:lnSpc>
              <a:spcAft>
                <a:spcPts val="600"/>
              </a:spcAft>
            </a:pPr>
            <a:r>
              <a:rPr sz="1250" b="1" i="0">
                <a:solidFill>
                  <a:srgbClr val="2B598A"/>
                </a:solidFill>
                <a:latin typeface="Calibri"/>
              </a:rPr>
              <a:t>Why four models?  </a:t>
            </a:r>
            <a:r>
              <a:rPr sz="1250" b="0" i="0">
                <a:solidFill>
                  <a:srgbClr val="1A1F2E"/>
                </a:solidFill>
                <a:latin typeface="Calibri"/>
              </a:rPr>
              <a:t>The data mixes continuous numbers, categories and time flags. Models with different structural biases make different mistakes — which is precisely what makes combining them worthwhile.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ML CONCEPT  ·  STACKED GENERALIZATION</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Training the Meta-Learner Without Leakage</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11</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298448"/>
            <a:ext cx="10874959" cy="713232"/>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10399471" cy="438912"/>
          </a:xfrm>
          <a:prstGeom prst="rect">
            <a:avLst/>
          </a:prstGeom>
          <a:noFill/>
        </p:spPr>
        <p:txBody>
          <a:bodyPr wrap="square" anchor="t" lIns="0" rIns="0" tIns="0" bIns="0">
            <a:spAutoFit/>
          </a:bodyPr>
          <a:lstStyle/>
          <a:p>
            <a:pPr algn="l">
              <a:lnSpc>
                <a:spcPct val="126000"/>
              </a:lnSpc>
              <a:spcAft>
                <a:spcPts val="600"/>
              </a:spcAft>
            </a:pPr>
            <a:r>
              <a:rPr sz="1250" b="1" i="0">
                <a:solidFill>
                  <a:srgbClr val="B02A37"/>
                </a:solidFill>
                <a:latin typeface="Calibri"/>
              </a:rPr>
              <a:t>The problem:  </a:t>
            </a:r>
            <a:r>
              <a:rPr sz="1250" b="0" i="0">
                <a:solidFill>
                  <a:srgbClr val="1A1F2E"/>
                </a:solidFill>
                <a:latin typeface="Calibri"/>
              </a:rPr>
              <a:t>a model that has already seen an event predicts it far too confidently. Training the meta-learner on those inflated probabilities teaches it to trust an accuracy that will not exist on real new events — this is data leakage.</a:t>
            </a:r>
          </a:p>
        </p:txBody>
      </p:sp>
      <p:sp>
        <p:nvSpPr>
          <p:cNvPr id="11" name="TextBox 10"/>
          <p:cNvSpPr txBox="1"/>
          <p:nvPr/>
        </p:nvSpPr>
        <p:spPr>
          <a:xfrm>
            <a:off x="658368" y="2176272"/>
            <a:ext cx="27432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5-FOLD CROSS-VALIDATION</a:t>
            </a:r>
          </a:p>
        </p:txBody>
      </p:sp>
      <p:sp>
        <p:nvSpPr>
          <p:cNvPr id="12" name="TextBox 11"/>
          <p:cNvSpPr txBox="1"/>
          <p:nvPr/>
        </p:nvSpPr>
        <p:spPr>
          <a:xfrm>
            <a:off x="658368" y="2487168"/>
            <a:ext cx="566928" cy="384048"/>
          </a:xfrm>
          <a:prstGeom prst="rect">
            <a:avLst/>
          </a:prstGeom>
          <a:noFill/>
        </p:spPr>
        <p:txBody>
          <a:bodyPr wrap="square" anchor="ctr" lIns="0" rIns="0" tIns="0" bIns="0">
            <a:spAutoFit/>
          </a:bodyPr>
          <a:lstStyle/>
          <a:p>
            <a:pPr algn="r">
              <a:lnSpc>
                <a:spcPct val="125000"/>
              </a:lnSpc>
              <a:spcAft>
                <a:spcPts val="600"/>
              </a:spcAft>
            </a:pPr>
            <a:r>
              <a:rPr sz="1050" b="0" i="0">
                <a:solidFill>
                  <a:srgbClr val="5B6478"/>
                </a:solidFill>
                <a:latin typeface="Calibri"/>
              </a:rPr>
              <a:t>Fold 1</a:t>
            </a:r>
          </a:p>
        </p:txBody>
      </p:sp>
      <p:sp>
        <p:nvSpPr>
          <p:cNvPr id="13" name="Rectangle 12"/>
          <p:cNvSpPr/>
          <p:nvPr/>
        </p:nvSpPr>
        <p:spPr>
          <a:xfrm>
            <a:off x="1344168" y="2487168"/>
            <a:ext cx="1060704" cy="384048"/>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4168" y="2487168"/>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C26A02"/>
                </a:solidFill>
                <a:latin typeface="Calibri"/>
              </a:rPr>
              <a:t>predict</a:t>
            </a:r>
          </a:p>
        </p:txBody>
      </p:sp>
      <p:sp>
        <p:nvSpPr>
          <p:cNvPr id="15" name="Rectangle 14"/>
          <p:cNvSpPr/>
          <p:nvPr/>
        </p:nvSpPr>
        <p:spPr>
          <a:xfrm>
            <a:off x="2468880" y="2487168"/>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2487168"/>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17" name="Rectangle 16"/>
          <p:cNvSpPr/>
          <p:nvPr/>
        </p:nvSpPr>
        <p:spPr>
          <a:xfrm>
            <a:off x="3593591" y="2487168"/>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1" y="2487168"/>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19" name="Rectangle 18"/>
          <p:cNvSpPr/>
          <p:nvPr/>
        </p:nvSpPr>
        <p:spPr>
          <a:xfrm>
            <a:off x="4718304" y="2487168"/>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18304" y="2487168"/>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21" name="Rectangle 20"/>
          <p:cNvSpPr/>
          <p:nvPr/>
        </p:nvSpPr>
        <p:spPr>
          <a:xfrm>
            <a:off x="5843016" y="2487168"/>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43016" y="2487168"/>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23" name="TextBox 22"/>
          <p:cNvSpPr txBox="1"/>
          <p:nvPr/>
        </p:nvSpPr>
        <p:spPr>
          <a:xfrm>
            <a:off x="658368" y="2935224"/>
            <a:ext cx="566928" cy="384048"/>
          </a:xfrm>
          <a:prstGeom prst="rect">
            <a:avLst/>
          </a:prstGeom>
          <a:noFill/>
        </p:spPr>
        <p:txBody>
          <a:bodyPr wrap="square" anchor="ctr" lIns="0" rIns="0" tIns="0" bIns="0">
            <a:spAutoFit/>
          </a:bodyPr>
          <a:lstStyle/>
          <a:p>
            <a:pPr algn="r">
              <a:lnSpc>
                <a:spcPct val="125000"/>
              </a:lnSpc>
              <a:spcAft>
                <a:spcPts val="600"/>
              </a:spcAft>
            </a:pPr>
            <a:r>
              <a:rPr sz="1050" b="0" i="0">
                <a:solidFill>
                  <a:srgbClr val="5B6478"/>
                </a:solidFill>
                <a:latin typeface="Calibri"/>
              </a:rPr>
              <a:t>Fold 2</a:t>
            </a:r>
          </a:p>
        </p:txBody>
      </p:sp>
      <p:sp>
        <p:nvSpPr>
          <p:cNvPr id="24" name="Rectangle 23"/>
          <p:cNvSpPr/>
          <p:nvPr/>
        </p:nvSpPr>
        <p:spPr>
          <a:xfrm>
            <a:off x="1344168" y="2935224"/>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44168" y="2935224"/>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26" name="Rectangle 25"/>
          <p:cNvSpPr/>
          <p:nvPr/>
        </p:nvSpPr>
        <p:spPr>
          <a:xfrm>
            <a:off x="2468880" y="2935224"/>
            <a:ext cx="1060704" cy="384048"/>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80" y="2935224"/>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C26A02"/>
                </a:solidFill>
                <a:latin typeface="Calibri"/>
              </a:rPr>
              <a:t>predict</a:t>
            </a:r>
          </a:p>
        </p:txBody>
      </p:sp>
      <p:sp>
        <p:nvSpPr>
          <p:cNvPr id="28" name="Rectangle 27"/>
          <p:cNvSpPr/>
          <p:nvPr/>
        </p:nvSpPr>
        <p:spPr>
          <a:xfrm>
            <a:off x="3593591" y="2935224"/>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93591" y="2935224"/>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30" name="Rectangle 29"/>
          <p:cNvSpPr/>
          <p:nvPr/>
        </p:nvSpPr>
        <p:spPr>
          <a:xfrm>
            <a:off x="4718304" y="2935224"/>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18304" y="2935224"/>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32" name="Rectangle 31"/>
          <p:cNvSpPr/>
          <p:nvPr/>
        </p:nvSpPr>
        <p:spPr>
          <a:xfrm>
            <a:off x="5843016" y="2935224"/>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43016" y="2935224"/>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34" name="TextBox 33"/>
          <p:cNvSpPr txBox="1"/>
          <p:nvPr/>
        </p:nvSpPr>
        <p:spPr>
          <a:xfrm>
            <a:off x="658368" y="3383280"/>
            <a:ext cx="566928" cy="384048"/>
          </a:xfrm>
          <a:prstGeom prst="rect">
            <a:avLst/>
          </a:prstGeom>
          <a:noFill/>
        </p:spPr>
        <p:txBody>
          <a:bodyPr wrap="square" anchor="ctr" lIns="0" rIns="0" tIns="0" bIns="0">
            <a:spAutoFit/>
          </a:bodyPr>
          <a:lstStyle/>
          <a:p>
            <a:pPr algn="r">
              <a:lnSpc>
                <a:spcPct val="125000"/>
              </a:lnSpc>
              <a:spcAft>
                <a:spcPts val="600"/>
              </a:spcAft>
            </a:pPr>
            <a:r>
              <a:rPr sz="1050" b="0" i="0">
                <a:solidFill>
                  <a:srgbClr val="5B6478"/>
                </a:solidFill>
                <a:latin typeface="Calibri"/>
              </a:rPr>
              <a:t>Fold 3</a:t>
            </a:r>
          </a:p>
        </p:txBody>
      </p:sp>
      <p:sp>
        <p:nvSpPr>
          <p:cNvPr id="35" name="Rectangle 34"/>
          <p:cNvSpPr/>
          <p:nvPr/>
        </p:nvSpPr>
        <p:spPr>
          <a:xfrm>
            <a:off x="1344168" y="3383280"/>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44168" y="3383280"/>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37" name="Rectangle 36"/>
          <p:cNvSpPr/>
          <p:nvPr/>
        </p:nvSpPr>
        <p:spPr>
          <a:xfrm>
            <a:off x="2468880" y="3383280"/>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468880" y="3383280"/>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39" name="Rectangle 38"/>
          <p:cNvSpPr/>
          <p:nvPr/>
        </p:nvSpPr>
        <p:spPr>
          <a:xfrm>
            <a:off x="3593591" y="3383280"/>
            <a:ext cx="1060704" cy="384048"/>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93591" y="3383280"/>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C26A02"/>
                </a:solidFill>
                <a:latin typeface="Calibri"/>
              </a:rPr>
              <a:t>predict</a:t>
            </a:r>
          </a:p>
        </p:txBody>
      </p:sp>
      <p:sp>
        <p:nvSpPr>
          <p:cNvPr id="41" name="Rectangle 40"/>
          <p:cNvSpPr/>
          <p:nvPr/>
        </p:nvSpPr>
        <p:spPr>
          <a:xfrm>
            <a:off x="4718304" y="3383280"/>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18304" y="3383280"/>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43" name="Rectangle 42"/>
          <p:cNvSpPr/>
          <p:nvPr/>
        </p:nvSpPr>
        <p:spPr>
          <a:xfrm>
            <a:off x="5843016" y="3383280"/>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43016" y="3383280"/>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45" name="TextBox 44"/>
          <p:cNvSpPr txBox="1"/>
          <p:nvPr/>
        </p:nvSpPr>
        <p:spPr>
          <a:xfrm>
            <a:off x="658368" y="3831336"/>
            <a:ext cx="566928" cy="384048"/>
          </a:xfrm>
          <a:prstGeom prst="rect">
            <a:avLst/>
          </a:prstGeom>
          <a:noFill/>
        </p:spPr>
        <p:txBody>
          <a:bodyPr wrap="square" anchor="ctr" lIns="0" rIns="0" tIns="0" bIns="0">
            <a:spAutoFit/>
          </a:bodyPr>
          <a:lstStyle/>
          <a:p>
            <a:pPr algn="r">
              <a:lnSpc>
                <a:spcPct val="125000"/>
              </a:lnSpc>
              <a:spcAft>
                <a:spcPts val="600"/>
              </a:spcAft>
            </a:pPr>
            <a:r>
              <a:rPr sz="1050" b="0" i="0">
                <a:solidFill>
                  <a:srgbClr val="5B6478"/>
                </a:solidFill>
                <a:latin typeface="Calibri"/>
              </a:rPr>
              <a:t>Fold 4</a:t>
            </a:r>
          </a:p>
        </p:txBody>
      </p:sp>
      <p:sp>
        <p:nvSpPr>
          <p:cNvPr id="46" name="Rectangle 45"/>
          <p:cNvSpPr/>
          <p:nvPr/>
        </p:nvSpPr>
        <p:spPr>
          <a:xfrm>
            <a:off x="1344168" y="3831336"/>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344168" y="3831336"/>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48" name="Rectangle 47"/>
          <p:cNvSpPr/>
          <p:nvPr/>
        </p:nvSpPr>
        <p:spPr>
          <a:xfrm>
            <a:off x="2468880" y="3831336"/>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468880" y="3831336"/>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50" name="Rectangle 49"/>
          <p:cNvSpPr/>
          <p:nvPr/>
        </p:nvSpPr>
        <p:spPr>
          <a:xfrm>
            <a:off x="3593591" y="3831336"/>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93591" y="3831336"/>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52" name="Rectangle 51"/>
          <p:cNvSpPr/>
          <p:nvPr/>
        </p:nvSpPr>
        <p:spPr>
          <a:xfrm>
            <a:off x="4718304" y="3831336"/>
            <a:ext cx="1060704" cy="384048"/>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18304" y="3831336"/>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C26A02"/>
                </a:solidFill>
                <a:latin typeface="Calibri"/>
              </a:rPr>
              <a:t>predict</a:t>
            </a:r>
          </a:p>
        </p:txBody>
      </p:sp>
      <p:sp>
        <p:nvSpPr>
          <p:cNvPr id="54" name="Rectangle 53"/>
          <p:cNvSpPr/>
          <p:nvPr/>
        </p:nvSpPr>
        <p:spPr>
          <a:xfrm>
            <a:off x="5843016" y="3831336"/>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43016" y="3831336"/>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56" name="TextBox 55"/>
          <p:cNvSpPr txBox="1"/>
          <p:nvPr/>
        </p:nvSpPr>
        <p:spPr>
          <a:xfrm>
            <a:off x="658368" y="4279392"/>
            <a:ext cx="566928" cy="384048"/>
          </a:xfrm>
          <a:prstGeom prst="rect">
            <a:avLst/>
          </a:prstGeom>
          <a:noFill/>
        </p:spPr>
        <p:txBody>
          <a:bodyPr wrap="square" anchor="ctr" lIns="0" rIns="0" tIns="0" bIns="0">
            <a:spAutoFit/>
          </a:bodyPr>
          <a:lstStyle/>
          <a:p>
            <a:pPr algn="r">
              <a:lnSpc>
                <a:spcPct val="125000"/>
              </a:lnSpc>
              <a:spcAft>
                <a:spcPts val="600"/>
              </a:spcAft>
            </a:pPr>
            <a:r>
              <a:rPr sz="1050" b="0" i="0">
                <a:solidFill>
                  <a:srgbClr val="5B6478"/>
                </a:solidFill>
                <a:latin typeface="Calibri"/>
              </a:rPr>
              <a:t>Fold 5</a:t>
            </a:r>
          </a:p>
        </p:txBody>
      </p:sp>
      <p:sp>
        <p:nvSpPr>
          <p:cNvPr id="57" name="Rectangle 56"/>
          <p:cNvSpPr/>
          <p:nvPr/>
        </p:nvSpPr>
        <p:spPr>
          <a:xfrm>
            <a:off x="1344168" y="4279392"/>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44168" y="4279392"/>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59" name="Rectangle 58"/>
          <p:cNvSpPr/>
          <p:nvPr/>
        </p:nvSpPr>
        <p:spPr>
          <a:xfrm>
            <a:off x="2468880" y="4279392"/>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468880" y="4279392"/>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61" name="Rectangle 60"/>
          <p:cNvSpPr/>
          <p:nvPr/>
        </p:nvSpPr>
        <p:spPr>
          <a:xfrm>
            <a:off x="3593591" y="4279392"/>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593591" y="4279392"/>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63" name="Rectangle 62"/>
          <p:cNvSpPr/>
          <p:nvPr/>
        </p:nvSpPr>
        <p:spPr>
          <a:xfrm>
            <a:off x="4718304" y="4279392"/>
            <a:ext cx="1060704" cy="38404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18304" y="4279392"/>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2B598A"/>
                </a:solidFill>
                <a:latin typeface="Calibri"/>
              </a:rPr>
              <a:t>train</a:t>
            </a:r>
          </a:p>
        </p:txBody>
      </p:sp>
      <p:sp>
        <p:nvSpPr>
          <p:cNvPr id="65" name="Rectangle 64"/>
          <p:cNvSpPr/>
          <p:nvPr/>
        </p:nvSpPr>
        <p:spPr>
          <a:xfrm>
            <a:off x="5843016" y="4279392"/>
            <a:ext cx="1060704" cy="384048"/>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43016" y="4279392"/>
            <a:ext cx="1060704" cy="384048"/>
          </a:xfrm>
          <a:prstGeom prst="rect">
            <a:avLst/>
          </a:prstGeom>
          <a:noFill/>
        </p:spPr>
        <p:txBody>
          <a:bodyPr wrap="square" anchor="ctr" lIns="0" rIns="0" tIns="0" bIns="0">
            <a:spAutoFit/>
          </a:bodyPr>
          <a:lstStyle/>
          <a:p>
            <a:pPr algn="ctr">
              <a:lnSpc>
                <a:spcPct val="115000"/>
              </a:lnSpc>
              <a:spcAft>
                <a:spcPts val="600"/>
              </a:spcAft>
            </a:pPr>
            <a:r>
              <a:rPr sz="1000" b="1" i="0">
                <a:solidFill>
                  <a:srgbClr val="C26A02"/>
                </a:solidFill>
                <a:latin typeface="Calibri"/>
              </a:rPr>
              <a:t>predict</a:t>
            </a:r>
          </a:p>
        </p:txBody>
      </p:sp>
      <p:sp>
        <p:nvSpPr>
          <p:cNvPr id="67" name="TextBox 66"/>
          <p:cNvSpPr txBox="1"/>
          <p:nvPr/>
        </p:nvSpPr>
        <p:spPr>
          <a:xfrm>
            <a:off x="1344168" y="4901184"/>
            <a:ext cx="5669280" cy="457200"/>
          </a:xfrm>
          <a:prstGeom prst="rect">
            <a:avLst/>
          </a:prstGeom>
          <a:noFill/>
        </p:spPr>
        <p:txBody>
          <a:bodyPr wrap="square" anchor="t" lIns="0" rIns="0" tIns="0" bIns="0">
            <a:spAutoFit/>
          </a:bodyPr>
          <a:lstStyle/>
          <a:p>
            <a:pPr algn="l">
              <a:lnSpc>
                <a:spcPct val="124000"/>
              </a:lnSpc>
              <a:spcAft>
                <a:spcPts val="600"/>
              </a:spcAft>
            </a:pPr>
            <a:r>
              <a:rPr sz="1100" b="0" i="0">
                <a:solidFill>
                  <a:srgbClr val="5B6478"/>
                </a:solidFill>
                <a:latin typeface="Calibri"/>
              </a:rPr>
              <a:t>In each fold, fresh copies of all four base models train on the blue slices and predict the orange one.</a:t>
            </a:r>
          </a:p>
        </p:txBody>
      </p:sp>
      <p:cxnSp>
        <p:nvCxnSpPr>
          <p:cNvPr id="68" name="Connector 67"/>
          <p:cNvCxnSpPr/>
          <p:nvPr/>
        </p:nvCxnSpPr>
        <p:spPr>
          <a:xfrm>
            <a:off x="6720840" y="3566160"/>
            <a:ext cx="548640" cy="0"/>
          </a:xfrm>
          <a:prstGeom prst="line">
            <a:avLst/>
          </a:prstGeom>
          <a:ln w="2286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360920" y="2487168"/>
            <a:ext cx="4160520" cy="1051560"/>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60920" y="2505456"/>
            <a:ext cx="4160520" cy="578358"/>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Out-of-fold probability matrix</a:t>
            </a:r>
          </a:p>
        </p:txBody>
      </p:sp>
      <p:sp>
        <p:nvSpPr>
          <p:cNvPr id="71" name="TextBox 70"/>
          <p:cNvSpPr txBox="1"/>
          <p:nvPr/>
        </p:nvSpPr>
        <p:spPr>
          <a:xfrm>
            <a:off x="7406640" y="3065526"/>
            <a:ext cx="4069080" cy="441655"/>
          </a:xfrm>
          <a:prstGeom prst="rect">
            <a:avLst/>
          </a:prstGeom>
          <a:noFill/>
        </p:spPr>
        <p:txBody>
          <a:bodyPr wrap="square" anchor="t" lIns="0" rIns="0" tIns="0" bIns="0">
            <a:spAutoFit/>
          </a:bodyPr>
          <a:lstStyle/>
          <a:p>
            <a:pPr algn="ctr">
              <a:lnSpc>
                <a:spcPct val="115000"/>
              </a:lnSpc>
              <a:spcAft>
                <a:spcPts val="600"/>
              </a:spcAft>
            </a:pPr>
            <a:r>
              <a:rPr sz="1000" b="0" i="0">
                <a:solidFill>
                  <a:srgbClr val="5B6478"/>
                </a:solidFill>
                <a:latin typeface="Calibri"/>
              </a:rPr>
              <a:t>6,538 rows × 16 columns — every row predicted
by a model that never trained on it</a:t>
            </a:r>
          </a:p>
        </p:txBody>
      </p:sp>
      <p:cxnSp>
        <p:nvCxnSpPr>
          <p:cNvPr id="72" name="Connector 71"/>
          <p:cNvCxnSpPr/>
          <p:nvPr/>
        </p:nvCxnSpPr>
        <p:spPr>
          <a:xfrm>
            <a:off x="9436608" y="3538728"/>
            <a:ext cx="0" cy="301752"/>
          </a:xfrm>
          <a:prstGeom prst="line">
            <a:avLst/>
          </a:prstGeom>
          <a:ln w="1905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73" name="Rectangle 72"/>
          <p:cNvSpPr/>
          <p:nvPr/>
        </p:nvSpPr>
        <p:spPr>
          <a:xfrm>
            <a:off x="7360920" y="3858768"/>
            <a:ext cx="4160520" cy="658368"/>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60920" y="3877055"/>
            <a:ext cx="4160520" cy="362102"/>
          </a:xfrm>
          <a:prstGeom prst="rect">
            <a:avLst/>
          </a:prstGeom>
          <a:noFill/>
        </p:spPr>
        <p:txBody>
          <a:bodyPr wrap="square" anchor="ctr" lIns="0" rIns="0" tIns="0" bIns="0">
            <a:spAutoFit/>
          </a:bodyPr>
          <a:lstStyle/>
          <a:p>
            <a:pPr algn="ctr">
              <a:lnSpc>
                <a:spcPct val="115000"/>
              </a:lnSpc>
              <a:spcAft>
                <a:spcPts val="600"/>
              </a:spcAft>
            </a:pPr>
            <a:r>
              <a:rPr sz="1300" b="1" i="0">
                <a:solidFill>
                  <a:srgbClr val="1A1F2E"/>
                </a:solidFill>
                <a:latin typeface="Calibri"/>
              </a:rPr>
              <a:t>Meta-learner  ·  LightGBM</a:t>
            </a:r>
          </a:p>
        </p:txBody>
      </p:sp>
      <p:sp>
        <p:nvSpPr>
          <p:cNvPr id="75" name="TextBox 74"/>
          <p:cNvSpPr txBox="1"/>
          <p:nvPr/>
        </p:nvSpPr>
        <p:spPr>
          <a:xfrm>
            <a:off x="7406640" y="4220870"/>
            <a:ext cx="4069080" cy="276514"/>
          </a:xfrm>
          <a:prstGeom prst="rect">
            <a:avLst/>
          </a:prstGeom>
          <a:noFill/>
        </p:spPr>
        <p:txBody>
          <a:bodyPr wrap="square" anchor="t" lIns="0" rIns="0" tIns="0" bIns="0">
            <a:spAutoFit/>
          </a:bodyPr>
          <a:lstStyle/>
          <a:p>
            <a:pPr algn="ctr">
              <a:lnSpc>
                <a:spcPct val="115000"/>
              </a:lnSpc>
              <a:spcAft>
                <a:spcPts val="600"/>
              </a:spcAft>
            </a:pPr>
            <a:r>
              <a:rPr sz="1000" b="0" i="0">
                <a:solidFill>
                  <a:srgbClr val="5B6478"/>
                </a:solidFill>
                <a:latin typeface="Calibri"/>
              </a:rPr>
              <a:t>trained on the 16 columns → final severity</a:t>
            </a:r>
          </a:p>
        </p:txBody>
      </p:sp>
      <p:sp>
        <p:nvSpPr>
          <p:cNvPr id="76" name="Rectangle 75"/>
          <p:cNvSpPr/>
          <p:nvPr/>
        </p:nvSpPr>
        <p:spPr>
          <a:xfrm>
            <a:off x="658368" y="5486400"/>
            <a:ext cx="10874959" cy="86868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96112" y="5623560"/>
            <a:ext cx="10399471" cy="594359"/>
          </a:xfrm>
          <a:prstGeom prst="rect">
            <a:avLst/>
          </a:prstGeom>
          <a:noFill/>
        </p:spPr>
        <p:txBody>
          <a:bodyPr wrap="square" anchor="t" lIns="0" rIns="0" tIns="0" bIns="0">
            <a:spAutoFit/>
          </a:bodyPr>
          <a:lstStyle/>
          <a:p>
            <a:pPr algn="l">
              <a:lnSpc>
                <a:spcPct val="126000"/>
              </a:lnSpc>
              <a:spcAft>
                <a:spcPts val="600"/>
              </a:spcAft>
            </a:pPr>
            <a:r>
              <a:rPr sz="1200" b="1" i="0">
                <a:solidFill>
                  <a:srgbClr val="C26A02"/>
                </a:solidFill>
                <a:latin typeface="Calibri"/>
              </a:rPr>
              <a:t>Honest result:  </a:t>
            </a:r>
            <a:r>
              <a:rPr sz="1200" b="0" i="0">
                <a:solidFill>
                  <a:srgbClr val="1A1F2E"/>
                </a:solidFill>
                <a:latin typeface="Calibri"/>
              </a:rPr>
              <a:t>stacking did NOT beat the base models here — the ensemble posts the lowest accuracy of all five (0.8948). The in-fold model copies were lighter than the final tuned models, and with under 100 Critical examples per fold the meta-learner had too little signal to weight the rare classes well. It still reached the second-best Critical recall.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ML CONCEPT  ·  EVALUATION</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Precision, Recall, and Why Accuracy Lies</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12</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TextBox 8"/>
          <p:cNvSpPr txBox="1"/>
          <p:nvPr/>
        </p:nvSpPr>
        <p:spPr>
          <a:xfrm>
            <a:off x="658368" y="1298448"/>
            <a:ext cx="585216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CONFUSION MATRIX  ·  MLP ON THE CRITICAL CLASS</a:t>
            </a:r>
          </a:p>
        </p:txBody>
      </p:sp>
      <p:sp>
        <p:nvSpPr>
          <p:cNvPr id="10" name="TextBox 9"/>
          <p:cNvSpPr txBox="1"/>
          <p:nvPr/>
        </p:nvSpPr>
        <p:spPr>
          <a:xfrm>
            <a:off x="2075688" y="1627632"/>
            <a:ext cx="4023360" cy="219456"/>
          </a:xfrm>
          <a:prstGeom prst="rect">
            <a:avLst/>
          </a:prstGeom>
          <a:noFill/>
        </p:spPr>
        <p:txBody>
          <a:bodyPr wrap="square" anchor="t" lIns="0" rIns="0" tIns="0" bIns="0">
            <a:spAutoFit/>
          </a:bodyPr>
          <a:lstStyle/>
          <a:p>
            <a:pPr algn="ctr">
              <a:lnSpc>
                <a:spcPct val="125000"/>
              </a:lnSpc>
              <a:spcAft>
                <a:spcPts val="600"/>
              </a:spcAft>
            </a:pPr>
            <a:r>
              <a:rPr sz="1000" b="1" i="0">
                <a:solidFill>
                  <a:srgbClr val="5B6478"/>
                </a:solidFill>
                <a:latin typeface="Calibri"/>
              </a:rPr>
              <a:t>PREDICTED</a:t>
            </a:r>
          </a:p>
        </p:txBody>
      </p:sp>
      <p:sp>
        <p:nvSpPr>
          <p:cNvPr id="11" name="TextBox 10"/>
          <p:cNvSpPr txBox="1"/>
          <p:nvPr/>
        </p:nvSpPr>
        <p:spPr>
          <a:xfrm>
            <a:off x="2075688" y="1865376"/>
            <a:ext cx="2011680" cy="219456"/>
          </a:xfrm>
          <a:prstGeom prst="rect">
            <a:avLst/>
          </a:prstGeom>
          <a:noFill/>
        </p:spPr>
        <p:txBody>
          <a:bodyPr wrap="square" anchor="t" lIns="0" rIns="0" tIns="0" bIns="0">
            <a:spAutoFit/>
          </a:bodyPr>
          <a:lstStyle/>
          <a:p>
            <a:pPr algn="ctr">
              <a:lnSpc>
                <a:spcPct val="125000"/>
              </a:lnSpc>
              <a:spcAft>
                <a:spcPts val="600"/>
              </a:spcAft>
            </a:pPr>
            <a:r>
              <a:rPr sz="1050" b="1" i="0">
                <a:solidFill>
                  <a:srgbClr val="1A1F2E"/>
                </a:solidFill>
                <a:latin typeface="Calibri"/>
              </a:rPr>
              <a:t>Critical</a:t>
            </a:r>
          </a:p>
        </p:txBody>
      </p:sp>
      <p:sp>
        <p:nvSpPr>
          <p:cNvPr id="12" name="TextBox 11"/>
          <p:cNvSpPr txBox="1"/>
          <p:nvPr/>
        </p:nvSpPr>
        <p:spPr>
          <a:xfrm>
            <a:off x="4087368" y="1865376"/>
            <a:ext cx="2011680" cy="219456"/>
          </a:xfrm>
          <a:prstGeom prst="rect">
            <a:avLst/>
          </a:prstGeom>
          <a:noFill/>
        </p:spPr>
        <p:txBody>
          <a:bodyPr wrap="square" anchor="t" lIns="0" rIns="0" tIns="0" bIns="0">
            <a:spAutoFit/>
          </a:bodyPr>
          <a:lstStyle/>
          <a:p>
            <a:pPr algn="ctr">
              <a:lnSpc>
                <a:spcPct val="125000"/>
              </a:lnSpc>
              <a:spcAft>
                <a:spcPts val="600"/>
              </a:spcAft>
            </a:pPr>
            <a:r>
              <a:rPr sz="1050" b="1" i="0">
                <a:solidFill>
                  <a:srgbClr val="1A1F2E"/>
                </a:solidFill>
                <a:latin typeface="Calibri"/>
              </a:rPr>
              <a:t>Not Critical</a:t>
            </a:r>
          </a:p>
        </p:txBody>
      </p:sp>
      <p:sp>
        <p:nvSpPr>
          <p:cNvPr id="13" name="TextBox 12"/>
          <p:cNvSpPr txBox="1"/>
          <p:nvPr/>
        </p:nvSpPr>
        <p:spPr>
          <a:xfrm>
            <a:off x="658368" y="2331720"/>
            <a:ext cx="1325880" cy="457200"/>
          </a:xfrm>
          <a:prstGeom prst="rect">
            <a:avLst/>
          </a:prstGeom>
          <a:noFill/>
        </p:spPr>
        <p:txBody>
          <a:bodyPr wrap="square" anchor="t" lIns="0" rIns="0" tIns="0" bIns="0">
            <a:spAutoFit/>
          </a:bodyPr>
          <a:lstStyle/>
          <a:p>
            <a:pPr algn="r">
              <a:lnSpc>
                <a:spcPct val="120000"/>
              </a:lnSpc>
              <a:spcAft>
                <a:spcPts val="600"/>
              </a:spcAft>
            </a:pPr>
            <a:r>
              <a:rPr sz="1050" b="1" i="0">
                <a:solidFill>
                  <a:srgbClr val="1A1F2E"/>
                </a:solidFill>
                <a:latin typeface="Calibri"/>
              </a:rPr>
              <a:t>ACTUAL
Critical (59)</a:t>
            </a:r>
          </a:p>
        </p:txBody>
      </p:sp>
      <p:sp>
        <p:nvSpPr>
          <p:cNvPr id="14" name="TextBox 13"/>
          <p:cNvSpPr txBox="1"/>
          <p:nvPr/>
        </p:nvSpPr>
        <p:spPr>
          <a:xfrm>
            <a:off x="658368" y="3154680"/>
            <a:ext cx="1325880" cy="457200"/>
          </a:xfrm>
          <a:prstGeom prst="rect">
            <a:avLst/>
          </a:prstGeom>
          <a:noFill/>
        </p:spPr>
        <p:txBody>
          <a:bodyPr wrap="square" anchor="t" lIns="0" rIns="0" tIns="0" bIns="0">
            <a:spAutoFit/>
          </a:bodyPr>
          <a:lstStyle/>
          <a:p>
            <a:pPr algn="r">
              <a:lnSpc>
                <a:spcPct val="120000"/>
              </a:lnSpc>
              <a:spcAft>
                <a:spcPts val="600"/>
              </a:spcAft>
            </a:pPr>
            <a:r>
              <a:rPr sz="1050" b="1" i="0">
                <a:solidFill>
                  <a:srgbClr val="1A1F2E"/>
                </a:solidFill>
                <a:latin typeface="Calibri"/>
              </a:rPr>
              <a:t>Not Critical
(1,576)</a:t>
            </a:r>
          </a:p>
        </p:txBody>
      </p:sp>
      <p:sp>
        <p:nvSpPr>
          <p:cNvPr id="15" name="Rectangle 14"/>
          <p:cNvSpPr/>
          <p:nvPr/>
        </p:nvSpPr>
        <p:spPr>
          <a:xfrm>
            <a:off x="2075688" y="2157984"/>
            <a:ext cx="1975104" cy="768096"/>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2249424"/>
            <a:ext cx="1975104" cy="329184"/>
          </a:xfrm>
          <a:prstGeom prst="rect">
            <a:avLst/>
          </a:prstGeom>
          <a:noFill/>
        </p:spPr>
        <p:txBody>
          <a:bodyPr wrap="square" anchor="t" lIns="0" rIns="0" tIns="0" bIns="0">
            <a:spAutoFit/>
          </a:bodyPr>
          <a:lstStyle/>
          <a:p>
            <a:pPr algn="ctr">
              <a:lnSpc>
                <a:spcPct val="125000"/>
              </a:lnSpc>
              <a:spcAft>
                <a:spcPts val="600"/>
              </a:spcAft>
            </a:pPr>
            <a:r>
              <a:rPr sz="1900" b="1" i="0">
                <a:solidFill>
                  <a:srgbClr val="1B7F4B"/>
                </a:solidFill>
                <a:latin typeface="Calibri"/>
              </a:rPr>
              <a:t>2</a:t>
            </a:r>
          </a:p>
        </p:txBody>
      </p:sp>
      <p:sp>
        <p:nvSpPr>
          <p:cNvPr id="17" name="TextBox 16"/>
          <p:cNvSpPr txBox="1"/>
          <p:nvPr/>
        </p:nvSpPr>
        <p:spPr>
          <a:xfrm>
            <a:off x="2075688" y="2615184"/>
            <a:ext cx="1975104" cy="256032"/>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alibri"/>
              </a:rPr>
              <a:t>true positives</a:t>
            </a:r>
          </a:p>
        </p:txBody>
      </p:sp>
      <p:sp>
        <p:nvSpPr>
          <p:cNvPr id="18" name="Rectangle 17"/>
          <p:cNvSpPr/>
          <p:nvPr/>
        </p:nvSpPr>
        <p:spPr>
          <a:xfrm>
            <a:off x="4105656" y="2157984"/>
            <a:ext cx="1975104" cy="768096"/>
          </a:xfrm>
          <a:prstGeom prst="rect">
            <a:avLst/>
          </a:prstGeom>
          <a:solidFill>
            <a:srgbClr val="FDF2F2"/>
          </a:solidFill>
          <a:ln w="1270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05656" y="2249424"/>
            <a:ext cx="1975104" cy="329184"/>
          </a:xfrm>
          <a:prstGeom prst="rect">
            <a:avLst/>
          </a:prstGeom>
          <a:noFill/>
        </p:spPr>
        <p:txBody>
          <a:bodyPr wrap="square" anchor="t" lIns="0" rIns="0" tIns="0" bIns="0">
            <a:spAutoFit/>
          </a:bodyPr>
          <a:lstStyle/>
          <a:p>
            <a:pPr algn="ctr">
              <a:lnSpc>
                <a:spcPct val="125000"/>
              </a:lnSpc>
              <a:spcAft>
                <a:spcPts val="600"/>
              </a:spcAft>
            </a:pPr>
            <a:r>
              <a:rPr sz="1900" b="1" i="0">
                <a:solidFill>
                  <a:srgbClr val="B02A37"/>
                </a:solidFill>
                <a:latin typeface="Calibri"/>
              </a:rPr>
              <a:t>57</a:t>
            </a:r>
          </a:p>
        </p:txBody>
      </p:sp>
      <p:sp>
        <p:nvSpPr>
          <p:cNvPr id="20" name="TextBox 19"/>
          <p:cNvSpPr txBox="1"/>
          <p:nvPr/>
        </p:nvSpPr>
        <p:spPr>
          <a:xfrm>
            <a:off x="4105656" y="2615184"/>
            <a:ext cx="1975104" cy="256032"/>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alibri"/>
              </a:rPr>
              <a:t>false negatives — missed</a:t>
            </a:r>
          </a:p>
        </p:txBody>
      </p:sp>
      <p:sp>
        <p:nvSpPr>
          <p:cNvPr id="21" name="Rectangle 20"/>
          <p:cNvSpPr/>
          <p:nvPr/>
        </p:nvSpPr>
        <p:spPr>
          <a:xfrm>
            <a:off x="2075688" y="2980944"/>
            <a:ext cx="1975104" cy="768096"/>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75688" y="3072384"/>
            <a:ext cx="1975104" cy="329184"/>
          </a:xfrm>
          <a:prstGeom prst="rect">
            <a:avLst/>
          </a:prstGeom>
          <a:noFill/>
        </p:spPr>
        <p:txBody>
          <a:bodyPr wrap="square" anchor="t" lIns="0" rIns="0" tIns="0" bIns="0">
            <a:spAutoFit/>
          </a:bodyPr>
          <a:lstStyle/>
          <a:p>
            <a:pPr algn="ctr">
              <a:lnSpc>
                <a:spcPct val="125000"/>
              </a:lnSpc>
              <a:spcAft>
                <a:spcPts val="600"/>
              </a:spcAft>
            </a:pPr>
            <a:r>
              <a:rPr sz="1900" b="1" i="0">
                <a:solidFill>
                  <a:srgbClr val="5B6478"/>
                </a:solidFill>
                <a:latin typeface="Calibri"/>
              </a:rPr>
              <a:t>0</a:t>
            </a:r>
          </a:p>
        </p:txBody>
      </p:sp>
      <p:sp>
        <p:nvSpPr>
          <p:cNvPr id="23" name="TextBox 22"/>
          <p:cNvSpPr txBox="1"/>
          <p:nvPr/>
        </p:nvSpPr>
        <p:spPr>
          <a:xfrm>
            <a:off x="2075688" y="3438144"/>
            <a:ext cx="1975104" cy="256032"/>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alibri"/>
              </a:rPr>
              <a:t>false positives</a:t>
            </a:r>
          </a:p>
        </p:txBody>
      </p:sp>
      <p:sp>
        <p:nvSpPr>
          <p:cNvPr id="24" name="Rectangle 23"/>
          <p:cNvSpPr/>
          <p:nvPr/>
        </p:nvSpPr>
        <p:spPr>
          <a:xfrm>
            <a:off x="4105656" y="2980944"/>
            <a:ext cx="1975104" cy="768096"/>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05656" y="3072384"/>
            <a:ext cx="1975104" cy="329184"/>
          </a:xfrm>
          <a:prstGeom prst="rect">
            <a:avLst/>
          </a:prstGeom>
          <a:noFill/>
        </p:spPr>
        <p:txBody>
          <a:bodyPr wrap="square" anchor="t" lIns="0" rIns="0" tIns="0" bIns="0">
            <a:spAutoFit/>
          </a:bodyPr>
          <a:lstStyle/>
          <a:p>
            <a:pPr algn="ctr">
              <a:lnSpc>
                <a:spcPct val="125000"/>
              </a:lnSpc>
              <a:spcAft>
                <a:spcPts val="600"/>
              </a:spcAft>
            </a:pPr>
            <a:r>
              <a:rPr sz="1900" b="1" i="0">
                <a:solidFill>
                  <a:srgbClr val="5B6478"/>
                </a:solidFill>
                <a:latin typeface="Calibri"/>
              </a:rPr>
              <a:t>1,576</a:t>
            </a:r>
          </a:p>
        </p:txBody>
      </p:sp>
      <p:sp>
        <p:nvSpPr>
          <p:cNvPr id="26" name="TextBox 25"/>
          <p:cNvSpPr txBox="1"/>
          <p:nvPr/>
        </p:nvSpPr>
        <p:spPr>
          <a:xfrm>
            <a:off x="4105656" y="3438144"/>
            <a:ext cx="1975104" cy="256032"/>
          </a:xfrm>
          <a:prstGeom prst="rect">
            <a:avLst/>
          </a:prstGeom>
          <a:noFill/>
        </p:spPr>
        <p:txBody>
          <a:bodyPr wrap="square" anchor="t" lIns="0" rIns="0" tIns="0" bIns="0">
            <a:spAutoFit/>
          </a:bodyPr>
          <a:lstStyle/>
          <a:p>
            <a:pPr algn="ctr">
              <a:lnSpc>
                <a:spcPct val="125000"/>
              </a:lnSpc>
              <a:spcAft>
                <a:spcPts val="600"/>
              </a:spcAft>
            </a:pPr>
            <a:r>
              <a:rPr sz="950" b="0" i="0">
                <a:solidFill>
                  <a:srgbClr val="5B6478"/>
                </a:solidFill>
                <a:latin typeface="Calibri"/>
              </a:rPr>
              <a:t>true negatives</a:t>
            </a:r>
          </a:p>
        </p:txBody>
      </p:sp>
      <p:sp>
        <p:nvSpPr>
          <p:cNvPr id="27" name="Rectangle 26"/>
          <p:cNvSpPr/>
          <p:nvPr/>
        </p:nvSpPr>
        <p:spPr>
          <a:xfrm>
            <a:off x="658368" y="3840480"/>
            <a:ext cx="2834640" cy="1682496"/>
          </a:xfrm>
          <a:prstGeom prst="rect">
            <a:avLst/>
          </a:prstGeom>
          <a:solidFill>
            <a:srgbClr val="F3F0F8"/>
          </a:solidFill>
          <a:ln w="12700">
            <a:solidFill>
              <a:srgbClr val="C4B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7" y="3968496"/>
            <a:ext cx="246888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56517E"/>
                </a:solidFill>
                <a:latin typeface="Calibri"/>
              </a:rPr>
              <a:t>PRECISION</a:t>
            </a:r>
          </a:p>
        </p:txBody>
      </p:sp>
      <p:sp>
        <p:nvSpPr>
          <p:cNvPr id="29" name="TextBox 28"/>
          <p:cNvSpPr txBox="1"/>
          <p:nvPr/>
        </p:nvSpPr>
        <p:spPr>
          <a:xfrm>
            <a:off x="841247" y="4206240"/>
            <a:ext cx="2468880" cy="219456"/>
          </a:xfrm>
          <a:prstGeom prst="rect">
            <a:avLst/>
          </a:prstGeom>
          <a:noFill/>
        </p:spPr>
        <p:txBody>
          <a:bodyPr wrap="square" anchor="t" lIns="0" rIns="0" tIns="0" bIns="0">
            <a:spAutoFit/>
          </a:bodyPr>
          <a:lstStyle/>
          <a:p>
            <a:pPr algn="l">
              <a:lnSpc>
                <a:spcPct val="125000"/>
              </a:lnSpc>
              <a:spcAft>
                <a:spcPts val="600"/>
              </a:spcAft>
            </a:pPr>
            <a:r>
              <a:rPr sz="1000" b="0" i="0">
                <a:solidFill>
                  <a:srgbClr val="5B6478"/>
                </a:solidFill>
                <a:latin typeface="Consolas"/>
              </a:rPr>
              <a:t>TP / (TP + FP)  =  2 / 2</a:t>
            </a:r>
          </a:p>
        </p:txBody>
      </p:sp>
      <p:sp>
        <p:nvSpPr>
          <p:cNvPr id="30" name="TextBox 29"/>
          <p:cNvSpPr txBox="1"/>
          <p:nvPr/>
        </p:nvSpPr>
        <p:spPr>
          <a:xfrm>
            <a:off x="841247" y="4425696"/>
            <a:ext cx="2468880" cy="274320"/>
          </a:xfrm>
          <a:prstGeom prst="rect">
            <a:avLst/>
          </a:prstGeom>
          <a:noFill/>
        </p:spPr>
        <p:txBody>
          <a:bodyPr wrap="square" anchor="t" lIns="0" rIns="0" tIns="0" bIns="0">
            <a:spAutoFit/>
          </a:bodyPr>
          <a:lstStyle/>
          <a:p>
            <a:pPr algn="l">
              <a:lnSpc>
                <a:spcPct val="125000"/>
              </a:lnSpc>
              <a:spcAft>
                <a:spcPts val="600"/>
              </a:spcAft>
            </a:pPr>
            <a:r>
              <a:rPr sz="1500" b="1" i="0">
                <a:solidFill>
                  <a:srgbClr val="1A1F2E"/>
                </a:solidFill>
                <a:latin typeface="Consolas"/>
              </a:rPr>
              <a:t>1.00</a:t>
            </a:r>
          </a:p>
        </p:txBody>
      </p:sp>
      <p:sp>
        <p:nvSpPr>
          <p:cNvPr id="31" name="TextBox 30"/>
          <p:cNvSpPr txBox="1"/>
          <p:nvPr/>
        </p:nvSpPr>
        <p:spPr>
          <a:xfrm>
            <a:off x="841247" y="4754880"/>
            <a:ext cx="2468880" cy="731520"/>
          </a:xfrm>
          <a:prstGeom prst="rect">
            <a:avLst/>
          </a:prstGeom>
          <a:noFill/>
        </p:spPr>
        <p:txBody>
          <a:bodyPr wrap="square" anchor="t" lIns="0" rIns="0" tIns="0" bIns="0">
            <a:spAutoFit/>
          </a:bodyPr>
          <a:lstStyle/>
          <a:p>
            <a:pPr algn="l">
              <a:lnSpc>
                <a:spcPct val="120000"/>
              </a:lnSpc>
              <a:spcAft>
                <a:spcPts val="600"/>
              </a:spcAft>
            </a:pPr>
            <a:r>
              <a:rPr sz="950" b="0" i="0">
                <a:solidFill>
                  <a:srgbClr val="1A1F2E"/>
                </a:solidFill>
                <a:latin typeface="Calibri"/>
              </a:rPr>
              <a:t>Of everything it CALLED Critical, how much really was? Perfect — and meaningless alone: it stays perfect precisely because the model almost never risks the call.</a:t>
            </a:r>
          </a:p>
        </p:txBody>
      </p:sp>
      <p:sp>
        <p:nvSpPr>
          <p:cNvPr id="32" name="Rectangle 31"/>
          <p:cNvSpPr/>
          <p:nvPr/>
        </p:nvSpPr>
        <p:spPr>
          <a:xfrm>
            <a:off x="3657600" y="3840480"/>
            <a:ext cx="2834640" cy="1682496"/>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0" y="3968496"/>
            <a:ext cx="246888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RECALL</a:t>
            </a:r>
          </a:p>
        </p:txBody>
      </p:sp>
      <p:sp>
        <p:nvSpPr>
          <p:cNvPr id="34" name="TextBox 33"/>
          <p:cNvSpPr txBox="1"/>
          <p:nvPr/>
        </p:nvSpPr>
        <p:spPr>
          <a:xfrm>
            <a:off x="3840480" y="4206240"/>
            <a:ext cx="2468880" cy="219456"/>
          </a:xfrm>
          <a:prstGeom prst="rect">
            <a:avLst/>
          </a:prstGeom>
          <a:noFill/>
        </p:spPr>
        <p:txBody>
          <a:bodyPr wrap="square" anchor="t" lIns="0" rIns="0" tIns="0" bIns="0">
            <a:spAutoFit/>
          </a:bodyPr>
          <a:lstStyle/>
          <a:p>
            <a:pPr algn="l">
              <a:lnSpc>
                <a:spcPct val="125000"/>
              </a:lnSpc>
              <a:spcAft>
                <a:spcPts val="600"/>
              </a:spcAft>
            </a:pPr>
            <a:r>
              <a:rPr sz="1000" b="0" i="0">
                <a:solidFill>
                  <a:srgbClr val="5B6478"/>
                </a:solidFill>
                <a:latin typeface="Consolas"/>
              </a:rPr>
              <a:t>TP / (TP + FN)  =  2 / 59</a:t>
            </a:r>
          </a:p>
        </p:txBody>
      </p:sp>
      <p:sp>
        <p:nvSpPr>
          <p:cNvPr id="35" name="TextBox 34"/>
          <p:cNvSpPr txBox="1"/>
          <p:nvPr/>
        </p:nvSpPr>
        <p:spPr>
          <a:xfrm>
            <a:off x="3840480" y="4425696"/>
            <a:ext cx="2468880" cy="274320"/>
          </a:xfrm>
          <a:prstGeom prst="rect">
            <a:avLst/>
          </a:prstGeom>
          <a:noFill/>
        </p:spPr>
        <p:txBody>
          <a:bodyPr wrap="square" anchor="t" lIns="0" rIns="0" tIns="0" bIns="0">
            <a:spAutoFit/>
          </a:bodyPr>
          <a:lstStyle/>
          <a:p>
            <a:pPr algn="l">
              <a:lnSpc>
                <a:spcPct val="125000"/>
              </a:lnSpc>
              <a:spcAft>
                <a:spcPts val="600"/>
              </a:spcAft>
            </a:pPr>
            <a:r>
              <a:rPr sz="1500" b="1" i="0">
                <a:solidFill>
                  <a:srgbClr val="1A1F2E"/>
                </a:solidFill>
                <a:latin typeface="Consolas"/>
              </a:rPr>
              <a:t>0.03</a:t>
            </a:r>
          </a:p>
        </p:txBody>
      </p:sp>
      <p:sp>
        <p:nvSpPr>
          <p:cNvPr id="36" name="TextBox 35"/>
          <p:cNvSpPr txBox="1"/>
          <p:nvPr/>
        </p:nvSpPr>
        <p:spPr>
          <a:xfrm>
            <a:off x="3840480" y="4754880"/>
            <a:ext cx="2468880" cy="731520"/>
          </a:xfrm>
          <a:prstGeom prst="rect">
            <a:avLst/>
          </a:prstGeom>
          <a:noFill/>
        </p:spPr>
        <p:txBody>
          <a:bodyPr wrap="square" anchor="t" lIns="0" rIns="0" tIns="0" bIns="0">
            <a:spAutoFit/>
          </a:bodyPr>
          <a:lstStyle/>
          <a:p>
            <a:pPr algn="l">
              <a:lnSpc>
                <a:spcPct val="120000"/>
              </a:lnSpc>
              <a:spcAft>
                <a:spcPts val="600"/>
              </a:spcAft>
            </a:pPr>
            <a:r>
              <a:rPr sz="950" b="0" i="0">
                <a:solidFill>
                  <a:srgbClr val="1A1F2E"/>
                </a:solidFill>
                <a:latin typeface="Calibri"/>
              </a:rPr>
              <a:t>Of everything that TRULY WAS Critical, how much did it catch? 3%. It lets 57 of 59 critical events through, labelled less urgent.</a:t>
            </a:r>
          </a:p>
        </p:txBody>
      </p:sp>
      <p:sp>
        <p:nvSpPr>
          <p:cNvPr id="37" name="Rectangle 36"/>
          <p:cNvSpPr/>
          <p:nvPr/>
        </p:nvSpPr>
        <p:spPr>
          <a:xfrm>
            <a:off x="6858000" y="1298448"/>
            <a:ext cx="4675327" cy="214884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86600" y="1463040"/>
            <a:ext cx="420624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MACRO-F1  ·  THE METRIC THIS THESIS LEADS WITH</a:t>
            </a:r>
          </a:p>
        </p:txBody>
      </p:sp>
      <p:sp>
        <p:nvSpPr>
          <p:cNvPr id="39" name="TextBox 38"/>
          <p:cNvSpPr txBox="1"/>
          <p:nvPr/>
        </p:nvSpPr>
        <p:spPr>
          <a:xfrm>
            <a:off x="7086600" y="1773936"/>
            <a:ext cx="4206240" cy="1554480"/>
          </a:xfrm>
          <a:prstGeom prst="rect">
            <a:avLst/>
          </a:prstGeom>
          <a:noFill/>
        </p:spPr>
        <p:txBody>
          <a:bodyPr wrap="square" anchor="t" lIns="0" rIns="0" tIns="0" bIns="0">
            <a:spAutoFit/>
          </a:bodyPr>
          <a:lstStyle/>
          <a:p>
            <a:pPr algn="l">
              <a:lnSpc>
                <a:spcPct val="126000"/>
              </a:lnSpc>
              <a:spcAft>
                <a:spcPts val="600"/>
              </a:spcAft>
            </a:pPr>
            <a:r>
              <a:rPr sz="1150" b="1" i="0">
                <a:solidFill>
                  <a:srgbClr val="1A1F2E"/>
                </a:solidFill>
                <a:latin typeface="Calibri"/>
              </a:rPr>
              <a:t>F1</a:t>
            </a:r>
            <a:r>
              <a:rPr sz="1150" b="0" i="0">
                <a:solidFill>
                  <a:srgbClr val="1A1F2E"/>
                </a:solidFill>
                <a:latin typeface="Calibri"/>
              </a:rPr>
              <a:t> combines precision and recall into one number (their harmonic mean — it stays low unless both are decent).</a:t>
            </a:r>
          </a:p>
          <a:p>
            <a:pPr algn="l">
              <a:lnSpc>
                <a:spcPct val="126000"/>
              </a:lnSpc>
              <a:spcAft>
                <a:spcPts val="600"/>
              </a:spcAft>
            </a:pPr>
            <a:r>
              <a:rPr sz="1150" b="1" i="0">
                <a:solidFill>
                  <a:srgbClr val="1A1F2E"/>
                </a:solidFill>
                <a:latin typeface="Calibri"/>
              </a:rPr>
              <a:t>Macro-F1</a:t>
            </a:r>
            <a:r>
              <a:rPr sz="1150" b="0" i="0">
                <a:solidFill>
                  <a:srgbClr val="1A1F2E"/>
                </a:solidFill>
                <a:latin typeface="Calibri"/>
              </a:rPr>
              <a:t> averages F1 across all four classes, each counting equally. A rare class weighs as much as a common one, so a model that ignores Critical gets punished — which plain accuracy never does.</a:t>
            </a:r>
          </a:p>
        </p:txBody>
      </p:sp>
      <p:sp>
        <p:nvSpPr>
          <p:cNvPr id="40" name="Rectangle 39"/>
          <p:cNvSpPr/>
          <p:nvPr/>
        </p:nvSpPr>
        <p:spPr>
          <a:xfrm>
            <a:off x="6858000" y="3566160"/>
            <a:ext cx="4675327" cy="1883664"/>
          </a:xfrm>
          <a:prstGeom prst="rect">
            <a:avLst/>
          </a:prstGeom>
          <a:solidFill>
            <a:srgbClr val="FDF2F2"/>
          </a:solidFill>
          <a:ln w="1905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86600" y="3749039"/>
            <a:ext cx="420624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B02A37"/>
                </a:solidFill>
                <a:latin typeface="Calibri"/>
              </a:rPr>
              <a:t>WHY ACCURACY LIES HERE</a:t>
            </a:r>
          </a:p>
        </p:txBody>
      </p:sp>
      <p:sp>
        <p:nvSpPr>
          <p:cNvPr id="42" name="TextBox 41"/>
          <p:cNvSpPr txBox="1"/>
          <p:nvPr/>
        </p:nvSpPr>
        <p:spPr>
          <a:xfrm>
            <a:off x="7086600" y="4041648"/>
            <a:ext cx="4206240" cy="329184"/>
          </a:xfrm>
          <a:prstGeom prst="rect">
            <a:avLst/>
          </a:prstGeom>
          <a:noFill/>
        </p:spPr>
        <p:txBody>
          <a:bodyPr wrap="square" anchor="t" lIns="0" rIns="0" tIns="0" bIns="0">
            <a:spAutoFit/>
          </a:bodyPr>
          <a:lstStyle/>
          <a:p>
            <a:pPr algn="l">
              <a:lnSpc>
                <a:spcPct val="125000"/>
              </a:lnSpc>
              <a:spcAft>
                <a:spcPts val="600"/>
              </a:spcAft>
            </a:pPr>
            <a:r>
              <a:rPr sz="1350" b="1" i="0">
                <a:solidFill>
                  <a:srgbClr val="1A1F2E"/>
                </a:solidFill>
                <a:latin typeface="Consolas"/>
              </a:rPr>
              <a:t>92.4% accurate  ·  3% Critical recall</a:t>
            </a:r>
          </a:p>
        </p:txBody>
      </p:sp>
      <p:sp>
        <p:nvSpPr>
          <p:cNvPr id="43" name="TextBox 42"/>
          <p:cNvSpPr txBox="1"/>
          <p:nvPr/>
        </p:nvSpPr>
        <p:spPr>
          <a:xfrm>
            <a:off x="7086600" y="4443984"/>
            <a:ext cx="4206240" cy="914400"/>
          </a:xfrm>
          <a:prstGeom prst="rect">
            <a:avLst/>
          </a:prstGeom>
          <a:noFill/>
        </p:spPr>
        <p:txBody>
          <a:bodyPr wrap="square" anchor="t" lIns="0" rIns="0" tIns="0" bIns="0">
            <a:spAutoFit/>
          </a:bodyPr>
          <a:lstStyle/>
          <a:p>
            <a:pPr algn="l">
              <a:lnSpc>
                <a:spcPct val="126000"/>
              </a:lnSpc>
              <a:spcAft>
                <a:spcPts val="600"/>
              </a:spcAft>
            </a:pPr>
            <a:r>
              <a:rPr sz="1100" b="0" i="0">
                <a:solidFill>
                  <a:srgbClr val="1A1F2E"/>
                </a:solidFill>
                <a:latin typeface="Calibri"/>
              </a:rPr>
              <a:t>Because 91.7% of events are Low or High, a model can lean on those two classes, clear 92% accuracy, and still be blind to the one class the system exists to catch. That single number pair is this thesis's core argument.</a:t>
            </a:r>
          </a:p>
        </p:txBody>
      </p:sp>
      <p:sp>
        <p:nvSpPr>
          <p:cNvPr id="44" name="Rectangle 43"/>
          <p:cNvSpPr/>
          <p:nvPr/>
        </p:nvSpPr>
        <p:spPr>
          <a:xfrm>
            <a:off x="658368" y="5614416"/>
            <a:ext cx="10874959" cy="56692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96112" y="5751576"/>
            <a:ext cx="10399471" cy="292608"/>
          </a:xfrm>
          <a:prstGeom prst="rect">
            <a:avLst/>
          </a:prstGeom>
          <a:noFill/>
        </p:spPr>
        <p:txBody>
          <a:bodyPr wrap="square" anchor="t" lIns="0" rIns="0" tIns="0" bIns="0">
            <a:spAutoFit/>
          </a:bodyPr>
          <a:lstStyle/>
          <a:p>
            <a:pPr algn="l">
              <a:lnSpc>
                <a:spcPct val="126000"/>
              </a:lnSpc>
              <a:spcAft>
                <a:spcPts val="600"/>
              </a:spcAft>
            </a:pPr>
            <a:r>
              <a:rPr sz="1250" b="1" i="0">
                <a:solidFill>
                  <a:srgbClr val="2B598A"/>
                </a:solidFill>
                <a:latin typeface="Calibri"/>
              </a:rPr>
              <a:t>Therefore:  </a:t>
            </a:r>
            <a:r>
              <a:rPr sz="1250" b="0" i="0">
                <a:solidFill>
                  <a:srgbClr val="1A1F2E"/>
                </a:solidFill>
                <a:latin typeface="Calibri"/>
              </a:rPr>
              <a:t>every model in this project is reported on macro-F1 and per-class recall, not accuracy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7  ·  RESULTS</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Model Comparison — n = 1,635 Held-Out Events</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13</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TextBox 8"/>
          <p:cNvSpPr txBox="1"/>
          <p:nvPr/>
        </p:nvSpPr>
        <p:spPr>
          <a:xfrm>
            <a:off x="658368" y="1298448"/>
            <a:ext cx="576072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OVERALL PERFORMANCE</a:t>
            </a:r>
          </a:p>
        </p:txBody>
      </p:sp>
      <p:graphicFrame>
        <p:nvGraphicFramePr>
          <p:cNvPr id="10" name="Table 9"/>
          <p:cNvGraphicFramePr>
            <a:graphicFrameLocks noGrp="1"/>
          </p:cNvGraphicFramePr>
          <p:nvPr/>
        </p:nvGraphicFramePr>
        <p:xfrm>
          <a:off x="658368" y="1572768"/>
          <a:ext cx="5760719" cy="1819656"/>
        </p:xfrm>
        <a:graphic>
          <a:graphicData uri="http://schemas.openxmlformats.org/drawingml/2006/table">
            <a:tbl>
              <a:tblPr>
                <a:tableStyleId>{5C22544A-7EE6-4342-B048-85BDC9FD1C3A}</a:tableStyleId>
              </a:tblPr>
              <a:tblGrid>
                <a:gridCol w="2160270"/>
                <a:gridCol w="1170146"/>
                <a:gridCol w="1170146"/>
                <a:gridCol w="1260157"/>
              </a:tblGrid>
              <a:tr h="310896">
                <a:tc>
                  <a:txBody>
                    <a:bodyPr/>
                    <a:lstStyle/>
                    <a:p>
                      <a:pPr algn="l"/>
                      <a:r>
                        <a:rPr sz="1200" b="1">
                          <a:solidFill>
                            <a:srgbClr val="FFFFFF"/>
                          </a:solidFill>
                          <a:latin typeface="Calibri"/>
                        </a:rPr>
                        <a:t>Model</a:t>
                      </a:r>
                    </a:p>
                  </a:txBody>
                  <a:tcPr marL="73152" marR="73152" marT="9144" marB="9144" anchor="ctr">
                    <a:solidFill>
                      <a:srgbClr val="1A1F2E"/>
                    </a:solidFill>
                  </a:tcPr>
                </a:tc>
                <a:tc>
                  <a:txBody>
                    <a:bodyPr/>
                    <a:lstStyle/>
                    <a:p>
                      <a:pPr algn="ctr"/>
                      <a:r>
                        <a:rPr sz="1200" b="1">
                          <a:solidFill>
                            <a:srgbClr val="FFFFFF"/>
                          </a:solidFill>
                          <a:latin typeface="Consolas"/>
                        </a:rPr>
                        <a:t>Accuracy</a:t>
                      </a:r>
                    </a:p>
                  </a:txBody>
                  <a:tcPr marL="73152" marR="73152" marT="9144" marB="9144" anchor="ctr">
                    <a:solidFill>
                      <a:srgbClr val="1A1F2E"/>
                    </a:solidFill>
                  </a:tcPr>
                </a:tc>
                <a:tc>
                  <a:txBody>
                    <a:bodyPr/>
                    <a:lstStyle/>
                    <a:p>
                      <a:pPr algn="ctr"/>
                      <a:r>
                        <a:rPr sz="1200" b="1">
                          <a:solidFill>
                            <a:srgbClr val="FFFFFF"/>
                          </a:solidFill>
                          <a:latin typeface="Consolas"/>
                        </a:rPr>
                        <a:t>Macro-F1</a:t>
                      </a:r>
                    </a:p>
                  </a:txBody>
                  <a:tcPr marL="73152" marR="73152" marT="9144" marB="9144" anchor="ctr">
                    <a:solidFill>
                      <a:srgbClr val="1A1F2E"/>
                    </a:solidFill>
                  </a:tcPr>
                </a:tc>
                <a:tc>
                  <a:txBody>
                    <a:bodyPr/>
                    <a:lstStyle/>
                    <a:p>
                      <a:pPr algn="ctr"/>
                      <a:r>
                        <a:rPr sz="1200" b="1">
                          <a:solidFill>
                            <a:srgbClr val="FFFFFF"/>
                          </a:solidFill>
                          <a:latin typeface="Consolas"/>
                        </a:rPr>
                        <a:t>Weighted-F1</a:t>
                      </a:r>
                    </a:p>
                  </a:txBody>
                  <a:tcPr marL="73152" marR="73152" marT="9144" marB="9144" anchor="ctr">
                    <a:solidFill>
                      <a:srgbClr val="1A1F2E"/>
                    </a:solidFill>
                  </a:tcPr>
                </a:tc>
              </a:tr>
              <a:tr h="301752">
                <a:tc>
                  <a:txBody>
                    <a:bodyPr/>
                    <a:lstStyle/>
                    <a:p>
                      <a:pPr algn="l"/>
                      <a:r>
                        <a:rPr sz="1200" b="0">
                          <a:solidFill>
                            <a:srgbClr val="1A1F2E"/>
                          </a:solidFill>
                          <a:latin typeface="Calibri"/>
                        </a:rPr>
                        <a:t>LightGBM</a:t>
                      </a:r>
                    </a:p>
                  </a:txBody>
                  <a:tcPr marL="73152" marR="73152" marT="9144" marB="9144" anchor="ctr">
                    <a:solidFill>
                      <a:srgbClr val="F4F5F7"/>
                    </a:solidFill>
                  </a:tcPr>
                </a:tc>
                <a:tc>
                  <a:txBody>
                    <a:bodyPr/>
                    <a:lstStyle/>
                    <a:p>
                      <a:pPr algn="ctr"/>
                      <a:r>
                        <a:rPr sz="1200" b="0">
                          <a:solidFill>
                            <a:srgbClr val="1A1F2E"/>
                          </a:solidFill>
                          <a:latin typeface="Consolas"/>
                        </a:rPr>
                        <a:t>0.9223</a:t>
                      </a:r>
                    </a:p>
                  </a:txBody>
                  <a:tcPr marL="73152" marR="73152" marT="9144" marB="9144" anchor="ctr">
                    <a:solidFill>
                      <a:srgbClr val="F4F5F7"/>
                    </a:solidFill>
                  </a:tcPr>
                </a:tc>
                <a:tc>
                  <a:txBody>
                    <a:bodyPr/>
                    <a:lstStyle/>
                    <a:p>
                      <a:pPr algn="ctr"/>
                      <a:r>
                        <a:rPr sz="1200" b="1">
                          <a:solidFill>
                            <a:srgbClr val="1B7F4B"/>
                          </a:solidFill>
                          <a:latin typeface="Consolas"/>
                        </a:rPr>
                        <a:t>0.6949</a:t>
                      </a:r>
                    </a:p>
                  </a:txBody>
                  <a:tcPr marL="73152" marR="73152" marT="9144" marB="9144" anchor="ctr">
                    <a:solidFill>
                      <a:srgbClr val="F4F5F7"/>
                    </a:solidFill>
                  </a:tcPr>
                </a:tc>
                <a:tc>
                  <a:txBody>
                    <a:bodyPr/>
                    <a:lstStyle/>
                    <a:p>
                      <a:pPr algn="ctr"/>
                      <a:r>
                        <a:rPr sz="1200" b="0">
                          <a:solidFill>
                            <a:srgbClr val="1A1F2E"/>
                          </a:solidFill>
                          <a:latin typeface="Consolas"/>
                        </a:rPr>
                        <a:t>0.9148</a:t>
                      </a:r>
                    </a:p>
                  </a:txBody>
                  <a:tcPr marL="73152" marR="73152" marT="9144" marB="9144" anchor="ctr">
                    <a:solidFill>
                      <a:srgbClr val="F4F5F7"/>
                    </a:solidFill>
                  </a:tcPr>
                </a:tc>
              </a:tr>
              <a:tr h="301752">
                <a:tc>
                  <a:txBody>
                    <a:bodyPr/>
                    <a:lstStyle/>
                    <a:p>
                      <a:pPr algn="l"/>
                      <a:r>
                        <a:rPr sz="1200" b="0">
                          <a:solidFill>
                            <a:srgbClr val="1A1F2E"/>
                          </a:solidFill>
                          <a:latin typeface="Calibri"/>
                        </a:rPr>
                        <a:t>XGBoost</a:t>
                      </a:r>
                    </a:p>
                  </a:txBody>
                  <a:tcPr marL="73152" marR="73152" marT="9144" marB="9144" anchor="ctr">
                    <a:solidFill>
                      <a:srgbClr val="FFFFFF"/>
                    </a:solidFill>
                  </a:tcPr>
                </a:tc>
                <a:tc>
                  <a:txBody>
                    <a:bodyPr/>
                    <a:lstStyle/>
                    <a:p>
                      <a:pPr algn="ctr"/>
                      <a:r>
                        <a:rPr sz="1200" b="0">
                          <a:solidFill>
                            <a:srgbClr val="1A1F2E"/>
                          </a:solidFill>
                          <a:latin typeface="Consolas"/>
                        </a:rPr>
                        <a:t>0.9168</a:t>
                      </a:r>
                    </a:p>
                  </a:txBody>
                  <a:tcPr marL="73152" marR="73152" marT="9144" marB="9144" anchor="ctr">
                    <a:solidFill>
                      <a:srgbClr val="FFFFFF"/>
                    </a:solidFill>
                  </a:tcPr>
                </a:tc>
                <a:tc>
                  <a:txBody>
                    <a:bodyPr/>
                    <a:lstStyle/>
                    <a:p>
                      <a:pPr algn="ctr"/>
                      <a:r>
                        <a:rPr sz="1200" b="0">
                          <a:solidFill>
                            <a:srgbClr val="1A1F2E"/>
                          </a:solidFill>
                          <a:latin typeface="Consolas"/>
                        </a:rPr>
                        <a:t>0.6906</a:t>
                      </a:r>
                    </a:p>
                  </a:txBody>
                  <a:tcPr marL="73152" marR="73152" marT="9144" marB="9144" anchor="ctr">
                    <a:solidFill>
                      <a:srgbClr val="FFFFFF"/>
                    </a:solidFill>
                  </a:tcPr>
                </a:tc>
                <a:tc>
                  <a:txBody>
                    <a:bodyPr/>
                    <a:lstStyle/>
                    <a:p>
                      <a:pPr algn="ctr"/>
                      <a:r>
                        <a:rPr sz="1200" b="0">
                          <a:solidFill>
                            <a:srgbClr val="1A1F2E"/>
                          </a:solidFill>
                          <a:latin typeface="Consolas"/>
                        </a:rPr>
                        <a:t>0.9114</a:t>
                      </a:r>
                    </a:p>
                  </a:txBody>
                  <a:tcPr marL="73152" marR="73152" marT="9144" marB="9144" anchor="ctr">
                    <a:solidFill>
                      <a:srgbClr val="FFFFFF"/>
                    </a:solidFill>
                  </a:tcPr>
                </a:tc>
              </a:tr>
              <a:tr h="301752">
                <a:tc>
                  <a:txBody>
                    <a:bodyPr/>
                    <a:lstStyle/>
                    <a:p>
                      <a:pPr algn="l"/>
                      <a:r>
                        <a:rPr sz="1200" b="0">
                          <a:solidFill>
                            <a:srgbClr val="1A1F2E"/>
                          </a:solidFill>
                          <a:latin typeface="Calibri"/>
                        </a:rPr>
                        <a:t>MLP-NN</a:t>
                      </a:r>
                    </a:p>
                  </a:txBody>
                  <a:tcPr marL="73152" marR="73152" marT="9144" marB="9144" anchor="ctr">
                    <a:solidFill>
                      <a:srgbClr val="F4F5F7"/>
                    </a:solidFill>
                  </a:tcPr>
                </a:tc>
                <a:tc>
                  <a:txBody>
                    <a:bodyPr/>
                    <a:lstStyle/>
                    <a:p>
                      <a:pPr algn="ctr"/>
                      <a:r>
                        <a:rPr sz="1200" b="0">
                          <a:solidFill>
                            <a:srgbClr val="1A1F2E"/>
                          </a:solidFill>
                          <a:latin typeface="Consolas"/>
                        </a:rPr>
                        <a:t>0.9242</a:t>
                      </a:r>
                    </a:p>
                  </a:txBody>
                  <a:tcPr marL="73152" marR="73152" marT="9144" marB="9144" anchor="ctr">
                    <a:solidFill>
                      <a:srgbClr val="F4F5F7"/>
                    </a:solidFill>
                  </a:tcPr>
                </a:tc>
                <a:tc>
                  <a:txBody>
                    <a:bodyPr/>
                    <a:lstStyle/>
                    <a:p>
                      <a:pPr algn="ctr"/>
                      <a:r>
                        <a:rPr sz="1200" b="0">
                          <a:solidFill>
                            <a:srgbClr val="1A1F2E"/>
                          </a:solidFill>
                          <a:latin typeface="Consolas"/>
                        </a:rPr>
                        <a:t>0.5843</a:t>
                      </a:r>
                    </a:p>
                  </a:txBody>
                  <a:tcPr marL="73152" marR="73152" marT="9144" marB="9144" anchor="ctr">
                    <a:solidFill>
                      <a:srgbClr val="F4F5F7"/>
                    </a:solidFill>
                  </a:tcPr>
                </a:tc>
                <a:tc>
                  <a:txBody>
                    <a:bodyPr/>
                    <a:lstStyle/>
                    <a:p>
                      <a:pPr algn="ctr"/>
                      <a:r>
                        <a:rPr sz="1200" b="0">
                          <a:solidFill>
                            <a:srgbClr val="1A1F2E"/>
                          </a:solidFill>
                          <a:latin typeface="Consolas"/>
                        </a:rPr>
                        <a:t>0.8992</a:t>
                      </a:r>
                    </a:p>
                  </a:txBody>
                  <a:tcPr marL="73152" marR="73152" marT="9144" marB="9144" anchor="ctr">
                    <a:solidFill>
                      <a:srgbClr val="F4F5F7"/>
                    </a:solidFill>
                  </a:tcPr>
                </a:tc>
              </a:tr>
              <a:tr h="301752">
                <a:tc>
                  <a:txBody>
                    <a:bodyPr/>
                    <a:lstStyle/>
                    <a:p>
                      <a:pPr algn="l"/>
                      <a:r>
                        <a:rPr sz="1200" b="0">
                          <a:solidFill>
                            <a:srgbClr val="1A1F2E"/>
                          </a:solidFill>
                          <a:latin typeface="Calibri"/>
                        </a:rPr>
                        <a:t>TabNet</a:t>
                      </a:r>
                    </a:p>
                  </a:txBody>
                  <a:tcPr marL="73152" marR="73152" marT="9144" marB="9144" anchor="ctr">
                    <a:solidFill>
                      <a:srgbClr val="FFFFFF"/>
                    </a:solidFill>
                  </a:tcPr>
                </a:tc>
                <a:tc>
                  <a:txBody>
                    <a:bodyPr/>
                    <a:lstStyle/>
                    <a:p>
                      <a:pPr algn="ctr"/>
                      <a:r>
                        <a:rPr sz="1200" b="1">
                          <a:solidFill>
                            <a:srgbClr val="C26A02"/>
                          </a:solidFill>
                          <a:latin typeface="Consolas"/>
                        </a:rPr>
                        <a:t>0.9254</a:t>
                      </a:r>
                    </a:p>
                  </a:txBody>
                  <a:tcPr marL="73152" marR="73152" marT="9144" marB="9144" anchor="ctr">
                    <a:solidFill>
                      <a:srgbClr val="FFFFFF"/>
                    </a:solidFill>
                  </a:tcPr>
                </a:tc>
                <a:tc>
                  <a:txBody>
                    <a:bodyPr/>
                    <a:lstStyle/>
                    <a:p>
                      <a:pPr algn="ctr"/>
                      <a:r>
                        <a:rPr sz="1200" b="0">
                          <a:solidFill>
                            <a:srgbClr val="1A1F2E"/>
                          </a:solidFill>
                          <a:latin typeface="Consolas"/>
                        </a:rPr>
                        <a:t>0.6027</a:t>
                      </a:r>
                    </a:p>
                  </a:txBody>
                  <a:tcPr marL="73152" marR="73152" marT="9144" marB="9144" anchor="ctr">
                    <a:solidFill>
                      <a:srgbClr val="FFFFFF"/>
                    </a:solidFill>
                  </a:tcPr>
                </a:tc>
                <a:tc>
                  <a:txBody>
                    <a:bodyPr/>
                    <a:lstStyle/>
                    <a:p>
                      <a:pPr algn="ctr"/>
                      <a:r>
                        <a:rPr sz="1200" b="0">
                          <a:solidFill>
                            <a:srgbClr val="1A1F2E"/>
                          </a:solidFill>
                          <a:latin typeface="Consolas"/>
                        </a:rPr>
                        <a:t>0.9020</a:t>
                      </a:r>
                    </a:p>
                  </a:txBody>
                  <a:tcPr marL="73152" marR="73152" marT="9144" marB="9144" anchor="ctr">
                    <a:solidFill>
                      <a:srgbClr val="FFFFFF"/>
                    </a:solidFill>
                  </a:tcPr>
                </a:tc>
              </a:tr>
              <a:tr h="301752">
                <a:tc>
                  <a:txBody>
                    <a:bodyPr/>
                    <a:lstStyle/>
                    <a:p>
                      <a:pPr algn="l"/>
                      <a:r>
                        <a:rPr sz="1200" b="0">
                          <a:solidFill>
                            <a:srgbClr val="1A1F2E"/>
                          </a:solidFill>
                          <a:latin typeface="Calibri"/>
                        </a:rPr>
                        <a:t>Stacked Ensemble</a:t>
                      </a:r>
                    </a:p>
                  </a:txBody>
                  <a:tcPr marL="73152" marR="73152" marT="9144" marB="9144" anchor="ctr">
                    <a:solidFill>
                      <a:srgbClr val="F4F5F7"/>
                    </a:solidFill>
                  </a:tcPr>
                </a:tc>
                <a:tc>
                  <a:txBody>
                    <a:bodyPr/>
                    <a:lstStyle/>
                    <a:p>
                      <a:pPr algn="ctr"/>
                      <a:r>
                        <a:rPr sz="1200" b="0">
                          <a:solidFill>
                            <a:srgbClr val="1A1F2E"/>
                          </a:solidFill>
                          <a:latin typeface="Consolas"/>
                        </a:rPr>
                        <a:t>0.8948</a:t>
                      </a:r>
                    </a:p>
                  </a:txBody>
                  <a:tcPr marL="73152" marR="73152" marT="9144" marB="9144" anchor="ctr">
                    <a:solidFill>
                      <a:srgbClr val="F4F5F7"/>
                    </a:solidFill>
                  </a:tcPr>
                </a:tc>
                <a:tc>
                  <a:txBody>
                    <a:bodyPr/>
                    <a:lstStyle/>
                    <a:p>
                      <a:pPr algn="ctr"/>
                      <a:r>
                        <a:rPr sz="1200" b="0">
                          <a:solidFill>
                            <a:srgbClr val="1A1F2E"/>
                          </a:solidFill>
                          <a:latin typeface="Consolas"/>
                        </a:rPr>
                        <a:t>0.6639</a:t>
                      </a:r>
                    </a:p>
                  </a:txBody>
                  <a:tcPr marL="73152" marR="73152" marT="9144" marB="9144" anchor="ctr">
                    <a:solidFill>
                      <a:srgbClr val="F4F5F7"/>
                    </a:solidFill>
                  </a:tcPr>
                </a:tc>
                <a:tc>
                  <a:txBody>
                    <a:bodyPr/>
                    <a:lstStyle/>
                    <a:p>
                      <a:pPr algn="ctr"/>
                      <a:r>
                        <a:rPr sz="1200" b="0">
                          <a:solidFill>
                            <a:srgbClr val="1A1F2E"/>
                          </a:solidFill>
                          <a:latin typeface="Consolas"/>
                        </a:rPr>
                        <a:t>0.8968</a:t>
                      </a:r>
                    </a:p>
                  </a:txBody>
                  <a:tcPr marL="73152" marR="73152" marT="9144" marB="9144" anchor="ctr">
                    <a:solidFill>
                      <a:srgbClr val="F4F5F7"/>
                    </a:solidFill>
                  </a:tcPr>
                </a:tc>
              </a:tr>
            </a:tbl>
          </a:graphicData>
        </a:graphic>
      </p:graphicFrame>
      <p:sp>
        <p:nvSpPr>
          <p:cNvPr id="11" name="TextBox 10"/>
          <p:cNvSpPr txBox="1"/>
          <p:nvPr/>
        </p:nvSpPr>
        <p:spPr>
          <a:xfrm>
            <a:off x="658368" y="3584448"/>
            <a:ext cx="576072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CRITICAL CLASS  ·  SUPPORT = 59</a:t>
            </a:r>
          </a:p>
        </p:txBody>
      </p:sp>
      <p:graphicFrame>
        <p:nvGraphicFramePr>
          <p:cNvPr id="12" name="Table 11"/>
          <p:cNvGraphicFramePr>
            <a:graphicFrameLocks noGrp="1"/>
          </p:cNvGraphicFramePr>
          <p:nvPr/>
        </p:nvGraphicFramePr>
        <p:xfrm>
          <a:off x="658368" y="3840480"/>
          <a:ext cx="5760719" cy="1819656"/>
        </p:xfrm>
        <a:graphic>
          <a:graphicData uri="http://schemas.openxmlformats.org/drawingml/2006/table">
            <a:tbl>
              <a:tblPr>
                <a:tableStyleId>{5C22544A-7EE6-4342-B048-85BDC9FD1C3A}</a:tableStyleId>
              </a:tblPr>
              <a:tblGrid>
                <a:gridCol w="2160270"/>
                <a:gridCol w="1170146"/>
                <a:gridCol w="1170146"/>
                <a:gridCol w="1260157"/>
              </a:tblGrid>
              <a:tr h="310896">
                <a:tc>
                  <a:txBody>
                    <a:bodyPr/>
                    <a:lstStyle/>
                    <a:p>
                      <a:pPr algn="l"/>
                      <a:r>
                        <a:rPr sz="1200" b="1">
                          <a:solidFill>
                            <a:srgbClr val="FFFFFF"/>
                          </a:solidFill>
                          <a:latin typeface="Calibri"/>
                        </a:rPr>
                        <a:t>Model</a:t>
                      </a:r>
                    </a:p>
                  </a:txBody>
                  <a:tcPr marL="73152" marR="73152" marT="9144" marB="9144" anchor="ctr">
                    <a:solidFill>
                      <a:srgbClr val="1A1F2E"/>
                    </a:solidFill>
                  </a:tcPr>
                </a:tc>
                <a:tc>
                  <a:txBody>
                    <a:bodyPr/>
                    <a:lstStyle/>
                    <a:p>
                      <a:pPr algn="ctr"/>
                      <a:r>
                        <a:rPr sz="1200" b="1">
                          <a:solidFill>
                            <a:srgbClr val="FFFFFF"/>
                          </a:solidFill>
                          <a:latin typeface="Consolas"/>
                        </a:rPr>
                        <a:t>Precision</a:t>
                      </a:r>
                    </a:p>
                  </a:txBody>
                  <a:tcPr marL="73152" marR="73152" marT="9144" marB="9144" anchor="ctr">
                    <a:solidFill>
                      <a:srgbClr val="1A1F2E"/>
                    </a:solidFill>
                  </a:tcPr>
                </a:tc>
                <a:tc>
                  <a:txBody>
                    <a:bodyPr/>
                    <a:lstStyle/>
                    <a:p>
                      <a:pPr algn="ctr"/>
                      <a:r>
                        <a:rPr sz="1200" b="1">
                          <a:solidFill>
                            <a:srgbClr val="FFFFFF"/>
                          </a:solidFill>
                          <a:latin typeface="Consolas"/>
                        </a:rPr>
                        <a:t>Recall</a:t>
                      </a:r>
                    </a:p>
                  </a:txBody>
                  <a:tcPr marL="73152" marR="73152" marT="9144" marB="9144" anchor="ctr">
                    <a:solidFill>
                      <a:srgbClr val="1A1F2E"/>
                    </a:solidFill>
                  </a:tcPr>
                </a:tc>
                <a:tc>
                  <a:txBody>
                    <a:bodyPr/>
                    <a:lstStyle/>
                    <a:p>
                      <a:pPr algn="ctr"/>
                      <a:r>
                        <a:rPr sz="1200" b="1">
                          <a:solidFill>
                            <a:srgbClr val="FFFFFF"/>
                          </a:solidFill>
                          <a:latin typeface="Consolas"/>
                        </a:rPr>
                        <a:t>F1</a:t>
                      </a:r>
                    </a:p>
                  </a:txBody>
                  <a:tcPr marL="73152" marR="73152" marT="9144" marB="9144" anchor="ctr">
                    <a:solidFill>
                      <a:srgbClr val="1A1F2E"/>
                    </a:solidFill>
                  </a:tcPr>
                </a:tc>
              </a:tr>
              <a:tr h="301752">
                <a:tc>
                  <a:txBody>
                    <a:bodyPr/>
                    <a:lstStyle/>
                    <a:p>
                      <a:pPr algn="l"/>
                      <a:r>
                        <a:rPr sz="1200" b="0">
                          <a:solidFill>
                            <a:srgbClr val="1A1F2E"/>
                          </a:solidFill>
                          <a:latin typeface="Calibri"/>
                        </a:rPr>
                        <a:t>LightGBM</a:t>
                      </a:r>
                    </a:p>
                  </a:txBody>
                  <a:tcPr marL="73152" marR="73152" marT="9144" marB="9144" anchor="ctr">
                    <a:solidFill>
                      <a:srgbClr val="F4F5F7"/>
                    </a:solidFill>
                  </a:tcPr>
                </a:tc>
                <a:tc>
                  <a:txBody>
                    <a:bodyPr/>
                    <a:lstStyle/>
                    <a:p>
                      <a:pPr algn="ctr"/>
                      <a:r>
                        <a:rPr sz="1200" b="0">
                          <a:solidFill>
                            <a:srgbClr val="1A1F2E"/>
                          </a:solidFill>
                          <a:latin typeface="Consolas"/>
                        </a:rPr>
                        <a:t>0.54</a:t>
                      </a:r>
                    </a:p>
                  </a:txBody>
                  <a:tcPr marL="73152" marR="73152" marT="9144" marB="9144" anchor="ctr">
                    <a:solidFill>
                      <a:srgbClr val="F4F5F7"/>
                    </a:solidFill>
                  </a:tcPr>
                </a:tc>
                <a:tc>
                  <a:txBody>
                    <a:bodyPr/>
                    <a:lstStyle/>
                    <a:p>
                      <a:pPr algn="ctr"/>
                      <a:r>
                        <a:rPr sz="1200" b="0">
                          <a:solidFill>
                            <a:srgbClr val="1A1F2E"/>
                          </a:solidFill>
                          <a:latin typeface="Consolas"/>
                        </a:rPr>
                        <a:t>0.32</a:t>
                      </a:r>
                    </a:p>
                  </a:txBody>
                  <a:tcPr marL="73152" marR="73152" marT="9144" marB="9144" anchor="ctr">
                    <a:solidFill>
                      <a:srgbClr val="F4F5F7"/>
                    </a:solidFill>
                  </a:tcPr>
                </a:tc>
                <a:tc>
                  <a:txBody>
                    <a:bodyPr/>
                    <a:lstStyle/>
                    <a:p>
                      <a:pPr algn="ctr"/>
                      <a:r>
                        <a:rPr sz="1200" b="1">
                          <a:solidFill>
                            <a:srgbClr val="1B7F4B"/>
                          </a:solidFill>
                          <a:latin typeface="Consolas"/>
                        </a:rPr>
                        <a:t>0.40</a:t>
                      </a:r>
                    </a:p>
                  </a:txBody>
                  <a:tcPr marL="73152" marR="73152" marT="9144" marB="9144" anchor="ctr">
                    <a:solidFill>
                      <a:srgbClr val="F4F5F7"/>
                    </a:solidFill>
                  </a:tcPr>
                </a:tc>
              </a:tr>
              <a:tr h="301752">
                <a:tc>
                  <a:txBody>
                    <a:bodyPr/>
                    <a:lstStyle/>
                    <a:p>
                      <a:pPr algn="l"/>
                      <a:r>
                        <a:rPr sz="1200" b="0">
                          <a:solidFill>
                            <a:srgbClr val="1A1F2E"/>
                          </a:solidFill>
                          <a:latin typeface="Calibri"/>
                        </a:rPr>
                        <a:t>XGBoost</a:t>
                      </a:r>
                    </a:p>
                  </a:txBody>
                  <a:tcPr marL="73152" marR="73152" marT="9144" marB="9144" anchor="ctr">
                    <a:solidFill>
                      <a:srgbClr val="FFFFFF"/>
                    </a:solidFill>
                  </a:tcPr>
                </a:tc>
                <a:tc>
                  <a:txBody>
                    <a:bodyPr/>
                    <a:lstStyle/>
                    <a:p>
                      <a:pPr algn="ctr"/>
                      <a:r>
                        <a:rPr sz="1200" b="0">
                          <a:solidFill>
                            <a:srgbClr val="1A1F2E"/>
                          </a:solidFill>
                          <a:latin typeface="Consolas"/>
                        </a:rPr>
                        <a:t>0.46</a:t>
                      </a:r>
                    </a:p>
                  </a:txBody>
                  <a:tcPr marL="73152" marR="73152" marT="9144" marB="9144" anchor="ctr">
                    <a:solidFill>
                      <a:srgbClr val="FFFFFF"/>
                    </a:solidFill>
                  </a:tcPr>
                </a:tc>
                <a:tc>
                  <a:txBody>
                    <a:bodyPr/>
                    <a:lstStyle/>
                    <a:p>
                      <a:pPr algn="ctr"/>
                      <a:r>
                        <a:rPr sz="1200" b="0">
                          <a:solidFill>
                            <a:srgbClr val="1A1F2E"/>
                          </a:solidFill>
                          <a:latin typeface="Consolas"/>
                        </a:rPr>
                        <a:t>0.36</a:t>
                      </a:r>
                    </a:p>
                  </a:txBody>
                  <a:tcPr marL="73152" marR="73152" marT="9144" marB="9144" anchor="ctr">
                    <a:solidFill>
                      <a:srgbClr val="FFFFFF"/>
                    </a:solidFill>
                  </a:tcPr>
                </a:tc>
                <a:tc>
                  <a:txBody>
                    <a:bodyPr/>
                    <a:lstStyle/>
                    <a:p>
                      <a:pPr algn="ctr"/>
                      <a:r>
                        <a:rPr sz="1200" b="1">
                          <a:solidFill>
                            <a:srgbClr val="1B7F4B"/>
                          </a:solidFill>
                          <a:latin typeface="Consolas"/>
                        </a:rPr>
                        <a:t>0.40</a:t>
                      </a:r>
                    </a:p>
                  </a:txBody>
                  <a:tcPr marL="73152" marR="73152" marT="9144" marB="9144" anchor="ctr">
                    <a:solidFill>
                      <a:srgbClr val="FFFFFF"/>
                    </a:solidFill>
                  </a:tcPr>
                </a:tc>
              </a:tr>
              <a:tr h="301752">
                <a:tc>
                  <a:txBody>
                    <a:bodyPr/>
                    <a:lstStyle/>
                    <a:p>
                      <a:pPr algn="l"/>
                      <a:r>
                        <a:rPr sz="1200" b="0">
                          <a:solidFill>
                            <a:srgbClr val="1A1F2E"/>
                          </a:solidFill>
                          <a:latin typeface="Calibri"/>
                        </a:rPr>
                        <a:t>MLP-NN</a:t>
                      </a:r>
                    </a:p>
                  </a:txBody>
                  <a:tcPr marL="73152" marR="73152" marT="9144" marB="9144" anchor="ctr">
                    <a:solidFill>
                      <a:srgbClr val="F4F5F7"/>
                    </a:solidFill>
                  </a:tcPr>
                </a:tc>
                <a:tc>
                  <a:txBody>
                    <a:bodyPr/>
                    <a:lstStyle/>
                    <a:p>
                      <a:pPr algn="ctr"/>
                      <a:r>
                        <a:rPr sz="1200" b="1">
                          <a:solidFill>
                            <a:srgbClr val="1B7F4B"/>
                          </a:solidFill>
                          <a:latin typeface="Consolas"/>
                        </a:rPr>
                        <a:t>1.00</a:t>
                      </a:r>
                    </a:p>
                  </a:txBody>
                  <a:tcPr marL="73152" marR="73152" marT="9144" marB="9144" anchor="ctr">
                    <a:solidFill>
                      <a:srgbClr val="F4F5F7"/>
                    </a:solidFill>
                  </a:tcPr>
                </a:tc>
                <a:tc>
                  <a:txBody>
                    <a:bodyPr/>
                    <a:lstStyle/>
                    <a:p>
                      <a:pPr algn="ctr"/>
                      <a:r>
                        <a:rPr sz="1200" b="1">
                          <a:solidFill>
                            <a:srgbClr val="B02A37"/>
                          </a:solidFill>
                          <a:latin typeface="Consolas"/>
                        </a:rPr>
                        <a:t>0.03</a:t>
                      </a:r>
                    </a:p>
                  </a:txBody>
                  <a:tcPr marL="73152" marR="73152" marT="9144" marB="9144" anchor="ctr">
                    <a:solidFill>
                      <a:srgbClr val="F4F5F7"/>
                    </a:solidFill>
                  </a:tcPr>
                </a:tc>
                <a:tc>
                  <a:txBody>
                    <a:bodyPr/>
                    <a:lstStyle/>
                    <a:p>
                      <a:pPr algn="ctr"/>
                      <a:r>
                        <a:rPr sz="1200" b="0">
                          <a:solidFill>
                            <a:srgbClr val="1A1F2E"/>
                          </a:solidFill>
                          <a:latin typeface="Consolas"/>
                        </a:rPr>
                        <a:t>0.07</a:t>
                      </a:r>
                    </a:p>
                  </a:txBody>
                  <a:tcPr marL="73152" marR="73152" marT="9144" marB="9144" anchor="ctr">
                    <a:solidFill>
                      <a:srgbClr val="F4F5F7"/>
                    </a:solidFill>
                  </a:tcPr>
                </a:tc>
              </a:tr>
              <a:tr h="301752">
                <a:tc>
                  <a:txBody>
                    <a:bodyPr/>
                    <a:lstStyle/>
                    <a:p>
                      <a:pPr algn="l"/>
                      <a:r>
                        <a:rPr sz="1200" b="0">
                          <a:solidFill>
                            <a:srgbClr val="1A1F2E"/>
                          </a:solidFill>
                          <a:latin typeface="Calibri"/>
                        </a:rPr>
                        <a:t>TabNet</a:t>
                      </a:r>
                    </a:p>
                  </a:txBody>
                  <a:tcPr marL="73152" marR="73152" marT="9144" marB="9144" anchor="ctr">
                    <a:solidFill>
                      <a:srgbClr val="FFFFFF"/>
                    </a:solidFill>
                  </a:tcPr>
                </a:tc>
                <a:tc>
                  <a:txBody>
                    <a:bodyPr/>
                    <a:lstStyle/>
                    <a:p>
                      <a:pPr algn="ctr"/>
                      <a:r>
                        <a:rPr sz="1200" b="0">
                          <a:solidFill>
                            <a:srgbClr val="1A1F2E"/>
                          </a:solidFill>
                          <a:latin typeface="Consolas"/>
                        </a:rPr>
                        <a:t>0.75</a:t>
                      </a:r>
                    </a:p>
                  </a:txBody>
                  <a:tcPr marL="73152" marR="73152" marT="9144" marB="9144" anchor="ctr">
                    <a:solidFill>
                      <a:srgbClr val="FFFFFF"/>
                    </a:solidFill>
                  </a:tcPr>
                </a:tc>
                <a:tc>
                  <a:txBody>
                    <a:bodyPr/>
                    <a:lstStyle/>
                    <a:p>
                      <a:pPr algn="ctr"/>
                      <a:r>
                        <a:rPr sz="1200" b="0">
                          <a:solidFill>
                            <a:srgbClr val="1A1F2E"/>
                          </a:solidFill>
                          <a:latin typeface="Consolas"/>
                        </a:rPr>
                        <a:t>0.10</a:t>
                      </a:r>
                    </a:p>
                  </a:txBody>
                  <a:tcPr marL="73152" marR="73152" marT="9144" marB="9144" anchor="ctr">
                    <a:solidFill>
                      <a:srgbClr val="FFFFFF"/>
                    </a:solidFill>
                  </a:tcPr>
                </a:tc>
                <a:tc>
                  <a:txBody>
                    <a:bodyPr/>
                    <a:lstStyle/>
                    <a:p>
                      <a:pPr algn="ctr"/>
                      <a:r>
                        <a:rPr sz="1200" b="0">
                          <a:solidFill>
                            <a:srgbClr val="1A1F2E"/>
                          </a:solidFill>
                          <a:latin typeface="Consolas"/>
                        </a:rPr>
                        <a:t>0.18</a:t>
                      </a:r>
                    </a:p>
                  </a:txBody>
                  <a:tcPr marL="73152" marR="73152" marT="9144" marB="9144" anchor="ctr">
                    <a:solidFill>
                      <a:srgbClr val="FFFFFF"/>
                    </a:solidFill>
                  </a:tcPr>
                </a:tc>
              </a:tr>
              <a:tr h="301752">
                <a:tc>
                  <a:txBody>
                    <a:bodyPr/>
                    <a:lstStyle/>
                    <a:p>
                      <a:pPr algn="l"/>
                      <a:r>
                        <a:rPr sz="1200" b="0">
                          <a:solidFill>
                            <a:srgbClr val="1A1F2E"/>
                          </a:solidFill>
                          <a:latin typeface="Calibri"/>
                        </a:rPr>
                        <a:t>Stacked Ensemble</a:t>
                      </a:r>
                    </a:p>
                  </a:txBody>
                  <a:tcPr marL="73152" marR="73152" marT="9144" marB="9144" anchor="ctr">
                    <a:solidFill>
                      <a:srgbClr val="F4F5F7"/>
                    </a:solidFill>
                  </a:tcPr>
                </a:tc>
                <a:tc>
                  <a:txBody>
                    <a:bodyPr/>
                    <a:lstStyle/>
                    <a:p>
                      <a:pPr algn="ctr"/>
                      <a:r>
                        <a:rPr sz="1200" b="0">
                          <a:solidFill>
                            <a:srgbClr val="1A1F2E"/>
                          </a:solidFill>
                          <a:latin typeface="Consolas"/>
                        </a:rPr>
                        <a:t>0.28</a:t>
                      </a:r>
                    </a:p>
                  </a:txBody>
                  <a:tcPr marL="73152" marR="73152" marT="9144" marB="9144" anchor="ctr">
                    <a:solidFill>
                      <a:srgbClr val="F4F5F7"/>
                    </a:solidFill>
                  </a:tcPr>
                </a:tc>
                <a:tc>
                  <a:txBody>
                    <a:bodyPr/>
                    <a:lstStyle/>
                    <a:p>
                      <a:pPr algn="ctr"/>
                      <a:r>
                        <a:rPr sz="1200" b="0">
                          <a:solidFill>
                            <a:srgbClr val="1A1F2E"/>
                          </a:solidFill>
                          <a:latin typeface="Consolas"/>
                        </a:rPr>
                        <a:t>0.34</a:t>
                      </a:r>
                    </a:p>
                  </a:txBody>
                  <a:tcPr marL="73152" marR="73152" marT="9144" marB="9144" anchor="ctr">
                    <a:solidFill>
                      <a:srgbClr val="F4F5F7"/>
                    </a:solidFill>
                  </a:tcPr>
                </a:tc>
                <a:tc>
                  <a:txBody>
                    <a:bodyPr/>
                    <a:lstStyle/>
                    <a:p>
                      <a:pPr algn="ctr"/>
                      <a:r>
                        <a:rPr sz="1200" b="0">
                          <a:solidFill>
                            <a:srgbClr val="1A1F2E"/>
                          </a:solidFill>
                          <a:latin typeface="Consolas"/>
                        </a:rPr>
                        <a:t>0.31</a:t>
                      </a:r>
                    </a:p>
                  </a:txBody>
                  <a:tcPr marL="73152" marR="73152" marT="9144" marB="9144" anchor="ctr">
                    <a:solidFill>
                      <a:srgbClr val="F4F5F7"/>
                    </a:solidFill>
                  </a:tcPr>
                </a:tc>
              </a:tr>
            </a:tbl>
          </a:graphicData>
        </a:graphic>
      </p:graphicFrame>
      <p:sp>
        <p:nvSpPr>
          <p:cNvPr id="13" name="Rectangle 12"/>
          <p:cNvSpPr/>
          <p:nvPr/>
        </p:nvSpPr>
        <p:spPr>
          <a:xfrm>
            <a:off x="6684264" y="1771792"/>
            <a:ext cx="4885639" cy="1577054"/>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odel_comparison.png"/>
          <p:cNvPicPr>
            <a:picLocks noChangeAspect="1"/>
          </p:cNvPicPr>
          <p:nvPr/>
        </p:nvPicPr>
        <p:blipFill>
          <a:blip r:embed="rId2"/>
          <a:stretch>
            <a:fillRect/>
          </a:stretch>
        </p:blipFill>
        <p:spPr>
          <a:xfrm>
            <a:off x="6720840" y="1808368"/>
            <a:ext cx="4812487" cy="1503902"/>
          </a:xfrm>
          <a:prstGeom prst="rect">
            <a:avLst/>
          </a:prstGeom>
        </p:spPr>
      </p:pic>
      <p:sp>
        <p:nvSpPr>
          <p:cNvPr id="15" name="Rectangle 14"/>
          <p:cNvSpPr/>
          <p:nvPr/>
        </p:nvSpPr>
        <p:spPr>
          <a:xfrm>
            <a:off x="6720840" y="3794760"/>
            <a:ext cx="4812487" cy="1051560"/>
          </a:xfrm>
          <a:prstGeom prst="rect">
            <a:avLst/>
          </a:prstGeom>
          <a:solidFill>
            <a:srgbClr val="FDF2F2"/>
          </a:solidFill>
          <a:ln w="1905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58583" y="3931920"/>
            <a:ext cx="4336999" cy="777239"/>
          </a:xfrm>
          <a:prstGeom prst="rect">
            <a:avLst/>
          </a:prstGeom>
          <a:noFill/>
        </p:spPr>
        <p:txBody>
          <a:bodyPr wrap="square" anchor="t" lIns="0" rIns="0" tIns="0" bIns="0">
            <a:spAutoFit/>
          </a:bodyPr>
          <a:lstStyle/>
          <a:p>
            <a:pPr algn="l">
              <a:lnSpc>
                <a:spcPct val="126000"/>
              </a:lnSpc>
              <a:spcAft>
                <a:spcPts val="600"/>
              </a:spcAft>
            </a:pPr>
            <a:r>
              <a:rPr sz="1200" b="1" i="0">
                <a:solidFill>
                  <a:srgbClr val="B02A37"/>
                </a:solidFill>
                <a:latin typeface="Calibri"/>
              </a:rPr>
              <a:t>The reversal.  </a:t>
            </a:r>
            <a:r>
              <a:rPr sz="1200" b="0" i="0">
                <a:solidFill>
                  <a:srgbClr val="1A1F2E"/>
                </a:solidFill>
                <a:latin typeface="Calibri"/>
              </a:rPr>
              <a:t>TabNet has the highest accuracy (0.9254). LightGBM has the best macro-F1 (0.6949). Ranking by accuracy picks the wrong model for deployment.</a:t>
            </a:r>
          </a:p>
        </p:txBody>
      </p:sp>
      <p:sp>
        <p:nvSpPr>
          <p:cNvPr id="17" name="Rectangle 16"/>
          <p:cNvSpPr/>
          <p:nvPr/>
        </p:nvSpPr>
        <p:spPr>
          <a:xfrm>
            <a:off x="6720840" y="4956048"/>
            <a:ext cx="4812487" cy="1051560"/>
          </a:xfrm>
          <a:prstGeom prst="rect">
            <a:avLst/>
          </a:prstGeom>
          <a:solidFill>
            <a:srgbClr val="E8F1E9"/>
          </a:solidFill>
          <a:ln w="1905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58583" y="5093208"/>
            <a:ext cx="4336999" cy="777239"/>
          </a:xfrm>
          <a:prstGeom prst="rect">
            <a:avLst/>
          </a:prstGeom>
          <a:noFill/>
        </p:spPr>
        <p:txBody>
          <a:bodyPr wrap="square" anchor="t" lIns="0" rIns="0" tIns="0" bIns="0">
            <a:spAutoFit/>
          </a:bodyPr>
          <a:lstStyle/>
          <a:p>
            <a:pPr algn="l">
              <a:lnSpc>
                <a:spcPct val="126000"/>
              </a:lnSpc>
              <a:spcAft>
                <a:spcPts val="600"/>
              </a:spcAft>
            </a:pPr>
            <a:r>
              <a:rPr sz="1200" b="1" i="0">
                <a:solidFill>
                  <a:srgbClr val="1B7F4B"/>
                </a:solidFill>
                <a:latin typeface="Calibri"/>
              </a:rPr>
              <a:t>What fixed it.  </a:t>
            </a:r>
            <a:r>
              <a:rPr sz="1200" b="0" i="0">
                <a:solidFill>
                  <a:srgbClr val="1A1F2E"/>
                </a:solidFill>
                <a:latin typeface="Calibri"/>
              </a:rPr>
              <a:t>LightGBM and XGBoost are the only models trained with class-balanced weighting — and they are exactly the two with usable Critical recall (0.32, 0.36).</a:t>
            </a:r>
          </a:p>
        </p:txBody>
      </p:sp>
      <p:sp>
        <p:nvSpPr>
          <p:cNvPr id="19" name="Rectangle 18"/>
          <p:cNvSpPr/>
          <p:nvPr/>
        </p:nvSpPr>
        <p:spPr>
          <a:xfrm>
            <a:off x="658368" y="5760720"/>
            <a:ext cx="5760720" cy="566928"/>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 y="5870448"/>
            <a:ext cx="5394960" cy="402336"/>
          </a:xfrm>
          <a:prstGeom prst="rect">
            <a:avLst/>
          </a:prstGeom>
          <a:noFill/>
        </p:spPr>
        <p:txBody>
          <a:bodyPr wrap="square" anchor="t" lIns="0" rIns="0" tIns="0" bIns="0">
            <a:spAutoFit/>
          </a:bodyPr>
          <a:lstStyle/>
          <a:p>
            <a:pPr algn="l">
              <a:lnSpc>
                <a:spcPct val="126000"/>
              </a:lnSpc>
              <a:spcAft>
                <a:spcPts val="600"/>
              </a:spcAft>
            </a:pPr>
            <a:r>
              <a:rPr sz="1100" b="0" i="0">
                <a:solidFill>
                  <a:srgbClr val="5B6478"/>
                </a:solidFill>
                <a:latin typeface="Calibri"/>
              </a:rPr>
              <a:t>All five models handle the majority classes comfortably — Low F1 0.93–0.94, High F1 0.95–0.97.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7  ·  FEATURE IMPORTANCE</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What the Strongest Model Actually Relies On</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14</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1004969" y="1280160"/>
            <a:ext cx="4427437" cy="4645152"/>
          </a:xfrm>
          <a:prstGeom prst="rect">
            <a:avLst/>
          </a:prstGeom>
          <a:solidFill>
            <a:srgbClr val="FFFFFF"/>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gbm_feature_importance.png"/>
          <p:cNvPicPr>
            <a:picLocks noChangeAspect="1"/>
          </p:cNvPicPr>
          <p:nvPr/>
        </p:nvPicPr>
        <p:blipFill>
          <a:blip r:embed="rId2"/>
          <a:stretch>
            <a:fillRect/>
          </a:stretch>
        </p:blipFill>
        <p:spPr>
          <a:xfrm>
            <a:off x="1041545" y="1316736"/>
            <a:ext cx="4354285" cy="4572000"/>
          </a:xfrm>
          <a:prstGeom prst="rect">
            <a:avLst/>
          </a:prstGeom>
        </p:spPr>
      </p:pic>
      <p:sp>
        <p:nvSpPr>
          <p:cNvPr id="11" name="TextBox 10"/>
          <p:cNvSpPr txBox="1"/>
          <p:nvPr/>
        </p:nvSpPr>
        <p:spPr>
          <a:xfrm>
            <a:off x="658368" y="5980176"/>
            <a:ext cx="5120640" cy="274320"/>
          </a:xfrm>
          <a:prstGeom prst="rect">
            <a:avLst/>
          </a:prstGeom>
          <a:noFill/>
        </p:spPr>
        <p:txBody>
          <a:bodyPr wrap="square" anchor="t" lIns="0" rIns="0" tIns="0" bIns="0">
            <a:spAutoFit/>
          </a:bodyPr>
          <a:lstStyle/>
          <a:p>
            <a:pPr algn="ctr">
              <a:lnSpc>
                <a:spcPct val="125000"/>
              </a:lnSpc>
              <a:spcAft>
                <a:spcPts val="600"/>
              </a:spcAft>
            </a:pPr>
            <a:r>
              <a:rPr sz="1050" b="0" i="0">
                <a:solidFill>
                  <a:srgbClr val="5B6478"/>
                </a:solidFill>
                <a:latin typeface="Calibri"/>
              </a:rPr>
              <a:t>LightGBM split-based importance; red bars mark the top quartile.</a:t>
            </a:r>
          </a:p>
        </p:txBody>
      </p:sp>
      <p:sp>
        <p:nvSpPr>
          <p:cNvPr id="12" name="TextBox 11"/>
          <p:cNvSpPr txBox="1"/>
          <p:nvPr/>
        </p:nvSpPr>
        <p:spPr>
          <a:xfrm>
            <a:off x="5989320" y="1316736"/>
            <a:ext cx="54864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WHAT RANKS HIGHEST</a:t>
            </a:r>
          </a:p>
        </p:txBody>
      </p:sp>
      <p:sp>
        <p:nvSpPr>
          <p:cNvPr id="13" name="Rectangle 12"/>
          <p:cNvSpPr/>
          <p:nvPr/>
        </p:nvSpPr>
        <p:spPr>
          <a:xfrm>
            <a:off x="5989320" y="1609344"/>
            <a:ext cx="5544007" cy="859536"/>
          </a:xfrm>
          <a:prstGeom prst="rect">
            <a:avLst/>
          </a:prstGeom>
          <a:solidFill>
            <a:srgbClr val="F3F0F8"/>
          </a:solidFill>
          <a:ln w="12700">
            <a:solidFill>
              <a:srgbClr val="C4B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08776" y="1728216"/>
            <a:ext cx="4937760" cy="256032"/>
          </a:xfrm>
          <a:prstGeom prst="rect">
            <a:avLst/>
          </a:prstGeom>
          <a:noFill/>
        </p:spPr>
        <p:txBody>
          <a:bodyPr wrap="square" anchor="t" lIns="0" rIns="0" tIns="0" bIns="0">
            <a:spAutoFit/>
          </a:bodyPr>
          <a:lstStyle/>
          <a:p>
            <a:pPr algn="l">
              <a:lnSpc>
                <a:spcPct val="125000"/>
              </a:lnSpc>
              <a:spcAft>
                <a:spcPts val="600"/>
              </a:spcAft>
            </a:pPr>
            <a:r>
              <a:rPr sz="1250" b="1" i="0">
                <a:solidFill>
                  <a:srgbClr val="56517E"/>
                </a:solidFill>
                <a:latin typeface="Calibri"/>
              </a:rPr>
              <a:t>Raw coordinates dominate</a:t>
            </a:r>
          </a:p>
        </p:txBody>
      </p:sp>
      <p:sp>
        <p:nvSpPr>
          <p:cNvPr id="15" name="TextBox 14"/>
          <p:cNvSpPr txBox="1"/>
          <p:nvPr/>
        </p:nvSpPr>
        <p:spPr>
          <a:xfrm>
            <a:off x="6208776" y="1993392"/>
            <a:ext cx="4937760" cy="402336"/>
          </a:xfrm>
          <a:prstGeom prst="rect">
            <a:avLst/>
          </a:prstGeom>
          <a:noFill/>
        </p:spPr>
        <p:txBody>
          <a:bodyPr wrap="square" anchor="t" lIns="0" rIns="0" tIns="0" bIns="0">
            <a:spAutoFit/>
          </a:bodyPr>
          <a:lstStyle/>
          <a:p>
            <a:pPr algn="l">
              <a:lnSpc>
                <a:spcPct val="122000"/>
              </a:lnSpc>
              <a:spcAft>
                <a:spcPts val="600"/>
              </a:spcAft>
            </a:pPr>
            <a:r>
              <a:rPr sz="1100" b="0" i="0">
                <a:solidFill>
                  <a:srgbClr val="1A1F2E"/>
                </a:solidFill>
                <a:latin typeface="Calibri"/>
              </a:rPr>
              <a:t>longitude and latitude are the two most-used split features — fine-grained geography carries the most signal.</a:t>
            </a:r>
          </a:p>
        </p:txBody>
      </p:sp>
      <p:sp>
        <p:nvSpPr>
          <p:cNvPr id="16" name="Rectangle 15"/>
          <p:cNvSpPr/>
          <p:nvPr/>
        </p:nvSpPr>
        <p:spPr>
          <a:xfrm>
            <a:off x="5989320" y="2578608"/>
            <a:ext cx="5544007" cy="859536"/>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08776" y="2697480"/>
            <a:ext cx="4937760" cy="256032"/>
          </a:xfrm>
          <a:prstGeom prst="rect">
            <a:avLst/>
          </a:prstGeom>
          <a:noFill/>
        </p:spPr>
        <p:txBody>
          <a:bodyPr wrap="square" anchor="t" lIns="0" rIns="0" tIns="0" bIns="0">
            <a:spAutoFit/>
          </a:bodyPr>
          <a:lstStyle/>
          <a:p>
            <a:pPr algn="l">
              <a:lnSpc>
                <a:spcPct val="125000"/>
              </a:lnSpc>
              <a:spcAft>
                <a:spcPts val="600"/>
              </a:spcAft>
            </a:pPr>
            <a:r>
              <a:rPr sz="1250" b="1" i="0">
                <a:solidFill>
                  <a:srgbClr val="2B598A"/>
                </a:solidFill>
                <a:latin typeface="Calibri"/>
              </a:rPr>
              <a:t>Fine-grained time next</a:t>
            </a:r>
          </a:p>
        </p:txBody>
      </p:sp>
      <p:sp>
        <p:nvSpPr>
          <p:cNvPr id="18" name="TextBox 17"/>
          <p:cNvSpPr txBox="1"/>
          <p:nvPr/>
        </p:nvSpPr>
        <p:spPr>
          <a:xfrm>
            <a:off x="6208776" y="2962656"/>
            <a:ext cx="4937760" cy="402336"/>
          </a:xfrm>
          <a:prstGeom prst="rect">
            <a:avLst/>
          </a:prstGeom>
          <a:noFill/>
        </p:spPr>
        <p:txBody>
          <a:bodyPr wrap="square" anchor="t" lIns="0" rIns="0" tIns="0" bIns="0">
            <a:spAutoFit/>
          </a:bodyPr>
          <a:lstStyle/>
          <a:p>
            <a:pPr algn="l">
              <a:lnSpc>
                <a:spcPct val="122000"/>
              </a:lnSpc>
              <a:spcAft>
                <a:spcPts val="600"/>
              </a:spcAft>
            </a:pPr>
            <a:r>
              <a:rPr sz="1100" b="0" i="0">
                <a:solidFill>
                  <a:srgbClr val="1A1F2E"/>
                </a:solidFill>
                <a:latin typeface="Calibri"/>
              </a:rPr>
              <a:t>day_of_year, day and hour rank immediately below — the model prefers continuous time over the engineered rush-hour flags.</a:t>
            </a:r>
          </a:p>
        </p:txBody>
      </p:sp>
      <p:sp>
        <p:nvSpPr>
          <p:cNvPr id="19" name="Rectangle 18"/>
          <p:cNvSpPr/>
          <p:nvPr/>
        </p:nvSpPr>
        <p:spPr>
          <a:xfrm>
            <a:off x="5989320" y="3547872"/>
            <a:ext cx="5544007" cy="859536"/>
          </a:xfrm>
          <a:prstGeom prst="rect">
            <a:avLst/>
          </a:prstGeom>
          <a:solidFill>
            <a:srgbClr val="E8F1E9"/>
          </a:solidFill>
          <a:ln w="1270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8776" y="3666744"/>
            <a:ext cx="4937760" cy="256032"/>
          </a:xfrm>
          <a:prstGeom prst="rect">
            <a:avLst/>
          </a:prstGeom>
          <a:noFill/>
        </p:spPr>
        <p:txBody>
          <a:bodyPr wrap="square" anchor="t" lIns="0" rIns="0" tIns="0" bIns="0">
            <a:spAutoFit/>
          </a:bodyPr>
          <a:lstStyle/>
          <a:p>
            <a:pPr algn="l">
              <a:lnSpc>
                <a:spcPct val="125000"/>
              </a:lnSpc>
              <a:spcAft>
                <a:spcPts val="600"/>
              </a:spcAft>
            </a:pPr>
            <a:r>
              <a:rPr sz="1250" b="1" i="0">
                <a:solidFill>
                  <a:srgbClr val="1B7F4B"/>
                </a:solidFill>
                <a:latin typeface="Calibri"/>
              </a:rPr>
              <a:t>Then jurisdiction &amp; cause</a:t>
            </a:r>
          </a:p>
        </p:txBody>
      </p:sp>
      <p:sp>
        <p:nvSpPr>
          <p:cNvPr id="21" name="TextBox 20"/>
          <p:cNvSpPr txBox="1"/>
          <p:nvPr/>
        </p:nvSpPr>
        <p:spPr>
          <a:xfrm>
            <a:off x="6208776" y="3931920"/>
            <a:ext cx="4937760" cy="402336"/>
          </a:xfrm>
          <a:prstGeom prst="rect">
            <a:avLst/>
          </a:prstGeom>
          <a:noFill/>
        </p:spPr>
        <p:txBody>
          <a:bodyPr wrap="square" anchor="t" lIns="0" rIns="0" tIns="0" bIns="0">
            <a:spAutoFit/>
          </a:bodyPr>
          <a:lstStyle/>
          <a:p>
            <a:pPr algn="l">
              <a:lnSpc>
                <a:spcPct val="122000"/>
              </a:lnSpc>
              <a:spcAft>
                <a:spcPts val="600"/>
              </a:spcAft>
            </a:pPr>
            <a:r>
              <a:rPr sz="1100" b="0" i="0">
                <a:solidFill>
                  <a:srgbClr val="1A1F2E"/>
                </a:solidFill>
                <a:latin typeface="Calibri"/>
              </a:rPr>
              <a:t>pin_code, police_station, day_of_week and event_cause form the following band.</a:t>
            </a:r>
          </a:p>
        </p:txBody>
      </p:sp>
      <p:sp>
        <p:nvSpPr>
          <p:cNvPr id="22" name="Rectangle 21"/>
          <p:cNvSpPr/>
          <p:nvPr/>
        </p:nvSpPr>
        <p:spPr>
          <a:xfrm>
            <a:off x="5989320" y="4590288"/>
            <a:ext cx="5544007" cy="91440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27064" y="4727448"/>
            <a:ext cx="5068519" cy="640080"/>
          </a:xfrm>
          <a:prstGeom prst="rect">
            <a:avLst/>
          </a:prstGeom>
          <a:noFill/>
        </p:spPr>
        <p:txBody>
          <a:bodyPr wrap="square" anchor="t" lIns="0" rIns="0" tIns="0" bIns="0">
            <a:spAutoFit/>
          </a:bodyPr>
          <a:lstStyle/>
          <a:p>
            <a:pPr algn="l">
              <a:lnSpc>
                <a:spcPct val="126000"/>
              </a:lnSpc>
              <a:spcAft>
                <a:spcPts val="600"/>
              </a:spcAft>
            </a:pPr>
            <a:r>
              <a:rPr sz="1200" b="1" i="0">
                <a:solidFill>
                  <a:srgbClr val="1A1F2E"/>
                </a:solidFill>
                <a:latin typeface="Calibri"/>
              </a:rPr>
              <a:t>The reading:  </a:t>
            </a:r>
            <a:r>
              <a:rPr sz="1200" b="0" i="0">
                <a:solidFill>
                  <a:srgbClr val="1A1F2E"/>
                </a:solidFill>
                <a:latin typeface="Calibri"/>
              </a:rPr>
              <a:t>severity is driven mainly by WHERE an event happens and WHEN — with event cause as the strongest non-geographic signal.</a:t>
            </a:r>
          </a:p>
        </p:txBody>
      </p:sp>
      <p:sp>
        <p:nvSpPr>
          <p:cNvPr id="24" name="Rectangle 23"/>
          <p:cNvSpPr/>
          <p:nvPr/>
        </p:nvSpPr>
        <p:spPr>
          <a:xfrm>
            <a:off x="5989320" y="5614416"/>
            <a:ext cx="5544007" cy="64008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064" y="5751576"/>
            <a:ext cx="5068519" cy="365759"/>
          </a:xfrm>
          <a:prstGeom prst="rect">
            <a:avLst/>
          </a:prstGeom>
          <a:noFill/>
        </p:spPr>
        <p:txBody>
          <a:bodyPr wrap="square" anchor="t" lIns="0" rIns="0" tIns="0" bIns="0">
            <a:spAutoFit/>
          </a:bodyPr>
          <a:lstStyle/>
          <a:p>
            <a:pPr algn="l">
              <a:lnSpc>
                <a:spcPct val="126000"/>
              </a:lnSpc>
              <a:spcAft>
                <a:spcPts val="600"/>
              </a:spcAft>
            </a:pPr>
            <a:r>
              <a:rPr sz="1050" b="1" i="0">
                <a:solidFill>
                  <a:srgbClr val="C26A02"/>
                </a:solidFill>
                <a:latin typeface="Calibri"/>
              </a:rPr>
              <a:t>Caveat:  </a:t>
            </a:r>
            <a:r>
              <a:rPr sz="1050" b="0" i="0">
                <a:solidFill>
                  <a:srgbClr val="1A1F2E"/>
                </a:solidFill>
                <a:latin typeface="Calibri"/>
              </a:rPr>
              <a:t>split-count favours high-cardinality features — which is why the binary flags sit at the bottom. It counts how OFTEN a feature is split on, not its effect.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5  ·  RECOMMENDATION ENGINE</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From Severity to an Actionable Deployment</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15</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298448"/>
            <a:ext cx="10874959" cy="64008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10399471" cy="365759"/>
          </a:xfrm>
          <a:prstGeom prst="rect">
            <a:avLst/>
          </a:prstGeom>
          <a:noFill/>
        </p:spPr>
        <p:txBody>
          <a:bodyPr wrap="square" anchor="t" lIns="0" rIns="0" tIns="0" bIns="0">
            <a:spAutoFit/>
          </a:bodyPr>
          <a:lstStyle/>
          <a:p>
            <a:pPr algn="l">
              <a:lnSpc>
                <a:spcPct val="126000"/>
              </a:lnSpc>
              <a:spcAft>
                <a:spcPts val="600"/>
              </a:spcAft>
            </a:pPr>
            <a:r>
              <a:rPr sz="1250" b="1" i="0">
                <a:solidFill>
                  <a:srgbClr val="1A1F2E"/>
                </a:solidFill>
                <a:latin typeface="Calibri"/>
              </a:rPr>
              <a:t>The learned models answer "how severe does this look".  </a:t>
            </a:r>
            <a:r>
              <a:rPr sz="1250" b="0" i="0">
                <a:solidFill>
                  <a:srgbClr val="1A1F2E"/>
                </a:solidFill>
                <a:latin typeface="Calibri"/>
              </a:rPr>
              <a:t>The rule engine answers "what do we do about it" — kept deterministic and separate so it stays auditable and tunable without retraining.</a:t>
            </a:r>
          </a:p>
        </p:txBody>
      </p:sp>
      <p:sp>
        <p:nvSpPr>
          <p:cNvPr id="11" name="TextBox 10"/>
          <p:cNvSpPr txBox="1"/>
          <p:nvPr/>
        </p:nvSpPr>
        <p:spPr>
          <a:xfrm>
            <a:off x="658368" y="2121408"/>
            <a:ext cx="73152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BASE SEVERITY-TO-ACTION MAPPING</a:t>
            </a:r>
          </a:p>
        </p:txBody>
      </p:sp>
      <p:graphicFrame>
        <p:nvGraphicFramePr>
          <p:cNvPr id="12" name="Table 11"/>
          <p:cNvGraphicFramePr>
            <a:graphicFrameLocks noGrp="1"/>
          </p:cNvGraphicFramePr>
          <p:nvPr/>
        </p:nvGraphicFramePr>
        <p:xfrm>
          <a:off x="658368" y="2395728"/>
          <a:ext cx="10881358" cy="1792224"/>
        </p:xfrm>
        <a:graphic>
          <a:graphicData uri="http://schemas.openxmlformats.org/drawingml/2006/table">
            <a:tbl>
              <a:tblPr>
                <a:tableStyleId>{5C22544A-7EE6-4342-B048-85BDC9FD1C3A}</a:tableStyleId>
              </a:tblPr>
              <a:tblGrid>
                <a:gridCol w="1322034"/>
                <a:gridCol w="1118644"/>
                <a:gridCol w="915254"/>
                <a:gridCol w="4067798"/>
                <a:gridCol w="3457628"/>
              </a:tblGrid>
              <a:tr h="329184">
                <a:tc>
                  <a:txBody>
                    <a:bodyPr/>
                    <a:lstStyle/>
                    <a:p>
                      <a:pPr algn="l"/>
                      <a:r>
                        <a:rPr sz="1100" b="1">
                          <a:solidFill>
                            <a:srgbClr val="FFFFFF"/>
                          </a:solidFill>
                          <a:latin typeface="Calibri"/>
                        </a:rPr>
                        <a:t>Severity</a:t>
                      </a:r>
                    </a:p>
                  </a:txBody>
                  <a:tcPr marL="73152" marR="73152" marT="9144" marB="9144" anchor="ctr">
                    <a:solidFill>
                      <a:srgbClr val="1A1F2E"/>
                    </a:solidFill>
                  </a:tcPr>
                </a:tc>
                <a:tc>
                  <a:txBody>
                    <a:bodyPr/>
                    <a:lstStyle/>
                    <a:p>
                      <a:pPr algn="ctr"/>
                      <a:r>
                        <a:rPr sz="1100" b="1">
                          <a:solidFill>
                            <a:srgbClr val="FFFFFF"/>
                          </a:solidFill>
                          <a:latin typeface="Consolas"/>
                        </a:rPr>
                        <a:t>Officers</a:t>
                      </a:r>
                    </a:p>
                  </a:txBody>
                  <a:tcPr marL="73152" marR="73152" marT="9144" marB="9144" anchor="ctr">
                    <a:solidFill>
                      <a:srgbClr val="1A1F2E"/>
                    </a:solidFill>
                  </a:tcPr>
                </a:tc>
                <a:tc>
                  <a:txBody>
                    <a:bodyPr/>
                    <a:lstStyle/>
                    <a:p>
                      <a:pPr algn="ctr"/>
                      <a:r>
                        <a:rPr sz="1100" b="1">
                          <a:solidFill>
                            <a:srgbClr val="FFFFFF"/>
                          </a:solidFill>
                          <a:latin typeface="Consolas"/>
                        </a:rPr>
                        <a:t>Delay</a:t>
                      </a:r>
                    </a:p>
                  </a:txBody>
                  <a:tcPr marL="73152" marR="73152" marT="9144" marB="9144" anchor="ctr">
                    <a:solidFill>
                      <a:srgbClr val="1A1F2E"/>
                    </a:solidFill>
                  </a:tcPr>
                </a:tc>
                <a:tc>
                  <a:txBody>
                    <a:bodyPr/>
                    <a:lstStyle/>
                    <a:p>
                      <a:pPr algn="ctr"/>
                      <a:r>
                        <a:rPr sz="1100" b="1">
                          <a:solidFill>
                            <a:srgbClr val="FFFFFF"/>
                          </a:solidFill>
                          <a:latin typeface="Consolas"/>
                        </a:rPr>
                        <a:t>Barricading</a:t>
                      </a:r>
                    </a:p>
                  </a:txBody>
                  <a:tcPr marL="73152" marR="73152" marT="9144" marB="9144" anchor="ctr">
                    <a:solidFill>
                      <a:srgbClr val="1A1F2E"/>
                    </a:solidFill>
                  </a:tcPr>
                </a:tc>
                <a:tc>
                  <a:txBody>
                    <a:bodyPr/>
                    <a:lstStyle/>
                    <a:p>
                      <a:pPr algn="ctr"/>
                      <a:r>
                        <a:rPr sz="1100" b="1">
                          <a:solidFill>
                            <a:srgbClr val="FFFFFF"/>
                          </a:solidFill>
                          <a:latin typeface="Consolas"/>
                        </a:rPr>
                        <a:t>Diversion</a:t>
                      </a:r>
                    </a:p>
                  </a:txBody>
                  <a:tcPr marL="73152" marR="73152" marT="9144" marB="9144" anchor="ctr">
                    <a:solidFill>
                      <a:srgbClr val="1A1F2E"/>
                    </a:solidFill>
                  </a:tcPr>
                </a:tc>
              </a:tr>
              <a:tr h="365760">
                <a:tc>
                  <a:txBody>
                    <a:bodyPr/>
                    <a:lstStyle/>
                    <a:p>
                      <a:pPr algn="l"/>
                      <a:r>
                        <a:rPr sz="1100" b="0">
                          <a:solidFill>
                            <a:srgbClr val="1A1F2E"/>
                          </a:solidFill>
                          <a:latin typeface="Calibri"/>
                        </a:rPr>
                        <a:t>Low</a:t>
                      </a:r>
                    </a:p>
                  </a:txBody>
                  <a:tcPr marL="73152" marR="73152" marT="9144" marB="9144" anchor="ctr">
                    <a:solidFill>
                      <a:srgbClr val="F4F5F7"/>
                    </a:solidFill>
                  </a:tcPr>
                </a:tc>
                <a:tc>
                  <a:txBody>
                    <a:bodyPr/>
                    <a:lstStyle/>
                    <a:p>
                      <a:pPr algn="ctr"/>
                      <a:r>
                        <a:rPr sz="1100" b="0">
                          <a:solidFill>
                            <a:srgbClr val="1A1F2E"/>
                          </a:solidFill>
                          <a:latin typeface="Consolas"/>
                        </a:rPr>
                        <a:t>2 – 4</a:t>
                      </a:r>
                    </a:p>
                  </a:txBody>
                  <a:tcPr marL="73152" marR="73152" marT="9144" marB="9144" anchor="ctr">
                    <a:solidFill>
                      <a:srgbClr val="F4F5F7"/>
                    </a:solidFill>
                  </a:tcPr>
                </a:tc>
                <a:tc>
                  <a:txBody>
                    <a:bodyPr/>
                    <a:lstStyle/>
                    <a:p>
                      <a:pPr algn="ctr"/>
                      <a:r>
                        <a:rPr sz="1100" b="0">
                          <a:solidFill>
                            <a:srgbClr val="1A1F2E"/>
                          </a:solidFill>
                          <a:latin typeface="Consolas"/>
                        </a:rPr>
                        <a:t>15 min</a:t>
                      </a:r>
                    </a:p>
                  </a:txBody>
                  <a:tcPr marL="73152" marR="73152" marT="9144" marB="9144" anchor="ctr">
                    <a:solidFill>
                      <a:srgbClr val="F4F5F7"/>
                    </a:solidFill>
                  </a:tcPr>
                </a:tc>
                <a:tc>
                  <a:txBody>
                    <a:bodyPr/>
                    <a:lstStyle/>
                    <a:p>
                      <a:pPr algn="ctr"/>
                      <a:r>
                        <a:rPr sz="1100" b="0">
                          <a:solidFill>
                            <a:srgbClr val="1A1F2E"/>
                          </a:solidFill>
                          <a:latin typeface="Consolas"/>
                        </a:rPr>
                        <a:t>Cones / indicators only</a:t>
                      </a:r>
                    </a:p>
                  </a:txBody>
                  <a:tcPr marL="73152" marR="73152" marT="9144" marB="9144" anchor="ctr">
                    <a:solidFill>
                      <a:srgbClr val="F4F5F7"/>
                    </a:solidFill>
                  </a:tcPr>
                </a:tc>
                <a:tc>
                  <a:txBody>
                    <a:bodyPr/>
                    <a:lstStyle/>
                    <a:p>
                      <a:pPr algn="ctr"/>
                      <a:r>
                        <a:rPr sz="1100" b="0">
                          <a:solidFill>
                            <a:srgbClr val="1A1F2E"/>
                          </a:solidFill>
                          <a:latin typeface="Consolas"/>
                        </a:rPr>
                        <a:t>No diversion needed</a:t>
                      </a:r>
                    </a:p>
                  </a:txBody>
                  <a:tcPr marL="73152" marR="73152" marT="9144" marB="9144" anchor="ctr">
                    <a:solidFill>
                      <a:srgbClr val="F4F5F7"/>
                    </a:solidFill>
                  </a:tcPr>
                </a:tc>
              </a:tr>
              <a:tr h="365760">
                <a:tc>
                  <a:txBody>
                    <a:bodyPr/>
                    <a:lstStyle/>
                    <a:p>
                      <a:pPr algn="l"/>
                      <a:r>
                        <a:rPr sz="1100" b="0">
                          <a:solidFill>
                            <a:srgbClr val="1A1F2E"/>
                          </a:solidFill>
                          <a:latin typeface="Calibri"/>
                        </a:rPr>
                        <a:t>Medium</a:t>
                      </a:r>
                    </a:p>
                  </a:txBody>
                  <a:tcPr marL="73152" marR="73152" marT="9144" marB="9144" anchor="ctr">
                    <a:solidFill>
                      <a:srgbClr val="FFFFFF"/>
                    </a:solidFill>
                  </a:tcPr>
                </a:tc>
                <a:tc>
                  <a:txBody>
                    <a:bodyPr/>
                    <a:lstStyle/>
                    <a:p>
                      <a:pPr algn="ctr"/>
                      <a:r>
                        <a:rPr sz="1100" b="0">
                          <a:solidFill>
                            <a:srgbClr val="1A1F2E"/>
                          </a:solidFill>
                          <a:latin typeface="Consolas"/>
                        </a:rPr>
                        <a:t>4 – 8</a:t>
                      </a:r>
                    </a:p>
                  </a:txBody>
                  <a:tcPr marL="73152" marR="73152" marT="9144" marB="9144" anchor="ctr">
                    <a:solidFill>
                      <a:srgbClr val="FFFFFF"/>
                    </a:solidFill>
                  </a:tcPr>
                </a:tc>
                <a:tc>
                  <a:txBody>
                    <a:bodyPr/>
                    <a:lstStyle/>
                    <a:p>
                      <a:pPr algn="ctr"/>
                      <a:r>
                        <a:rPr sz="1100" b="0">
                          <a:solidFill>
                            <a:srgbClr val="1A1F2E"/>
                          </a:solidFill>
                          <a:latin typeface="Consolas"/>
                        </a:rPr>
                        <a:t>30 min</a:t>
                      </a:r>
                    </a:p>
                  </a:txBody>
                  <a:tcPr marL="73152" marR="73152" marT="9144" marB="9144" anchor="ctr">
                    <a:solidFill>
                      <a:srgbClr val="FFFFFF"/>
                    </a:solidFill>
                  </a:tcPr>
                </a:tc>
                <a:tc>
                  <a:txBody>
                    <a:bodyPr/>
                    <a:lstStyle/>
                    <a:p>
                      <a:pPr algn="ctr"/>
                      <a:r>
                        <a:rPr sz="1100" b="0">
                          <a:solidFill>
                            <a:srgbClr val="1A1F2E"/>
                          </a:solidFill>
                          <a:latin typeface="Consolas"/>
                        </a:rPr>
                        <a:t>Partial barricade (1 lane) + 1 marshal</a:t>
                      </a:r>
                    </a:p>
                  </a:txBody>
                  <a:tcPr marL="73152" marR="73152" marT="9144" marB="9144" anchor="ctr">
                    <a:solidFill>
                      <a:srgbClr val="FFFFFF"/>
                    </a:solidFill>
                  </a:tcPr>
                </a:tc>
                <a:tc>
                  <a:txBody>
                    <a:bodyPr/>
                    <a:lstStyle/>
                    <a:p>
                      <a:pPr algn="ctr"/>
                      <a:r>
                        <a:rPr sz="1100" b="0">
                          <a:solidFill>
                            <a:srgbClr val="1A1F2E"/>
                          </a:solidFill>
                          <a:latin typeface="Consolas"/>
                        </a:rPr>
                        <a:t>Advisory alternate route</a:t>
                      </a:r>
                    </a:p>
                  </a:txBody>
                  <a:tcPr marL="73152" marR="73152" marT="9144" marB="9144" anchor="ctr">
                    <a:solidFill>
                      <a:srgbClr val="FFFFFF"/>
                    </a:solidFill>
                  </a:tcPr>
                </a:tc>
              </a:tr>
              <a:tr h="365760">
                <a:tc>
                  <a:txBody>
                    <a:bodyPr/>
                    <a:lstStyle/>
                    <a:p>
                      <a:pPr algn="l"/>
                      <a:r>
                        <a:rPr sz="1100" b="0">
                          <a:solidFill>
                            <a:srgbClr val="1A1F2E"/>
                          </a:solidFill>
                          <a:latin typeface="Calibri"/>
                        </a:rPr>
                        <a:t>High</a:t>
                      </a:r>
                    </a:p>
                  </a:txBody>
                  <a:tcPr marL="73152" marR="73152" marT="9144" marB="9144" anchor="ctr">
                    <a:solidFill>
                      <a:srgbClr val="F4F5F7"/>
                    </a:solidFill>
                  </a:tcPr>
                </a:tc>
                <a:tc>
                  <a:txBody>
                    <a:bodyPr/>
                    <a:lstStyle/>
                    <a:p>
                      <a:pPr algn="ctr"/>
                      <a:r>
                        <a:rPr sz="1100" b="0">
                          <a:solidFill>
                            <a:srgbClr val="1A1F2E"/>
                          </a:solidFill>
                          <a:latin typeface="Consolas"/>
                        </a:rPr>
                        <a:t>8 – 14</a:t>
                      </a:r>
                    </a:p>
                  </a:txBody>
                  <a:tcPr marL="73152" marR="73152" marT="9144" marB="9144" anchor="ctr">
                    <a:solidFill>
                      <a:srgbClr val="F4F5F7"/>
                    </a:solidFill>
                  </a:tcPr>
                </a:tc>
                <a:tc>
                  <a:txBody>
                    <a:bodyPr/>
                    <a:lstStyle/>
                    <a:p>
                      <a:pPr algn="ctr"/>
                      <a:r>
                        <a:rPr sz="1100" b="0">
                          <a:solidFill>
                            <a:srgbClr val="1A1F2E"/>
                          </a:solidFill>
                          <a:latin typeface="Consolas"/>
                        </a:rPr>
                        <a:t>60 min</a:t>
                      </a:r>
                    </a:p>
                  </a:txBody>
                  <a:tcPr marL="73152" marR="73152" marT="9144" marB="9144" anchor="ctr">
                    <a:solidFill>
                      <a:srgbClr val="F4F5F7"/>
                    </a:solidFill>
                  </a:tcPr>
                </a:tc>
                <a:tc>
                  <a:txBody>
                    <a:bodyPr/>
                    <a:lstStyle/>
                    <a:p>
                      <a:pPr algn="ctr"/>
                      <a:r>
                        <a:rPr sz="1100" b="0">
                          <a:solidFill>
                            <a:srgbClr val="1A1F2E"/>
                          </a:solidFill>
                          <a:latin typeface="Consolas"/>
                        </a:rPr>
                        <a:t>Full barricade, both sides, 2 marshal points</a:t>
                      </a:r>
                    </a:p>
                  </a:txBody>
                  <a:tcPr marL="73152" marR="73152" marT="9144" marB="9144" anchor="ctr">
                    <a:solidFill>
                      <a:srgbClr val="F4F5F7"/>
                    </a:solidFill>
                  </a:tcPr>
                </a:tc>
                <a:tc>
                  <a:txBody>
                    <a:bodyPr/>
                    <a:lstStyle/>
                    <a:p>
                      <a:pPr algn="ctr"/>
                      <a:r>
                        <a:rPr sz="1100" b="0">
                          <a:solidFill>
                            <a:srgbClr val="1A1F2E"/>
                          </a:solidFill>
                          <a:latin typeface="Consolas"/>
                        </a:rPr>
                        <a:t>Mandatory route + digital signage</a:t>
                      </a:r>
                    </a:p>
                  </a:txBody>
                  <a:tcPr marL="73152" marR="73152" marT="9144" marB="9144" anchor="ctr">
                    <a:solidFill>
                      <a:srgbClr val="F4F5F7"/>
                    </a:solidFill>
                  </a:tcPr>
                </a:tc>
              </a:tr>
              <a:tr h="365760">
                <a:tc>
                  <a:txBody>
                    <a:bodyPr/>
                    <a:lstStyle/>
                    <a:p>
                      <a:pPr algn="l"/>
                      <a:r>
                        <a:rPr sz="1100" b="0">
                          <a:solidFill>
                            <a:srgbClr val="1A1F2E"/>
                          </a:solidFill>
                          <a:latin typeface="Calibri"/>
                        </a:rPr>
                        <a:t>Critical</a:t>
                      </a:r>
                    </a:p>
                  </a:txBody>
                  <a:tcPr marL="73152" marR="73152" marT="9144" marB="9144" anchor="ctr">
                    <a:solidFill>
                      <a:srgbClr val="FFFFFF"/>
                    </a:solidFill>
                  </a:tcPr>
                </a:tc>
                <a:tc>
                  <a:txBody>
                    <a:bodyPr/>
                    <a:lstStyle/>
                    <a:p>
                      <a:pPr algn="ctr"/>
                      <a:r>
                        <a:rPr sz="1100" b="1">
                          <a:solidFill>
                            <a:srgbClr val="B02A37"/>
                          </a:solidFill>
                          <a:latin typeface="Consolas"/>
                        </a:rPr>
                        <a:t>15 – 25</a:t>
                      </a:r>
                    </a:p>
                  </a:txBody>
                  <a:tcPr marL="73152" marR="73152" marT="9144" marB="9144" anchor="ctr">
                    <a:solidFill>
                      <a:srgbClr val="FFFFFF"/>
                    </a:solidFill>
                  </a:tcPr>
                </a:tc>
                <a:tc>
                  <a:txBody>
                    <a:bodyPr/>
                    <a:lstStyle/>
                    <a:p>
                      <a:pPr algn="ctr"/>
                      <a:r>
                        <a:rPr sz="1100" b="0">
                          <a:solidFill>
                            <a:srgbClr val="1A1F2E"/>
                          </a:solidFill>
                          <a:latin typeface="Consolas"/>
                        </a:rPr>
                        <a:t>90 min</a:t>
                      </a:r>
                    </a:p>
                  </a:txBody>
                  <a:tcPr marL="73152" marR="73152" marT="9144" marB="9144" anchor="ctr">
                    <a:solidFill>
                      <a:srgbClr val="FFFFFF"/>
                    </a:solidFill>
                  </a:tcPr>
                </a:tc>
                <a:tc>
                  <a:txBody>
                    <a:bodyPr/>
                    <a:lstStyle/>
                    <a:p>
                      <a:pPr algn="ctr"/>
                      <a:r>
                        <a:rPr sz="1100" b="0">
                          <a:solidFill>
                            <a:srgbClr val="1A1F2E"/>
                          </a:solidFill>
                          <a:latin typeface="Consolas"/>
                        </a:rPr>
                        <a:t>Full corridor lockdown + marshal chain</a:t>
                      </a:r>
                    </a:p>
                  </a:txBody>
                  <a:tcPr marL="73152" marR="73152" marT="9144" marB="9144" anchor="ctr">
                    <a:solidFill>
                      <a:srgbClr val="FFFFFF"/>
                    </a:solidFill>
                  </a:tcPr>
                </a:tc>
                <a:tc>
                  <a:txBody>
                    <a:bodyPr/>
                    <a:lstStyle/>
                    <a:p>
                      <a:pPr algn="ctr"/>
                      <a:r>
                        <a:rPr sz="1100" b="0">
                          <a:solidFill>
                            <a:srgbClr val="1A1F2E"/>
                          </a:solidFill>
                          <a:latin typeface="Consolas"/>
                        </a:rPr>
                        <a:t>Police-escorted + public advisory</a:t>
                      </a:r>
                    </a:p>
                  </a:txBody>
                  <a:tcPr marL="73152" marR="73152" marT="9144" marB="9144" anchor="ctr">
                    <a:solidFill>
                      <a:srgbClr val="FFFFFF"/>
                    </a:solidFill>
                  </a:tcPr>
                </a:tc>
              </a:tr>
            </a:tbl>
          </a:graphicData>
        </a:graphic>
      </p:graphicFrame>
      <p:sp>
        <p:nvSpPr>
          <p:cNvPr id="13" name="TextBox 12"/>
          <p:cNvSpPr txBox="1"/>
          <p:nvPr/>
        </p:nvSpPr>
        <p:spPr>
          <a:xfrm>
            <a:off x="658368" y="4443984"/>
            <a:ext cx="54864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CONTEXTUAL MULTIPLIERS</a:t>
            </a:r>
          </a:p>
        </p:txBody>
      </p:sp>
      <p:sp>
        <p:nvSpPr>
          <p:cNvPr id="14" name="Rectangle 13"/>
          <p:cNvSpPr/>
          <p:nvPr/>
        </p:nvSpPr>
        <p:spPr>
          <a:xfrm>
            <a:off x="658368" y="4718304"/>
            <a:ext cx="5120640" cy="493776"/>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7" y="4837176"/>
            <a:ext cx="822960" cy="274320"/>
          </a:xfrm>
          <a:prstGeom prst="rect">
            <a:avLst/>
          </a:prstGeom>
          <a:noFill/>
        </p:spPr>
        <p:txBody>
          <a:bodyPr wrap="square" anchor="t" lIns="0" rIns="0" tIns="0" bIns="0">
            <a:spAutoFit/>
          </a:bodyPr>
          <a:lstStyle/>
          <a:p>
            <a:pPr algn="l">
              <a:lnSpc>
                <a:spcPct val="125000"/>
              </a:lnSpc>
              <a:spcAft>
                <a:spcPts val="600"/>
              </a:spcAft>
            </a:pPr>
            <a:r>
              <a:rPr sz="1400" b="1" i="0">
                <a:solidFill>
                  <a:srgbClr val="C26A02"/>
                </a:solidFill>
                <a:latin typeface="Consolas"/>
              </a:rPr>
              <a:t>×1.4</a:t>
            </a:r>
          </a:p>
        </p:txBody>
      </p:sp>
      <p:sp>
        <p:nvSpPr>
          <p:cNvPr id="16" name="TextBox 15"/>
          <p:cNvSpPr txBox="1"/>
          <p:nvPr/>
        </p:nvSpPr>
        <p:spPr>
          <a:xfrm>
            <a:off x="1709928" y="4864608"/>
            <a:ext cx="3931920" cy="274320"/>
          </a:xfrm>
          <a:prstGeom prst="rect">
            <a:avLst/>
          </a:prstGeom>
          <a:noFill/>
        </p:spPr>
        <p:txBody>
          <a:bodyPr wrap="square" anchor="t" lIns="0" rIns="0" tIns="0" bIns="0">
            <a:spAutoFit/>
          </a:bodyPr>
          <a:lstStyle/>
          <a:p>
            <a:pPr algn="l">
              <a:lnSpc>
                <a:spcPct val="125000"/>
              </a:lnSpc>
              <a:spcAft>
                <a:spcPts val="600"/>
              </a:spcAft>
            </a:pPr>
            <a:r>
              <a:rPr sz="1150" b="0" i="0">
                <a:solidFill>
                  <a:srgbClr val="1A1F2E"/>
                </a:solidFill>
                <a:latin typeface="Calibri"/>
              </a:rPr>
              <a:t>on a designated high-density corridor</a:t>
            </a:r>
          </a:p>
        </p:txBody>
      </p:sp>
      <p:sp>
        <p:nvSpPr>
          <p:cNvPr id="17" name="Rectangle 16"/>
          <p:cNvSpPr/>
          <p:nvPr/>
        </p:nvSpPr>
        <p:spPr>
          <a:xfrm>
            <a:off x="658368" y="5285232"/>
            <a:ext cx="5120640" cy="493776"/>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5404104"/>
            <a:ext cx="822960" cy="274320"/>
          </a:xfrm>
          <a:prstGeom prst="rect">
            <a:avLst/>
          </a:prstGeom>
          <a:noFill/>
        </p:spPr>
        <p:txBody>
          <a:bodyPr wrap="square" anchor="t" lIns="0" rIns="0" tIns="0" bIns="0">
            <a:spAutoFit/>
          </a:bodyPr>
          <a:lstStyle/>
          <a:p>
            <a:pPr algn="l">
              <a:lnSpc>
                <a:spcPct val="125000"/>
              </a:lnSpc>
              <a:spcAft>
                <a:spcPts val="600"/>
              </a:spcAft>
            </a:pPr>
            <a:r>
              <a:rPr sz="1400" b="1" i="0">
                <a:solidFill>
                  <a:srgbClr val="C26A02"/>
                </a:solidFill>
                <a:latin typeface="Consolas"/>
              </a:rPr>
              <a:t>×1.25</a:t>
            </a:r>
          </a:p>
        </p:txBody>
      </p:sp>
      <p:sp>
        <p:nvSpPr>
          <p:cNvPr id="19" name="TextBox 18"/>
          <p:cNvSpPr txBox="1"/>
          <p:nvPr/>
        </p:nvSpPr>
        <p:spPr>
          <a:xfrm>
            <a:off x="1709928" y="5431536"/>
            <a:ext cx="3931920" cy="274320"/>
          </a:xfrm>
          <a:prstGeom prst="rect">
            <a:avLst/>
          </a:prstGeom>
          <a:noFill/>
        </p:spPr>
        <p:txBody>
          <a:bodyPr wrap="square" anchor="t" lIns="0" rIns="0" tIns="0" bIns="0">
            <a:spAutoFit/>
          </a:bodyPr>
          <a:lstStyle/>
          <a:p>
            <a:pPr algn="l">
              <a:lnSpc>
                <a:spcPct val="125000"/>
              </a:lnSpc>
              <a:spcAft>
                <a:spcPts val="600"/>
              </a:spcAft>
            </a:pPr>
            <a:r>
              <a:rPr sz="1150" b="0" i="0">
                <a:solidFill>
                  <a:srgbClr val="1A1F2E"/>
                </a:solidFill>
                <a:latin typeface="Calibri"/>
              </a:rPr>
              <a:t>in a peak window — 7–10 or 17–21 hours</a:t>
            </a:r>
          </a:p>
        </p:txBody>
      </p:sp>
      <p:sp>
        <p:nvSpPr>
          <p:cNvPr id="20" name="TextBox 19"/>
          <p:cNvSpPr txBox="1"/>
          <p:nvPr/>
        </p:nvSpPr>
        <p:spPr>
          <a:xfrm>
            <a:off x="6080760" y="4443984"/>
            <a:ext cx="548640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CAUSE-SPECIFIC ACTIONS</a:t>
            </a:r>
          </a:p>
        </p:txBody>
      </p:sp>
      <p:sp>
        <p:nvSpPr>
          <p:cNvPr id="21" name="TextBox 20"/>
          <p:cNvSpPr txBox="1"/>
          <p:nvPr/>
        </p:nvSpPr>
        <p:spPr>
          <a:xfrm>
            <a:off x="6080760" y="4718304"/>
            <a:ext cx="2286000" cy="256032"/>
          </a:xfrm>
          <a:prstGeom prst="rect">
            <a:avLst/>
          </a:prstGeom>
          <a:noFill/>
        </p:spPr>
        <p:txBody>
          <a:bodyPr wrap="square" anchor="t" lIns="0" rIns="0" tIns="0" bIns="0">
            <a:spAutoFit/>
          </a:bodyPr>
          <a:lstStyle/>
          <a:p>
            <a:pPr algn="l">
              <a:lnSpc>
                <a:spcPct val="125000"/>
              </a:lnSpc>
              <a:spcAft>
                <a:spcPts val="600"/>
              </a:spcAft>
            </a:pPr>
            <a:r>
              <a:rPr sz="1000" b="1" i="0">
                <a:solidFill>
                  <a:srgbClr val="2B598A"/>
                </a:solidFill>
                <a:latin typeface="Consolas"/>
              </a:rPr>
              <a:t>public_event ≥ High</a:t>
            </a:r>
          </a:p>
        </p:txBody>
      </p:sp>
      <p:sp>
        <p:nvSpPr>
          <p:cNvPr id="22" name="TextBox 21"/>
          <p:cNvSpPr txBox="1"/>
          <p:nvPr/>
        </p:nvSpPr>
        <p:spPr>
          <a:xfrm>
            <a:off x="8458200" y="4718304"/>
            <a:ext cx="3108960" cy="256032"/>
          </a:xfrm>
          <a:prstGeom prst="rect">
            <a:avLst/>
          </a:prstGeom>
          <a:noFill/>
        </p:spPr>
        <p:txBody>
          <a:bodyPr wrap="square" anchor="t" lIns="0" rIns="0" tIns="0" bIns="0">
            <a:spAutoFit/>
          </a:bodyPr>
          <a:lstStyle/>
          <a:p>
            <a:pPr algn="l">
              <a:lnSpc>
                <a:spcPct val="125000"/>
              </a:lnSpc>
              <a:spcAft>
                <a:spcPts val="600"/>
              </a:spcAft>
            </a:pPr>
            <a:r>
              <a:rPr sz="1050" b="0" i="0">
                <a:solidFill>
                  <a:srgbClr val="1A1F2E"/>
                </a:solidFill>
                <a:latin typeface="Calibri"/>
              </a:rPr>
              <a:t>crowd-control perimeter + coordinate with organiser</a:t>
            </a:r>
          </a:p>
        </p:txBody>
      </p:sp>
      <p:sp>
        <p:nvSpPr>
          <p:cNvPr id="23" name="TextBox 22"/>
          <p:cNvSpPr txBox="1"/>
          <p:nvPr/>
        </p:nvSpPr>
        <p:spPr>
          <a:xfrm>
            <a:off x="6080760" y="5212080"/>
            <a:ext cx="2286000" cy="256032"/>
          </a:xfrm>
          <a:prstGeom prst="rect">
            <a:avLst/>
          </a:prstGeom>
          <a:noFill/>
        </p:spPr>
        <p:txBody>
          <a:bodyPr wrap="square" anchor="t" lIns="0" rIns="0" tIns="0" bIns="0">
            <a:spAutoFit/>
          </a:bodyPr>
          <a:lstStyle/>
          <a:p>
            <a:pPr algn="l">
              <a:lnSpc>
                <a:spcPct val="125000"/>
              </a:lnSpc>
              <a:spcAft>
                <a:spcPts val="600"/>
              </a:spcAft>
            </a:pPr>
            <a:r>
              <a:rPr sz="1000" b="1" i="0">
                <a:solidFill>
                  <a:srgbClr val="2B598A"/>
                </a:solidFill>
                <a:latin typeface="Consolas"/>
              </a:rPr>
              <a:t>accident ≥ High</a:t>
            </a:r>
          </a:p>
        </p:txBody>
      </p:sp>
      <p:sp>
        <p:nvSpPr>
          <p:cNvPr id="24" name="TextBox 23"/>
          <p:cNvSpPr txBox="1"/>
          <p:nvPr/>
        </p:nvSpPr>
        <p:spPr>
          <a:xfrm>
            <a:off x="8458200" y="5212080"/>
            <a:ext cx="3108960" cy="256032"/>
          </a:xfrm>
          <a:prstGeom prst="rect">
            <a:avLst/>
          </a:prstGeom>
          <a:noFill/>
        </p:spPr>
        <p:txBody>
          <a:bodyPr wrap="square" anchor="t" lIns="0" rIns="0" tIns="0" bIns="0">
            <a:spAutoFit/>
          </a:bodyPr>
          <a:lstStyle/>
          <a:p>
            <a:pPr algn="l">
              <a:lnSpc>
                <a:spcPct val="125000"/>
              </a:lnSpc>
              <a:spcAft>
                <a:spcPts val="600"/>
              </a:spcAft>
            </a:pPr>
            <a:r>
              <a:rPr sz="1050" b="0" i="0">
                <a:solidFill>
                  <a:srgbClr val="1A1F2E"/>
                </a:solidFill>
                <a:latin typeface="Calibri"/>
              </a:rPr>
              <a:t>keep ambulance lane open + trauma centre on standby</a:t>
            </a:r>
          </a:p>
        </p:txBody>
      </p:sp>
      <p:sp>
        <p:nvSpPr>
          <p:cNvPr id="25" name="TextBox 24"/>
          <p:cNvSpPr txBox="1"/>
          <p:nvPr/>
        </p:nvSpPr>
        <p:spPr>
          <a:xfrm>
            <a:off x="6080760" y="5705856"/>
            <a:ext cx="2286000" cy="256032"/>
          </a:xfrm>
          <a:prstGeom prst="rect">
            <a:avLst/>
          </a:prstGeom>
          <a:noFill/>
        </p:spPr>
        <p:txBody>
          <a:bodyPr wrap="square" anchor="t" lIns="0" rIns="0" tIns="0" bIns="0">
            <a:spAutoFit/>
          </a:bodyPr>
          <a:lstStyle/>
          <a:p>
            <a:pPr algn="l">
              <a:lnSpc>
                <a:spcPct val="125000"/>
              </a:lnSpc>
              <a:spcAft>
                <a:spcPts val="600"/>
              </a:spcAft>
            </a:pPr>
            <a:r>
              <a:rPr sz="1000" b="1" i="0">
                <a:solidFill>
                  <a:srgbClr val="2B598A"/>
                </a:solidFill>
                <a:latin typeface="Consolas"/>
              </a:rPr>
              <a:t>pre-announced event</a:t>
            </a:r>
          </a:p>
        </p:txBody>
      </p:sp>
      <p:sp>
        <p:nvSpPr>
          <p:cNvPr id="26" name="TextBox 25"/>
          <p:cNvSpPr txBox="1"/>
          <p:nvPr/>
        </p:nvSpPr>
        <p:spPr>
          <a:xfrm>
            <a:off x="8458200" y="5705856"/>
            <a:ext cx="3108960" cy="256032"/>
          </a:xfrm>
          <a:prstGeom prst="rect">
            <a:avLst/>
          </a:prstGeom>
          <a:noFill/>
        </p:spPr>
        <p:txBody>
          <a:bodyPr wrap="square" anchor="t" lIns="0" rIns="0" tIns="0" bIns="0">
            <a:spAutoFit/>
          </a:bodyPr>
          <a:lstStyle/>
          <a:p>
            <a:pPr algn="l">
              <a:lnSpc>
                <a:spcPct val="125000"/>
              </a:lnSpc>
              <a:spcAft>
                <a:spcPts val="600"/>
              </a:spcAft>
            </a:pPr>
            <a:r>
              <a:rPr sz="1050" b="0" i="0">
                <a:solidFill>
                  <a:srgbClr val="1A1F2E"/>
                </a:solidFill>
                <a:latin typeface="Calibri"/>
              </a:rPr>
              <a:t>pre-deploy minimum officers 2 hours before start</a:t>
            </a:r>
          </a:p>
        </p:txBody>
      </p:sp>
      <p:sp>
        <p:nvSpPr>
          <p:cNvPr id="27" name="Rectangle 26"/>
          <p:cNvSpPr/>
          <p:nvPr/>
        </p:nvSpPr>
        <p:spPr>
          <a:xfrm>
            <a:off x="658368" y="5943600"/>
            <a:ext cx="10874959" cy="457200"/>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2" y="6080760"/>
            <a:ext cx="10399471" cy="182880"/>
          </a:xfrm>
          <a:prstGeom prst="rect">
            <a:avLst/>
          </a:prstGeom>
          <a:noFill/>
        </p:spPr>
        <p:txBody>
          <a:bodyPr wrap="square" anchor="t" lIns="0" rIns="0" tIns="0" bIns="0">
            <a:spAutoFit/>
          </a:bodyPr>
          <a:lstStyle/>
          <a:p>
            <a:pPr algn="l">
              <a:lnSpc>
                <a:spcPct val="126000"/>
              </a:lnSpc>
              <a:spcAft>
                <a:spcPts val="600"/>
              </a:spcAft>
            </a:pPr>
            <a:r>
              <a:rPr sz="1150" b="1" i="0">
                <a:solidFill>
                  <a:srgbClr val="2B598A"/>
                </a:solidFill>
                <a:latin typeface="Calibri"/>
              </a:rPr>
              <a:t>Note:  </a:t>
            </a:r>
            <a:r>
              <a:rPr sz="1150" b="0" i="0">
                <a:solidFill>
                  <a:srgbClr val="1A1F2E"/>
                </a:solidFill>
                <a:latin typeface="Calibri"/>
              </a:rPr>
              <a:t>this stage involves no machine learning at all — the ML predicts how severe, a hand-written rule decides what to do about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WALKTHROUGH</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One Event, End to End</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16</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TextBox 8"/>
          <p:cNvSpPr txBox="1"/>
          <p:nvPr/>
        </p:nvSpPr>
        <p:spPr>
          <a:xfrm>
            <a:off x="658368" y="1298448"/>
            <a:ext cx="10874959" cy="274320"/>
          </a:xfrm>
          <a:prstGeom prst="rect">
            <a:avLst/>
          </a:prstGeom>
          <a:noFill/>
        </p:spPr>
        <p:txBody>
          <a:bodyPr wrap="square" anchor="t" lIns="0" rIns="0" tIns="0" bIns="0">
            <a:spAutoFit/>
          </a:bodyPr>
          <a:lstStyle/>
          <a:p>
            <a:pPr algn="l">
              <a:lnSpc>
                <a:spcPct val="124000"/>
              </a:lnSpc>
              <a:spcAft>
                <a:spcPts val="600"/>
              </a:spcAft>
            </a:pPr>
            <a:r>
              <a:rPr sz="1100" b="0" i="0">
                <a:solidFill>
                  <a:srgbClr val="5B6478"/>
                </a:solidFill>
                <a:latin typeface="Calibri"/>
              </a:rPr>
              <a:t>An illustrative walkthrough of a single request through the whole system. The rule-engine figures are exact; the class probabilities are example values.</a:t>
            </a:r>
          </a:p>
        </p:txBody>
      </p:sp>
      <p:sp>
        <p:nvSpPr>
          <p:cNvPr id="10" name="Rectangle 9"/>
          <p:cNvSpPr/>
          <p:nvPr/>
        </p:nvSpPr>
        <p:spPr>
          <a:xfrm>
            <a:off x="658368" y="1664208"/>
            <a:ext cx="2514600" cy="2286000"/>
          </a:xfrm>
          <a:prstGeom prst="rect">
            <a:avLst/>
          </a:prstGeom>
          <a:solidFill>
            <a:srgbClr val="E4EDF6"/>
          </a:solidFill>
          <a:ln w="1905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1792224"/>
            <a:ext cx="219456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2B598A"/>
                </a:solidFill>
                <a:latin typeface="Calibri"/>
              </a:rPr>
              <a:t>1 · EVENT REPORTED</a:t>
            </a:r>
          </a:p>
        </p:txBody>
      </p:sp>
      <p:sp>
        <p:nvSpPr>
          <p:cNvPr id="12" name="TextBox 11"/>
          <p:cNvSpPr txBox="1"/>
          <p:nvPr/>
        </p:nvSpPr>
        <p:spPr>
          <a:xfrm>
            <a:off x="841247" y="2084831"/>
            <a:ext cx="100584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cause</a:t>
            </a:r>
          </a:p>
        </p:txBody>
      </p:sp>
      <p:sp>
        <p:nvSpPr>
          <p:cNvPr id="13" name="TextBox 12"/>
          <p:cNvSpPr txBox="1"/>
          <p:nvPr/>
        </p:nvSpPr>
        <p:spPr>
          <a:xfrm>
            <a:off x="1801368" y="2084831"/>
            <a:ext cx="12801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accident</a:t>
            </a:r>
          </a:p>
        </p:txBody>
      </p:sp>
      <p:sp>
        <p:nvSpPr>
          <p:cNvPr id="14" name="TextBox 13"/>
          <p:cNvSpPr txBox="1"/>
          <p:nvPr/>
        </p:nvSpPr>
        <p:spPr>
          <a:xfrm>
            <a:off x="841247" y="2377439"/>
            <a:ext cx="100584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time</a:t>
            </a:r>
          </a:p>
        </p:txBody>
      </p:sp>
      <p:sp>
        <p:nvSpPr>
          <p:cNvPr id="15" name="TextBox 14"/>
          <p:cNvSpPr txBox="1"/>
          <p:nvPr/>
        </p:nvSpPr>
        <p:spPr>
          <a:xfrm>
            <a:off x="1801368" y="2377439"/>
            <a:ext cx="12801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18:30 Tue</a:t>
            </a:r>
          </a:p>
        </p:txBody>
      </p:sp>
      <p:sp>
        <p:nvSpPr>
          <p:cNvPr id="16" name="TextBox 15"/>
          <p:cNvSpPr txBox="1"/>
          <p:nvPr/>
        </p:nvSpPr>
        <p:spPr>
          <a:xfrm>
            <a:off x="841247" y="2670048"/>
            <a:ext cx="100584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corridor</a:t>
            </a:r>
          </a:p>
        </p:txBody>
      </p:sp>
      <p:sp>
        <p:nvSpPr>
          <p:cNvPr id="17" name="TextBox 16"/>
          <p:cNvSpPr txBox="1"/>
          <p:nvPr/>
        </p:nvSpPr>
        <p:spPr>
          <a:xfrm>
            <a:off x="1801368" y="2670048"/>
            <a:ext cx="12801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Outer Ring Rd</a:t>
            </a:r>
          </a:p>
        </p:txBody>
      </p:sp>
      <p:sp>
        <p:nvSpPr>
          <p:cNvPr id="18" name="TextBox 17"/>
          <p:cNvSpPr txBox="1"/>
          <p:nvPr/>
        </p:nvSpPr>
        <p:spPr>
          <a:xfrm>
            <a:off x="841247" y="2962656"/>
            <a:ext cx="100584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lat/long</a:t>
            </a:r>
          </a:p>
        </p:txBody>
      </p:sp>
      <p:sp>
        <p:nvSpPr>
          <p:cNvPr id="19" name="TextBox 18"/>
          <p:cNvSpPr txBox="1"/>
          <p:nvPr/>
        </p:nvSpPr>
        <p:spPr>
          <a:xfrm>
            <a:off x="1801368" y="2962656"/>
            <a:ext cx="12801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12.93, 77.61</a:t>
            </a:r>
          </a:p>
        </p:txBody>
      </p:sp>
      <p:sp>
        <p:nvSpPr>
          <p:cNvPr id="20" name="TextBox 19"/>
          <p:cNvSpPr txBox="1"/>
          <p:nvPr/>
        </p:nvSpPr>
        <p:spPr>
          <a:xfrm>
            <a:off x="841247" y="3255263"/>
            <a:ext cx="100584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veh_type</a:t>
            </a:r>
          </a:p>
        </p:txBody>
      </p:sp>
      <p:sp>
        <p:nvSpPr>
          <p:cNvPr id="21" name="TextBox 20"/>
          <p:cNvSpPr txBox="1"/>
          <p:nvPr/>
        </p:nvSpPr>
        <p:spPr>
          <a:xfrm>
            <a:off x="1801368" y="3255263"/>
            <a:ext cx="12801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heavy</a:t>
            </a:r>
          </a:p>
        </p:txBody>
      </p:sp>
      <p:sp>
        <p:nvSpPr>
          <p:cNvPr id="22" name="TextBox 21"/>
          <p:cNvSpPr txBox="1"/>
          <p:nvPr/>
        </p:nvSpPr>
        <p:spPr>
          <a:xfrm>
            <a:off x="841247" y="3547872"/>
            <a:ext cx="100584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onsolas"/>
              </a:rPr>
              <a:t>duration</a:t>
            </a:r>
          </a:p>
        </p:txBody>
      </p:sp>
      <p:sp>
        <p:nvSpPr>
          <p:cNvPr id="23" name="TextBox 22"/>
          <p:cNvSpPr txBox="1"/>
          <p:nvPr/>
        </p:nvSpPr>
        <p:spPr>
          <a:xfrm>
            <a:off x="1801368" y="3547872"/>
            <a:ext cx="12801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90 min</a:t>
            </a:r>
          </a:p>
        </p:txBody>
      </p:sp>
      <p:cxnSp>
        <p:nvCxnSpPr>
          <p:cNvPr id="24" name="Connector 23"/>
          <p:cNvCxnSpPr/>
          <p:nvPr/>
        </p:nvCxnSpPr>
        <p:spPr>
          <a:xfrm>
            <a:off x="3200400" y="2788920"/>
            <a:ext cx="310896" cy="0"/>
          </a:xfrm>
          <a:prstGeom prst="line">
            <a:avLst/>
          </a:prstGeom>
          <a:ln w="254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529584" y="1664208"/>
            <a:ext cx="2514600" cy="2286000"/>
          </a:xfrm>
          <a:prstGeom prst="rect">
            <a:avLst/>
          </a:prstGeom>
          <a:solidFill>
            <a:srgbClr val="F3F0F8"/>
          </a:solidFill>
          <a:ln w="19050">
            <a:solidFill>
              <a:srgbClr val="C4B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12463" y="1792224"/>
            <a:ext cx="219456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56517E"/>
                </a:solidFill>
                <a:latin typeface="Calibri"/>
              </a:rPr>
              <a:t>2 · FEATURE VECTOR</a:t>
            </a:r>
          </a:p>
        </p:txBody>
      </p:sp>
      <p:sp>
        <p:nvSpPr>
          <p:cNvPr id="27" name="TextBox 26"/>
          <p:cNvSpPr txBox="1"/>
          <p:nvPr/>
        </p:nvSpPr>
        <p:spPr>
          <a:xfrm>
            <a:off x="3712463" y="2084831"/>
            <a:ext cx="2194560" cy="1371600"/>
          </a:xfrm>
          <a:prstGeom prst="rect">
            <a:avLst/>
          </a:prstGeom>
          <a:noFill/>
        </p:spPr>
        <p:txBody>
          <a:bodyPr wrap="square" anchor="t" lIns="0" rIns="0" tIns="0" bIns="0">
            <a:spAutoFit/>
          </a:bodyPr>
          <a:lstStyle/>
          <a:p>
            <a:pPr algn="l">
              <a:lnSpc>
                <a:spcPct val="130000"/>
              </a:lnSpc>
              <a:spcAft>
                <a:spcPts val="600"/>
              </a:spcAft>
            </a:pPr>
            <a:r>
              <a:rPr sz="1000" b="0" i="0">
                <a:solidFill>
                  <a:srgbClr val="1A1F2E"/>
                </a:solidFill>
                <a:latin typeface="Calibri"/>
              </a:rPr>
              <a:t>Same encoders, scaler and K-Means as training:
· cause → encoded id
· 18:30 → evening peak = 1
· lat/long → cluster 7
· 30 features assembled</a:t>
            </a:r>
          </a:p>
        </p:txBody>
      </p:sp>
      <p:cxnSp>
        <p:nvCxnSpPr>
          <p:cNvPr id="28" name="Connector 27"/>
          <p:cNvCxnSpPr/>
          <p:nvPr/>
        </p:nvCxnSpPr>
        <p:spPr>
          <a:xfrm>
            <a:off x="6071616" y="2788920"/>
            <a:ext cx="310896" cy="0"/>
          </a:xfrm>
          <a:prstGeom prst="line">
            <a:avLst/>
          </a:prstGeom>
          <a:ln w="254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059168" y="1664208"/>
            <a:ext cx="2514600" cy="2286000"/>
          </a:xfrm>
          <a:prstGeom prst="rect">
            <a:avLst/>
          </a:prstGeom>
          <a:solidFill>
            <a:srgbClr val="E8F1E9"/>
          </a:solidFill>
          <a:ln w="1905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42048" y="1792224"/>
            <a:ext cx="219456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1B7F4B"/>
                </a:solidFill>
                <a:latin typeface="Calibri"/>
              </a:rPr>
              <a:t>3 · BASE MODELS</a:t>
            </a:r>
          </a:p>
        </p:txBody>
      </p:sp>
      <p:sp>
        <p:nvSpPr>
          <p:cNvPr id="31" name="TextBox 30"/>
          <p:cNvSpPr txBox="1"/>
          <p:nvPr/>
        </p:nvSpPr>
        <p:spPr>
          <a:xfrm>
            <a:off x="7242048" y="2103120"/>
            <a:ext cx="118872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1A1F2E"/>
                </a:solidFill>
                <a:latin typeface="Consolas"/>
              </a:rPr>
              <a:t>LightGBM</a:t>
            </a:r>
          </a:p>
        </p:txBody>
      </p:sp>
      <p:sp>
        <p:nvSpPr>
          <p:cNvPr id="32" name="TextBox 31"/>
          <p:cNvSpPr txBox="1"/>
          <p:nvPr/>
        </p:nvSpPr>
        <p:spPr>
          <a:xfrm>
            <a:off x="8503920" y="2103120"/>
            <a:ext cx="8229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B7F4B"/>
                </a:solidFill>
                <a:latin typeface="Consolas"/>
              </a:rPr>
              <a:t>0.71</a:t>
            </a:r>
          </a:p>
        </p:txBody>
      </p:sp>
      <p:sp>
        <p:nvSpPr>
          <p:cNvPr id="33" name="TextBox 32"/>
          <p:cNvSpPr txBox="1"/>
          <p:nvPr/>
        </p:nvSpPr>
        <p:spPr>
          <a:xfrm>
            <a:off x="7242048" y="2377439"/>
            <a:ext cx="118872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1A1F2E"/>
                </a:solidFill>
                <a:latin typeface="Consolas"/>
              </a:rPr>
              <a:t>XGBoost</a:t>
            </a:r>
          </a:p>
        </p:txBody>
      </p:sp>
      <p:sp>
        <p:nvSpPr>
          <p:cNvPr id="34" name="TextBox 33"/>
          <p:cNvSpPr txBox="1"/>
          <p:nvPr/>
        </p:nvSpPr>
        <p:spPr>
          <a:xfrm>
            <a:off x="8503920" y="2377439"/>
            <a:ext cx="8229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B7F4B"/>
                </a:solidFill>
                <a:latin typeface="Consolas"/>
              </a:rPr>
              <a:t>0.68</a:t>
            </a:r>
          </a:p>
        </p:txBody>
      </p:sp>
      <p:sp>
        <p:nvSpPr>
          <p:cNvPr id="35" name="TextBox 34"/>
          <p:cNvSpPr txBox="1"/>
          <p:nvPr/>
        </p:nvSpPr>
        <p:spPr>
          <a:xfrm>
            <a:off x="7242048" y="2651760"/>
            <a:ext cx="118872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1A1F2E"/>
                </a:solidFill>
                <a:latin typeface="Consolas"/>
              </a:rPr>
              <a:t>MLP</a:t>
            </a:r>
          </a:p>
        </p:txBody>
      </p:sp>
      <p:sp>
        <p:nvSpPr>
          <p:cNvPr id="36" name="TextBox 35"/>
          <p:cNvSpPr txBox="1"/>
          <p:nvPr/>
        </p:nvSpPr>
        <p:spPr>
          <a:xfrm>
            <a:off x="8503920" y="2651760"/>
            <a:ext cx="8229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B7F4B"/>
                </a:solidFill>
                <a:latin typeface="Consolas"/>
              </a:rPr>
              <a:t>0.62</a:t>
            </a:r>
          </a:p>
        </p:txBody>
      </p:sp>
      <p:sp>
        <p:nvSpPr>
          <p:cNvPr id="37" name="TextBox 36"/>
          <p:cNvSpPr txBox="1"/>
          <p:nvPr/>
        </p:nvSpPr>
        <p:spPr>
          <a:xfrm>
            <a:off x="7242048" y="2926079"/>
            <a:ext cx="1188720" cy="237744"/>
          </a:xfrm>
          <a:prstGeom prst="rect">
            <a:avLst/>
          </a:prstGeom>
          <a:noFill/>
        </p:spPr>
        <p:txBody>
          <a:bodyPr wrap="square" anchor="t" lIns="0" rIns="0" tIns="0" bIns="0">
            <a:spAutoFit/>
          </a:bodyPr>
          <a:lstStyle/>
          <a:p>
            <a:pPr algn="l">
              <a:lnSpc>
                <a:spcPct val="125000"/>
              </a:lnSpc>
              <a:spcAft>
                <a:spcPts val="600"/>
              </a:spcAft>
            </a:pPr>
            <a:r>
              <a:rPr sz="950" b="0" i="0">
                <a:solidFill>
                  <a:srgbClr val="1A1F2E"/>
                </a:solidFill>
                <a:latin typeface="Consolas"/>
              </a:rPr>
              <a:t>TabNet</a:t>
            </a:r>
          </a:p>
        </p:txBody>
      </p:sp>
      <p:sp>
        <p:nvSpPr>
          <p:cNvPr id="38" name="TextBox 37"/>
          <p:cNvSpPr txBox="1"/>
          <p:nvPr/>
        </p:nvSpPr>
        <p:spPr>
          <a:xfrm>
            <a:off x="8503920" y="2926079"/>
            <a:ext cx="822960" cy="237744"/>
          </a:xfrm>
          <a:prstGeom prst="rect">
            <a:avLst/>
          </a:prstGeom>
          <a:noFill/>
        </p:spPr>
        <p:txBody>
          <a:bodyPr wrap="square" anchor="t" lIns="0" rIns="0" tIns="0" bIns="0">
            <a:spAutoFit/>
          </a:bodyPr>
          <a:lstStyle/>
          <a:p>
            <a:pPr algn="l">
              <a:lnSpc>
                <a:spcPct val="125000"/>
              </a:lnSpc>
              <a:spcAft>
                <a:spcPts val="600"/>
              </a:spcAft>
            </a:pPr>
            <a:r>
              <a:rPr sz="950" b="1" i="0">
                <a:solidFill>
                  <a:srgbClr val="1B7F4B"/>
                </a:solidFill>
                <a:latin typeface="Consolas"/>
              </a:rPr>
              <a:t>0.65</a:t>
            </a:r>
          </a:p>
        </p:txBody>
      </p:sp>
      <p:sp>
        <p:nvSpPr>
          <p:cNvPr id="39" name="TextBox 38"/>
          <p:cNvSpPr txBox="1"/>
          <p:nvPr/>
        </p:nvSpPr>
        <p:spPr>
          <a:xfrm>
            <a:off x="7242048" y="3255264"/>
            <a:ext cx="2194560" cy="548640"/>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alibri"/>
              </a:rPr>
              <a:t>P(High) from each →
16 probabilities stacked</a:t>
            </a:r>
          </a:p>
        </p:txBody>
      </p:sp>
      <p:cxnSp>
        <p:nvCxnSpPr>
          <p:cNvPr id="40" name="Connector 39"/>
          <p:cNvCxnSpPr/>
          <p:nvPr/>
        </p:nvCxnSpPr>
        <p:spPr>
          <a:xfrm>
            <a:off x="9601200" y="2788920"/>
            <a:ext cx="310896" cy="0"/>
          </a:xfrm>
          <a:prstGeom prst="line">
            <a:avLst/>
          </a:prstGeom>
          <a:ln w="254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0588752" y="1664208"/>
            <a:ext cx="944575" cy="2286000"/>
          </a:xfrm>
          <a:prstGeom prst="rect">
            <a:avLst/>
          </a:prstGeom>
          <a:solidFill>
            <a:srgbClr val="FDF2F2"/>
          </a:solidFill>
          <a:ln w="19050">
            <a:solidFill>
              <a:srgbClr val="E8B4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16768" y="1792224"/>
            <a:ext cx="146304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B02A37"/>
                </a:solidFill>
                <a:latin typeface="Calibri"/>
              </a:rPr>
              <a:t>4 · VERDICT</a:t>
            </a:r>
          </a:p>
        </p:txBody>
      </p:sp>
      <p:sp>
        <p:nvSpPr>
          <p:cNvPr id="43" name="TextBox 42"/>
          <p:cNvSpPr txBox="1"/>
          <p:nvPr/>
        </p:nvSpPr>
        <p:spPr>
          <a:xfrm>
            <a:off x="10716768" y="2194560"/>
            <a:ext cx="1463040" cy="365760"/>
          </a:xfrm>
          <a:prstGeom prst="rect">
            <a:avLst/>
          </a:prstGeom>
          <a:noFill/>
        </p:spPr>
        <p:txBody>
          <a:bodyPr wrap="square" anchor="t" lIns="0" rIns="0" tIns="0" bIns="0">
            <a:spAutoFit/>
          </a:bodyPr>
          <a:lstStyle/>
          <a:p>
            <a:pPr algn="l">
              <a:lnSpc>
                <a:spcPct val="125000"/>
              </a:lnSpc>
              <a:spcAft>
                <a:spcPts val="600"/>
              </a:spcAft>
            </a:pPr>
            <a:r>
              <a:rPr sz="1900" b="1" i="0">
                <a:solidFill>
                  <a:srgbClr val="B02A37"/>
                </a:solidFill>
                <a:latin typeface="Calibri"/>
              </a:rPr>
              <a:t>HIGH</a:t>
            </a:r>
          </a:p>
        </p:txBody>
      </p:sp>
      <p:sp>
        <p:nvSpPr>
          <p:cNvPr id="44" name="TextBox 43"/>
          <p:cNvSpPr txBox="1"/>
          <p:nvPr/>
        </p:nvSpPr>
        <p:spPr>
          <a:xfrm>
            <a:off x="10716768" y="2615184"/>
            <a:ext cx="1463040" cy="457200"/>
          </a:xfrm>
          <a:prstGeom prst="rect">
            <a:avLst/>
          </a:prstGeom>
          <a:noFill/>
        </p:spPr>
        <p:txBody>
          <a:bodyPr wrap="square" anchor="t" lIns="0" rIns="0" tIns="0" bIns="0">
            <a:spAutoFit/>
          </a:bodyPr>
          <a:lstStyle/>
          <a:p>
            <a:pPr algn="l">
              <a:lnSpc>
                <a:spcPct val="130000"/>
              </a:lnSpc>
              <a:spcAft>
                <a:spcPts val="600"/>
              </a:spcAft>
            </a:pPr>
            <a:r>
              <a:rPr sz="1000" b="0" i="0">
                <a:solidFill>
                  <a:srgbClr val="1A1F2E"/>
                </a:solidFill>
                <a:latin typeface="Consolas"/>
              </a:rPr>
              <a:t>severity 2
conf. 0.71</a:t>
            </a:r>
          </a:p>
        </p:txBody>
      </p:sp>
      <p:sp>
        <p:nvSpPr>
          <p:cNvPr id="45" name="TextBox 44"/>
          <p:cNvSpPr txBox="1"/>
          <p:nvPr/>
        </p:nvSpPr>
        <p:spPr>
          <a:xfrm>
            <a:off x="10716768" y="3200400"/>
            <a:ext cx="1463040" cy="457200"/>
          </a:xfrm>
          <a:prstGeom prst="rect">
            <a:avLst/>
          </a:prstGeom>
          <a:noFill/>
        </p:spPr>
        <p:txBody>
          <a:bodyPr wrap="square" anchor="t" lIns="0" rIns="0" tIns="0" bIns="0">
            <a:spAutoFit/>
          </a:bodyPr>
          <a:lstStyle/>
          <a:p>
            <a:pPr algn="l">
              <a:lnSpc>
                <a:spcPct val="130000"/>
              </a:lnSpc>
              <a:spcAft>
                <a:spcPts val="600"/>
              </a:spcAft>
            </a:pPr>
            <a:r>
              <a:rPr sz="950" b="0" i="0">
                <a:solidFill>
                  <a:srgbClr val="5B6478"/>
                </a:solidFill>
                <a:latin typeface="Consolas"/>
              </a:rPr>
              <a:t>cluster 7
peak hour</a:t>
            </a:r>
          </a:p>
        </p:txBody>
      </p:sp>
      <p:cxnSp>
        <p:nvCxnSpPr>
          <p:cNvPr id="46" name="Connector 45"/>
          <p:cNvCxnSpPr/>
          <p:nvPr/>
        </p:nvCxnSpPr>
        <p:spPr>
          <a:xfrm>
            <a:off x="11356848" y="3986784"/>
            <a:ext cx="0" cy="274320"/>
          </a:xfrm>
          <a:prstGeom prst="line">
            <a:avLst/>
          </a:prstGeom>
          <a:ln w="254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658368" y="4297680"/>
            <a:ext cx="10874959" cy="1627632"/>
          </a:xfrm>
          <a:prstGeom prst="rect">
            <a:avLst/>
          </a:prstGeom>
          <a:solidFill>
            <a:srgbClr val="FDF0E2"/>
          </a:solidFill>
          <a:ln w="1905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4400" y="4443984"/>
            <a:ext cx="548640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5 · RULE ENGINE  ·  DETERMINISTIC, NO ML</a:t>
            </a:r>
          </a:p>
        </p:txBody>
      </p:sp>
      <p:sp>
        <p:nvSpPr>
          <p:cNvPr id="49" name="TextBox 48"/>
          <p:cNvSpPr txBox="1"/>
          <p:nvPr/>
        </p:nvSpPr>
        <p:spPr>
          <a:xfrm>
            <a:off x="914400" y="4754880"/>
            <a:ext cx="5120640" cy="822960"/>
          </a:xfrm>
          <a:prstGeom prst="rect">
            <a:avLst/>
          </a:prstGeom>
          <a:noFill/>
        </p:spPr>
        <p:txBody>
          <a:bodyPr wrap="square" anchor="t" lIns="0" rIns="0" tIns="0" bIns="0">
            <a:spAutoFit/>
          </a:bodyPr>
          <a:lstStyle/>
          <a:p>
            <a:pPr algn="l">
              <a:lnSpc>
                <a:spcPct val="125000"/>
              </a:lnSpc>
              <a:spcAft>
                <a:spcPts val="400"/>
              </a:spcAft>
            </a:pPr>
            <a:r>
              <a:rPr sz="1150" b="1" i="0">
                <a:solidFill>
                  <a:srgbClr val="1A1F2E"/>
                </a:solidFill>
                <a:latin typeface="Calibri"/>
              </a:rPr>
              <a:t>Base for High severity:  </a:t>
            </a:r>
            <a:r>
              <a:rPr sz="1150" b="0" i="0">
                <a:solidFill>
                  <a:srgbClr val="1A1F2E"/>
                </a:solidFill>
                <a:latin typeface="Consolas"/>
              </a:rPr>
              <a:t>8–14 officers</a:t>
            </a:r>
          </a:p>
          <a:p>
            <a:pPr algn="l">
              <a:lnSpc>
                <a:spcPct val="125000"/>
              </a:lnSpc>
              <a:spcAft>
                <a:spcPts val="400"/>
              </a:spcAft>
            </a:pPr>
            <a:r>
              <a:rPr sz="1150" b="0" i="0">
                <a:solidFill>
                  <a:srgbClr val="5B6478"/>
                </a:solidFill>
                <a:latin typeface="Consolas"/>
              </a:rPr>
              <a:t>× 1.4  major corridor      × 1.25  peak window (17–21)</a:t>
            </a:r>
          </a:p>
          <a:p>
            <a:pPr algn="l">
              <a:lnSpc>
                <a:spcPct val="125000"/>
              </a:lnSpc>
              <a:spcAft>
                <a:spcPts val="400"/>
              </a:spcAft>
            </a:pPr>
            <a:r>
              <a:rPr sz="1400" b="1" i="0">
                <a:solidFill>
                  <a:srgbClr val="C26A02"/>
                </a:solidFill>
                <a:latin typeface="Consolas"/>
              </a:rPr>
              <a:t>→  14–25 officers</a:t>
            </a:r>
          </a:p>
        </p:txBody>
      </p:sp>
      <p:sp>
        <p:nvSpPr>
          <p:cNvPr id="50" name="TextBox 49"/>
          <p:cNvSpPr txBox="1"/>
          <p:nvPr/>
        </p:nvSpPr>
        <p:spPr>
          <a:xfrm>
            <a:off x="6309360" y="4773168"/>
            <a:ext cx="2194560" cy="274320"/>
          </a:xfrm>
          <a:prstGeom prst="rect">
            <a:avLst/>
          </a:prstGeom>
          <a:noFill/>
        </p:spPr>
        <p:txBody>
          <a:bodyPr wrap="square" anchor="t" lIns="0" rIns="0" tIns="0" bIns="0">
            <a:spAutoFit/>
          </a:bodyPr>
          <a:lstStyle/>
          <a:p>
            <a:pPr algn="l">
              <a:lnSpc>
                <a:spcPct val="125000"/>
              </a:lnSpc>
              <a:spcAft>
                <a:spcPts val="600"/>
              </a:spcAft>
            </a:pPr>
            <a:r>
              <a:rPr sz="1000" b="0" i="0">
                <a:solidFill>
                  <a:srgbClr val="5B6478"/>
                </a:solidFill>
                <a:latin typeface="Calibri"/>
              </a:rPr>
              <a:t>Delay estimate</a:t>
            </a:r>
          </a:p>
        </p:txBody>
      </p:sp>
      <p:sp>
        <p:nvSpPr>
          <p:cNvPr id="51" name="TextBox 50"/>
          <p:cNvSpPr txBox="1"/>
          <p:nvPr/>
        </p:nvSpPr>
        <p:spPr>
          <a:xfrm>
            <a:off x="8549640" y="4773168"/>
            <a:ext cx="3017520" cy="274320"/>
          </a:xfrm>
          <a:prstGeom prst="rect">
            <a:avLst/>
          </a:prstGeom>
          <a:noFill/>
        </p:spPr>
        <p:txBody>
          <a:bodyPr wrap="square" anchor="t" lIns="0" rIns="0" tIns="0" bIns="0">
            <a:spAutoFit/>
          </a:bodyPr>
          <a:lstStyle/>
          <a:p>
            <a:pPr algn="l">
              <a:lnSpc>
                <a:spcPct val="125000"/>
              </a:lnSpc>
              <a:spcAft>
                <a:spcPts val="600"/>
              </a:spcAft>
            </a:pPr>
            <a:r>
              <a:rPr sz="1000" b="1" i="0">
                <a:solidFill>
                  <a:srgbClr val="1A1F2E"/>
                </a:solidFill>
                <a:latin typeface="Calibri"/>
              </a:rPr>
              <a:t>60 minutes</a:t>
            </a:r>
          </a:p>
        </p:txBody>
      </p:sp>
      <p:sp>
        <p:nvSpPr>
          <p:cNvPr id="52" name="TextBox 51"/>
          <p:cNvSpPr txBox="1"/>
          <p:nvPr/>
        </p:nvSpPr>
        <p:spPr>
          <a:xfrm>
            <a:off x="6309360" y="5065776"/>
            <a:ext cx="2194560" cy="274320"/>
          </a:xfrm>
          <a:prstGeom prst="rect">
            <a:avLst/>
          </a:prstGeom>
          <a:noFill/>
        </p:spPr>
        <p:txBody>
          <a:bodyPr wrap="square" anchor="t" lIns="0" rIns="0" tIns="0" bIns="0">
            <a:spAutoFit/>
          </a:bodyPr>
          <a:lstStyle/>
          <a:p>
            <a:pPr algn="l">
              <a:lnSpc>
                <a:spcPct val="125000"/>
              </a:lnSpc>
              <a:spcAft>
                <a:spcPts val="600"/>
              </a:spcAft>
            </a:pPr>
            <a:r>
              <a:rPr sz="1000" b="0" i="0">
                <a:solidFill>
                  <a:srgbClr val="5B6478"/>
                </a:solidFill>
                <a:latin typeface="Calibri"/>
              </a:rPr>
              <a:t>Barricading</a:t>
            </a:r>
          </a:p>
        </p:txBody>
      </p:sp>
      <p:sp>
        <p:nvSpPr>
          <p:cNvPr id="53" name="TextBox 52"/>
          <p:cNvSpPr txBox="1"/>
          <p:nvPr/>
        </p:nvSpPr>
        <p:spPr>
          <a:xfrm>
            <a:off x="8549640" y="5065776"/>
            <a:ext cx="3017520" cy="274320"/>
          </a:xfrm>
          <a:prstGeom prst="rect">
            <a:avLst/>
          </a:prstGeom>
          <a:noFill/>
        </p:spPr>
        <p:txBody>
          <a:bodyPr wrap="square" anchor="t" lIns="0" rIns="0" tIns="0" bIns="0">
            <a:spAutoFit/>
          </a:bodyPr>
          <a:lstStyle/>
          <a:p>
            <a:pPr algn="l">
              <a:lnSpc>
                <a:spcPct val="125000"/>
              </a:lnSpc>
              <a:spcAft>
                <a:spcPts val="600"/>
              </a:spcAft>
            </a:pPr>
            <a:r>
              <a:rPr sz="1000" b="1" i="0">
                <a:solidFill>
                  <a:srgbClr val="1A1F2E"/>
                </a:solidFill>
                <a:latin typeface="Calibri"/>
              </a:rPr>
              <a:t>Full barricade, both sides, 2 marshal points</a:t>
            </a:r>
          </a:p>
        </p:txBody>
      </p:sp>
      <p:sp>
        <p:nvSpPr>
          <p:cNvPr id="54" name="TextBox 53"/>
          <p:cNvSpPr txBox="1"/>
          <p:nvPr/>
        </p:nvSpPr>
        <p:spPr>
          <a:xfrm>
            <a:off x="6309360" y="5358383"/>
            <a:ext cx="2194560" cy="274320"/>
          </a:xfrm>
          <a:prstGeom prst="rect">
            <a:avLst/>
          </a:prstGeom>
          <a:noFill/>
        </p:spPr>
        <p:txBody>
          <a:bodyPr wrap="square" anchor="t" lIns="0" rIns="0" tIns="0" bIns="0">
            <a:spAutoFit/>
          </a:bodyPr>
          <a:lstStyle/>
          <a:p>
            <a:pPr algn="l">
              <a:lnSpc>
                <a:spcPct val="125000"/>
              </a:lnSpc>
              <a:spcAft>
                <a:spcPts val="600"/>
              </a:spcAft>
            </a:pPr>
            <a:r>
              <a:rPr sz="1000" b="0" i="0">
                <a:solidFill>
                  <a:srgbClr val="5B6478"/>
                </a:solidFill>
                <a:latin typeface="Calibri"/>
              </a:rPr>
              <a:t>Diversion</a:t>
            </a:r>
          </a:p>
        </p:txBody>
      </p:sp>
      <p:sp>
        <p:nvSpPr>
          <p:cNvPr id="55" name="TextBox 54"/>
          <p:cNvSpPr txBox="1"/>
          <p:nvPr/>
        </p:nvSpPr>
        <p:spPr>
          <a:xfrm>
            <a:off x="8549640" y="5358383"/>
            <a:ext cx="3017520" cy="274320"/>
          </a:xfrm>
          <a:prstGeom prst="rect">
            <a:avLst/>
          </a:prstGeom>
          <a:noFill/>
        </p:spPr>
        <p:txBody>
          <a:bodyPr wrap="square" anchor="t" lIns="0" rIns="0" tIns="0" bIns="0">
            <a:spAutoFit/>
          </a:bodyPr>
          <a:lstStyle/>
          <a:p>
            <a:pPr algn="l">
              <a:lnSpc>
                <a:spcPct val="125000"/>
              </a:lnSpc>
              <a:spcAft>
                <a:spcPts val="600"/>
              </a:spcAft>
            </a:pPr>
            <a:r>
              <a:rPr sz="1000" b="1" i="0">
                <a:solidFill>
                  <a:srgbClr val="1A1F2E"/>
                </a:solidFill>
                <a:latin typeface="Calibri"/>
              </a:rPr>
              <a:t>Mandatory alternate route + digital signage</a:t>
            </a:r>
          </a:p>
        </p:txBody>
      </p:sp>
      <p:sp>
        <p:nvSpPr>
          <p:cNvPr id="56" name="TextBox 55"/>
          <p:cNvSpPr txBox="1"/>
          <p:nvPr/>
        </p:nvSpPr>
        <p:spPr>
          <a:xfrm>
            <a:off x="6309360" y="5650992"/>
            <a:ext cx="2194560" cy="274320"/>
          </a:xfrm>
          <a:prstGeom prst="rect">
            <a:avLst/>
          </a:prstGeom>
          <a:noFill/>
        </p:spPr>
        <p:txBody>
          <a:bodyPr wrap="square" anchor="t" lIns="0" rIns="0" tIns="0" bIns="0">
            <a:spAutoFit/>
          </a:bodyPr>
          <a:lstStyle/>
          <a:p>
            <a:pPr algn="l">
              <a:lnSpc>
                <a:spcPct val="125000"/>
              </a:lnSpc>
              <a:spcAft>
                <a:spcPts val="600"/>
              </a:spcAft>
            </a:pPr>
            <a:r>
              <a:rPr sz="1000" b="0" i="0">
                <a:solidFill>
                  <a:srgbClr val="5B6478"/>
                </a:solidFill>
                <a:latin typeface="Calibri"/>
              </a:rPr>
              <a:t>Cause rule (accident ≥ High)</a:t>
            </a:r>
          </a:p>
        </p:txBody>
      </p:sp>
      <p:sp>
        <p:nvSpPr>
          <p:cNvPr id="57" name="TextBox 56"/>
          <p:cNvSpPr txBox="1"/>
          <p:nvPr/>
        </p:nvSpPr>
        <p:spPr>
          <a:xfrm>
            <a:off x="8549640" y="5650992"/>
            <a:ext cx="3017520" cy="274320"/>
          </a:xfrm>
          <a:prstGeom prst="rect">
            <a:avLst/>
          </a:prstGeom>
          <a:noFill/>
        </p:spPr>
        <p:txBody>
          <a:bodyPr wrap="square" anchor="t" lIns="0" rIns="0" tIns="0" bIns="0">
            <a:spAutoFit/>
          </a:bodyPr>
          <a:lstStyle/>
          <a:p>
            <a:pPr algn="l">
              <a:lnSpc>
                <a:spcPct val="125000"/>
              </a:lnSpc>
              <a:spcAft>
                <a:spcPts val="600"/>
              </a:spcAft>
            </a:pPr>
            <a:r>
              <a:rPr sz="1000" b="1" i="0">
                <a:solidFill>
                  <a:srgbClr val="1A1F2E"/>
                </a:solidFill>
                <a:latin typeface="Calibri"/>
              </a:rPr>
              <a:t>Keep ambulance lane open · trauma centre on standby</a:t>
            </a:r>
          </a:p>
        </p:txBody>
      </p:sp>
      <p:sp>
        <p:nvSpPr>
          <p:cNvPr id="58" name="Rectangle 57"/>
          <p:cNvSpPr/>
          <p:nvPr/>
        </p:nvSpPr>
        <p:spPr>
          <a:xfrm>
            <a:off x="658368" y="5980176"/>
            <a:ext cx="10874959" cy="420624"/>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6112" y="6117336"/>
            <a:ext cx="10399471" cy="146304"/>
          </a:xfrm>
          <a:prstGeom prst="rect">
            <a:avLst/>
          </a:prstGeom>
          <a:noFill/>
        </p:spPr>
        <p:txBody>
          <a:bodyPr wrap="square" anchor="t" lIns="0" rIns="0" tIns="0" bIns="0">
            <a:spAutoFit/>
          </a:bodyPr>
          <a:lstStyle/>
          <a:p>
            <a:pPr algn="l">
              <a:lnSpc>
                <a:spcPct val="126000"/>
              </a:lnSpc>
              <a:spcAft>
                <a:spcPts val="600"/>
              </a:spcAft>
            </a:pPr>
            <a:r>
              <a:rPr sz="1150" b="1" i="0">
                <a:solidFill>
                  <a:srgbClr val="1A1F2E"/>
                </a:solidFill>
                <a:latin typeface="Calibri"/>
              </a:rPr>
              <a:t>End to end:  </a:t>
            </a:r>
            <a:r>
              <a:rPr sz="1150" b="0" i="0">
                <a:solidFill>
                  <a:srgbClr val="1A1F2E"/>
                </a:solidFill>
                <a:latin typeface="Calibri"/>
              </a:rPr>
              <a:t>a raw event description becomes a severity class, a confidence, and a concrete deployment plan — in a single API call.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CHAPTERS 5–6  ·  SYSTEM ARCHITECTURE</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Backend Structure &amp; Request Flow</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17</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316736"/>
            <a:ext cx="3520440" cy="1051560"/>
          </a:xfrm>
          <a:prstGeom prst="rect">
            <a:avLst/>
          </a:prstGeom>
          <a:solidFill>
            <a:srgbClr val="E4EDF6"/>
          </a:solidFill>
          <a:ln w="1905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463040"/>
            <a:ext cx="2377440" cy="274320"/>
          </a:xfrm>
          <a:prstGeom prst="rect">
            <a:avLst/>
          </a:prstGeom>
          <a:noFill/>
        </p:spPr>
        <p:txBody>
          <a:bodyPr wrap="square" anchor="t" lIns="0" rIns="0" tIns="0" bIns="0">
            <a:spAutoFit/>
          </a:bodyPr>
          <a:lstStyle/>
          <a:p>
            <a:pPr algn="l">
              <a:lnSpc>
                <a:spcPct val="125000"/>
              </a:lnSpc>
              <a:spcAft>
                <a:spcPts val="600"/>
              </a:spcAft>
            </a:pPr>
            <a:r>
              <a:rPr sz="1400" b="1" i="0">
                <a:solidFill>
                  <a:srgbClr val="1A1F2E"/>
                </a:solidFill>
                <a:latin typeface="Calibri"/>
              </a:rPr>
              <a:t>Browser</a:t>
            </a:r>
          </a:p>
        </p:txBody>
      </p:sp>
      <p:sp>
        <p:nvSpPr>
          <p:cNvPr id="11" name="TextBox 10"/>
          <p:cNvSpPr txBox="1"/>
          <p:nvPr/>
        </p:nvSpPr>
        <p:spPr>
          <a:xfrm>
            <a:off x="859536" y="1773936"/>
            <a:ext cx="3108960" cy="50292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Next.js 16 · React
TypeScript · Tailwind</a:t>
            </a:r>
          </a:p>
        </p:txBody>
      </p:sp>
      <p:sp>
        <p:nvSpPr>
          <p:cNvPr id="12" name="TextBox 11"/>
          <p:cNvSpPr txBox="1"/>
          <p:nvPr/>
        </p:nvSpPr>
        <p:spPr>
          <a:xfrm>
            <a:off x="3355848" y="1463040"/>
            <a:ext cx="640080" cy="274320"/>
          </a:xfrm>
          <a:prstGeom prst="rect">
            <a:avLst/>
          </a:prstGeom>
          <a:noFill/>
        </p:spPr>
        <p:txBody>
          <a:bodyPr wrap="square" anchor="t" lIns="0" rIns="0" tIns="0" bIns="0">
            <a:spAutoFit/>
          </a:bodyPr>
          <a:lstStyle/>
          <a:p>
            <a:pPr algn="r">
              <a:lnSpc>
                <a:spcPct val="125000"/>
              </a:lnSpc>
              <a:spcAft>
                <a:spcPts val="600"/>
              </a:spcAft>
            </a:pPr>
            <a:r>
              <a:rPr sz="1100" b="1" i="0">
                <a:solidFill>
                  <a:srgbClr val="1A1F2E"/>
                </a:solidFill>
                <a:latin typeface="Consolas"/>
              </a:rPr>
              <a:t>:3000</a:t>
            </a:r>
          </a:p>
        </p:txBody>
      </p:sp>
      <p:cxnSp>
        <p:nvCxnSpPr>
          <p:cNvPr id="13" name="Connector 12"/>
          <p:cNvCxnSpPr/>
          <p:nvPr/>
        </p:nvCxnSpPr>
        <p:spPr>
          <a:xfrm>
            <a:off x="4197096" y="1828800"/>
            <a:ext cx="374904" cy="0"/>
          </a:xfrm>
          <a:prstGeom prst="line">
            <a:avLst/>
          </a:prstGeom>
          <a:ln w="254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608576" y="1316736"/>
            <a:ext cx="3520440" cy="1051560"/>
          </a:xfrm>
          <a:prstGeom prst="rect">
            <a:avLst/>
          </a:prstGeom>
          <a:solidFill>
            <a:srgbClr val="E8F1E9"/>
          </a:solidFill>
          <a:ln w="19050">
            <a:solidFill>
              <a:srgbClr val="9CC0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09744" y="1463040"/>
            <a:ext cx="2377440" cy="274320"/>
          </a:xfrm>
          <a:prstGeom prst="rect">
            <a:avLst/>
          </a:prstGeom>
          <a:noFill/>
        </p:spPr>
        <p:txBody>
          <a:bodyPr wrap="square" anchor="t" lIns="0" rIns="0" tIns="0" bIns="0">
            <a:spAutoFit/>
          </a:bodyPr>
          <a:lstStyle/>
          <a:p>
            <a:pPr algn="l">
              <a:lnSpc>
                <a:spcPct val="125000"/>
              </a:lnSpc>
              <a:spcAft>
                <a:spcPts val="600"/>
              </a:spcAft>
            </a:pPr>
            <a:r>
              <a:rPr sz="1400" b="1" i="0">
                <a:solidFill>
                  <a:srgbClr val="1A1F2E"/>
                </a:solidFill>
                <a:latin typeface="Calibri"/>
              </a:rPr>
              <a:t>API layer</a:t>
            </a:r>
          </a:p>
        </p:txBody>
      </p:sp>
      <p:sp>
        <p:nvSpPr>
          <p:cNvPr id="16" name="TextBox 15"/>
          <p:cNvSpPr txBox="1"/>
          <p:nvPr/>
        </p:nvSpPr>
        <p:spPr>
          <a:xfrm>
            <a:off x="4809744" y="1773936"/>
            <a:ext cx="3108960" cy="50292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Go 1.26 · Gin
routing · CORS · validation</a:t>
            </a:r>
          </a:p>
        </p:txBody>
      </p:sp>
      <p:sp>
        <p:nvSpPr>
          <p:cNvPr id="17" name="TextBox 16"/>
          <p:cNvSpPr txBox="1"/>
          <p:nvPr/>
        </p:nvSpPr>
        <p:spPr>
          <a:xfrm>
            <a:off x="7306056" y="1463040"/>
            <a:ext cx="640080" cy="274320"/>
          </a:xfrm>
          <a:prstGeom prst="rect">
            <a:avLst/>
          </a:prstGeom>
          <a:noFill/>
        </p:spPr>
        <p:txBody>
          <a:bodyPr wrap="square" anchor="t" lIns="0" rIns="0" tIns="0" bIns="0">
            <a:spAutoFit/>
          </a:bodyPr>
          <a:lstStyle/>
          <a:p>
            <a:pPr algn="r">
              <a:lnSpc>
                <a:spcPct val="125000"/>
              </a:lnSpc>
              <a:spcAft>
                <a:spcPts val="600"/>
              </a:spcAft>
            </a:pPr>
            <a:r>
              <a:rPr sz="1100" b="1" i="0">
                <a:solidFill>
                  <a:srgbClr val="1A1F2E"/>
                </a:solidFill>
                <a:latin typeface="Consolas"/>
              </a:rPr>
              <a:t>:8080</a:t>
            </a:r>
          </a:p>
        </p:txBody>
      </p:sp>
      <p:cxnSp>
        <p:nvCxnSpPr>
          <p:cNvPr id="18" name="Connector 17"/>
          <p:cNvCxnSpPr/>
          <p:nvPr/>
        </p:nvCxnSpPr>
        <p:spPr>
          <a:xfrm>
            <a:off x="8147304" y="1828800"/>
            <a:ext cx="374904" cy="0"/>
          </a:xfrm>
          <a:prstGeom prst="line">
            <a:avLst/>
          </a:prstGeom>
          <a:ln w="25400">
            <a:solidFill>
              <a:srgbClr val="C26A02"/>
            </a:solidFill>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558784" y="1316736"/>
            <a:ext cx="3520440" cy="1051560"/>
          </a:xfrm>
          <a:prstGeom prst="rect">
            <a:avLst/>
          </a:prstGeom>
          <a:solidFill>
            <a:srgbClr val="FDF0E2"/>
          </a:solidFill>
          <a:ln w="1905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59952" y="1463040"/>
            <a:ext cx="2377440" cy="274320"/>
          </a:xfrm>
          <a:prstGeom prst="rect">
            <a:avLst/>
          </a:prstGeom>
          <a:noFill/>
        </p:spPr>
        <p:txBody>
          <a:bodyPr wrap="square" anchor="t" lIns="0" rIns="0" tIns="0" bIns="0">
            <a:spAutoFit/>
          </a:bodyPr>
          <a:lstStyle/>
          <a:p>
            <a:pPr algn="l">
              <a:lnSpc>
                <a:spcPct val="125000"/>
              </a:lnSpc>
              <a:spcAft>
                <a:spcPts val="600"/>
              </a:spcAft>
            </a:pPr>
            <a:r>
              <a:rPr sz="1400" b="1" i="0">
                <a:solidFill>
                  <a:srgbClr val="1A1F2E"/>
                </a:solidFill>
                <a:latin typeface="Calibri"/>
              </a:rPr>
              <a:t>Inference sidecar</a:t>
            </a:r>
          </a:p>
        </p:txBody>
      </p:sp>
      <p:sp>
        <p:nvSpPr>
          <p:cNvPr id="21" name="TextBox 20"/>
          <p:cNvSpPr txBox="1"/>
          <p:nvPr/>
        </p:nvSpPr>
        <p:spPr>
          <a:xfrm>
            <a:off x="8759952" y="1773936"/>
            <a:ext cx="3108960" cy="502920"/>
          </a:xfrm>
          <a:prstGeom prst="rect">
            <a:avLst/>
          </a:prstGeom>
          <a:noFill/>
        </p:spPr>
        <p:txBody>
          <a:bodyPr wrap="square" anchor="t" lIns="0" rIns="0" tIns="0" bIns="0">
            <a:spAutoFit/>
          </a:bodyPr>
          <a:lstStyle/>
          <a:p>
            <a:pPr algn="l">
              <a:lnSpc>
                <a:spcPct val="122000"/>
              </a:lnSpc>
              <a:spcAft>
                <a:spcPts val="600"/>
              </a:spcAft>
            </a:pPr>
            <a:r>
              <a:rPr sz="1050" b="0" i="0">
                <a:solidFill>
                  <a:srgbClr val="5B6478"/>
                </a:solidFill>
                <a:latin typeface="Calibri"/>
              </a:rPr>
              <a:t>Python · FastAPI
model bundle in memory</a:t>
            </a:r>
          </a:p>
        </p:txBody>
      </p:sp>
      <p:sp>
        <p:nvSpPr>
          <p:cNvPr id="22" name="TextBox 21"/>
          <p:cNvSpPr txBox="1"/>
          <p:nvPr/>
        </p:nvSpPr>
        <p:spPr>
          <a:xfrm>
            <a:off x="11256264" y="1463040"/>
            <a:ext cx="640080" cy="274320"/>
          </a:xfrm>
          <a:prstGeom prst="rect">
            <a:avLst/>
          </a:prstGeom>
          <a:noFill/>
        </p:spPr>
        <p:txBody>
          <a:bodyPr wrap="square" anchor="t" lIns="0" rIns="0" tIns="0" bIns="0">
            <a:spAutoFit/>
          </a:bodyPr>
          <a:lstStyle/>
          <a:p>
            <a:pPr algn="r">
              <a:lnSpc>
                <a:spcPct val="125000"/>
              </a:lnSpc>
              <a:spcAft>
                <a:spcPts val="600"/>
              </a:spcAft>
            </a:pPr>
            <a:r>
              <a:rPr sz="1100" b="1" i="0">
                <a:solidFill>
                  <a:srgbClr val="1A1F2E"/>
                </a:solidFill>
                <a:latin typeface="Consolas"/>
              </a:rPr>
              <a:t>:8001</a:t>
            </a:r>
          </a:p>
        </p:txBody>
      </p:sp>
      <p:sp>
        <p:nvSpPr>
          <p:cNvPr id="23" name="TextBox 22"/>
          <p:cNvSpPr txBox="1"/>
          <p:nvPr/>
        </p:nvSpPr>
        <p:spPr>
          <a:xfrm>
            <a:off x="658368" y="2542032"/>
            <a:ext cx="585216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REQUEST LIFECYCLE  ·  POST /api/predict</a:t>
            </a:r>
          </a:p>
        </p:txBody>
      </p:sp>
      <p:sp>
        <p:nvSpPr>
          <p:cNvPr id="24" name="Rectangle 23"/>
          <p:cNvSpPr/>
          <p:nvPr/>
        </p:nvSpPr>
        <p:spPr>
          <a:xfrm>
            <a:off x="658368" y="2834640"/>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2834640"/>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1</a:t>
            </a:r>
          </a:p>
        </p:txBody>
      </p:sp>
      <p:sp>
        <p:nvSpPr>
          <p:cNvPr id="26" name="TextBox 25"/>
          <p:cNvSpPr txBox="1"/>
          <p:nvPr/>
        </p:nvSpPr>
        <p:spPr>
          <a:xfrm>
            <a:off x="1097280" y="2843784"/>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Browser POSTs event attributes</a:t>
            </a:r>
          </a:p>
        </p:txBody>
      </p:sp>
      <p:sp>
        <p:nvSpPr>
          <p:cNvPr id="27" name="TextBox 26"/>
          <p:cNvSpPr txBox="1"/>
          <p:nvPr/>
        </p:nvSpPr>
        <p:spPr>
          <a:xfrm>
            <a:off x="4270248" y="2862072"/>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lat/long · cause · time</a:t>
            </a:r>
          </a:p>
        </p:txBody>
      </p:sp>
      <p:sp>
        <p:nvSpPr>
          <p:cNvPr id="28" name="Rectangle 27"/>
          <p:cNvSpPr/>
          <p:nvPr/>
        </p:nvSpPr>
        <p:spPr>
          <a:xfrm>
            <a:off x="658368" y="3319272"/>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319272"/>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2</a:t>
            </a:r>
          </a:p>
        </p:txBody>
      </p:sp>
      <p:sp>
        <p:nvSpPr>
          <p:cNvPr id="30" name="TextBox 29"/>
          <p:cNvSpPr txBox="1"/>
          <p:nvPr/>
        </p:nvSpPr>
        <p:spPr>
          <a:xfrm>
            <a:off x="1097280" y="3328415"/>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Gin handler validates &amp; binds JSON</a:t>
            </a:r>
          </a:p>
        </p:txBody>
      </p:sp>
      <p:sp>
        <p:nvSpPr>
          <p:cNvPr id="31" name="TextBox 30"/>
          <p:cNvSpPr txBox="1"/>
          <p:nvPr/>
        </p:nvSpPr>
        <p:spPr>
          <a:xfrm>
            <a:off x="4270248" y="3346703"/>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handlers/predict.go</a:t>
            </a:r>
          </a:p>
        </p:txBody>
      </p:sp>
      <p:sp>
        <p:nvSpPr>
          <p:cNvPr id="32" name="Rectangle 31"/>
          <p:cNvSpPr/>
          <p:nvPr/>
        </p:nvSpPr>
        <p:spPr>
          <a:xfrm>
            <a:off x="658368" y="3803904"/>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3803904"/>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3</a:t>
            </a:r>
          </a:p>
        </p:txBody>
      </p:sp>
      <p:sp>
        <p:nvSpPr>
          <p:cNvPr id="34" name="TextBox 33"/>
          <p:cNvSpPr txBox="1"/>
          <p:nvPr/>
        </p:nvSpPr>
        <p:spPr>
          <a:xfrm>
            <a:off x="1097280" y="3813048"/>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Go forwards to sidecar /infer</a:t>
            </a:r>
          </a:p>
        </p:txBody>
      </p:sp>
      <p:sp>
        <p:nvSpPr>
          <p:cNvPr id="35" name="TextBox 34"/>
          <p:cNvSpPr txBox="1"/>
          <p:nvPr/>
        </p:nvSpPr>
        <p:spPr>
          <a:xfrm>
            <a:off x="4270248" y="3831336"/>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5 s timeout</a:t>
            </a:r>
          </a:p>
        </p:txBody>
      </p:sp>
      <p:sp>
        <p:nvSpPr>
          <p:cNvPr id="36" name="Rectangle 35"/>
          <p:cNvSpPr/>
          <p:nvPr/>
        </p:nvSpPr>
        <p:spPr>
          <a:xfrm>
            <a:off x="658368" y="4288536"/>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4288536"/>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4</a:t>
            </a:r>
          </a:p>
        </p:txBody>
      </p:sp>
      <p:sp>
        <p:nvSpPr>
          <p:cNvPr id="38" name="TextBox 37"/>
          <p:cNvSpPr txBox="1"/>
          <p:nvPr/>
        </p:nvSpPr>
        <p:spPr>
          <a:xfrm>
            <a:off x="1097280" y="4297680"/>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Sidecar rebuilds the feature vector</a:t>
            </a:r>
          </a:p>
        </p:txBody>
      </p:sp>
      <p:sp>
        <p:nvSpPr>
          <p:cNvPr id="39" name="TextBox 38"/>
          <p:cNvSpPr txBox="1"/>
          <p:nvPr/>
        </p:nvSpPr>
        <p:spPr>
          <a:xfrm>
            <a:off x="4270248" y="4315968"/>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encoders · scaler · K-Means</a:t>
            </a:r>
          </a:p>
        </p:txBody>
      </p:sp>
      <p:sp>
        <p:nvSpPr>
          <p:cNvPr id="40" name="Rectangle 39"/>
          <p:cNvSpPr/>
          <p:nvPr/>
        </p:nvSpPr>
        <p:spPr>
          <a:xfrm>
            <a:off x="658368" y="4773168"/>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4773168"/>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5</a:t>
            </a:r>
          </a:p>
        </p:txBody>
      </p:sp>
      <p:sp>
        <p:nvSpPr>
          <p:cNvPr id="42" name="TextBox 41"/>
          <p:cNvSpPr txBox="1"/>
          <p:nvPr/>
        </p:nvSpPr>
        <p:spPr>
          <a:xfrm>
            <a:off x="1097280" y="4782312"/>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Base models → meta-learner</a:t>
            </a:r>
          </a:p>
        </p:txBody>
      </p:sp>
      <p:sp>
        <p:nvSpPr>
          <p:cNvPr id="43" name="TextBox 42"/>
          <p:cNvSpPr txBox="1"/>
          <p:nvPr/>
        </p:nvSpPr>
        <p:spPr>
          <a:xfrm>
            <a:off x="4270248" y="4800600"/>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16 stacked probabilities</a:t>
            </a:r>
          </a:p>
        </p:txBody>
      </p:sp>
      <p:sp>
        <p:nvSpPr>
          <p:cNvPr id="44" name="Rectangle 43"/>
          <p:cNvSpPr/>
          <p:nvPr/>
        </p:nvSpPr>
        <p:spPr>
          <a:xfrm>
            <a:off x="658368" y="5257800"/>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 y="5257800"/>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6</a:t>
            </a:r>
          </a:p>
        </p:txBody>
      </p:sp>
      <p:sp>
        <p:nvSpPr>
          <p:cNvPr id="46" name="TextBox 45"/>
          <p:cNvSpPr txBox="1"/>
          <p:nvPr/>
        </p:nvSpPr>
        <p:spPr>
          <a:xfrm>
            <a:off x="1097280" y="5266944"/>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Rule engine attaches resources</a:t>
            </a:r>
          </a:p>
        </p:txBody>
      </p:sp>
      <p:sp>
        <p:nvSpPr>
          <p:cNvPr id="47" name="TextBox 46"/>
          <p:cNvSpPr txBox="1"/>
          <p:nvPr/>
        </p:nvSpPr>
        <p:spPr>
          <a:xfrm>
            <a:off x="4270248" y="5285232"/>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manpower · barricading</a:t>
            </a:r>
          </a:p>
        </p:txBody>
      </p:sp>
      <p:sp>
        <p:nvSpPr>
          <p:cNvPr id="48" name="Rectangle 47"/>
          <p:cNvSpPr/>
          <p:nvPr/>
        </p:nvSpPr>
        <p:spPr>
          <a:xfrm>
            <a:off x="658368" y="5742432"/>
            <a:ext cx="310896" cy="310896"/>
          </a:xfrm>
          <a:prstGeom prst="rect">
            <a:avLst/>
          </a:prstGeom>
          <a:solidFill>
            <a:srgbClr val="1A1F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5742432"/>
            <a:ext cx="310896" cy="310896"/>
          </a:xfrm>
          <a:prstGeom prst="rect">
            <a:avLst/>
          </a:prstGeom>
          <a:noFill/>
        </p:spPr>
        <p:txBody>
          <a:bodyPr wrap="square" anchor="ctr" lIns="0" rIns="0" tIns="0" bIns="0">
            <a:spAutoFit/>
          </a:bodyPr>
          <a:lstStyle/>
          <a:p>
            <a:pPr algn="ctr">
              <a:lnSpc>
                <a:spcPct val="125000"/>
              </a:lnSpc>
              <a:spcAft>
                <a:spcPts val="600"/>
              </a:spcAft>
            </a:pPr>
            <a:r>
              <a:rPr sz="1050" b="1" i="0">
                <a:solidFill>
                  <a:srgbClr val="FFFFFF"/>
                </a:solidFill>
                <a:latin typeface="Consolas"/>
              </a:rPr>
              <a:t>7</a:t>
            </a:r>
          </a:p>
        </p:txBody>
      </p:sp>
      <p:sp>
        <p:nvSpPr>
          <p:cNvPr id="50" name="TextBox 49"/>
          <p:cNvSpPr txBox="1"/>
          <p:nvPr/>
        </p:nvSpPr>
        <p:spPr>
          <a:xfrm>
            <a:off x="1097280" y="5751576"/>
            <a:ext cx="2971800" cy="274320"/>
          </a:xfrm>
          <a:prstGeom prst="rect">
            <a:avLst/>
          </a:prstGeom>
          <a:noFill/>
        </p:spPr>
        <p:txBody>
          <a:bodyPr wrap="square" anchor="t" lIns="0" rIns="0" tIns="0" bIns="0">
            <a:spAutoFit/>
          </a:bodyPr>
          <a:lstStyle/>
          <a:p>
            <a:pPr algn="l">
              <a:lnSpc>
                <a:spcPct val="125000"/>
              </a:lnSpc>
              <a:spcAft>
                <a:spcPts val="600"/>
              </a:spcAft>
            </a:pPr>
            <a:r>
              <a:rPr sz="1150" b="1" i="0">
                <a:solidFill>
                  <a:srgbClr val="1A1F2E"/>
                </a:solidFill>
                <a:latin typeface="Calibri"/>
              </a:rPr>
              <a:t>JSON returns up the chain</a:t>
            </a:r>
          </a:p>
        </p:txBody>
      </p:sp>
      <p:sp>
        <p:nvSpPr>
          <p:cNvPr id="51" name="TextBox 50"/>
          <p:cNvSpPr txBox="1"/>
          <p:nvPr/>
        </p:nvSpPr>
        <p:spPr>
          <a:xfrm>
            <a:off x="4270248" y="5769864"/>
            <a:ext cx="2286000" cy="274320"/>
          </a:xfrm>
          <a:prstGeom prst="rect">
            <a:avLst/>
          </a:prstGeom>
          <a:noFill/>
        </p:spPr>
        <p:txBody>
          <a:bodyPr wrap="square" anchor="t" lIns="0" rIns="0" tIns="0" bIns="0">
            <a:spAutoFit/>
          </a:bodyPr>
          <a:lstStyle/>
          <a:p>
            <a:pPr algn="l">
              <a:lnSpc>
                <a:spcPct val="125000"/>
              </a:lnSpc>
              <a:spcAft>
                <a:spcPts val="600"/>
              </a:spcAft>
            </a:pPr>
            <a:r>
              <a:rPr sz="900" b="0" i="0">
                <a:solidFill>
                  <a:srgbClr val="5B6478"/>
                </a:solidFill>
                <a:latin typeface="Consolas"/>
              </a:rPr>
              <a:t>severity · confidence</a:t>
            </a:r>
          </a:p>
        </p:txBody>
      </p:sp>
      <p:sp>
        <p:nvSpPr>
          <p:cNvPr id="52" name="Rectangle 51"/>
          <p:cNvSpPr/>
          <p:nvPr/>
        </p:nvSpPr>
        <p:spPr>
          <a:xfrm>
            <a:off x="6720840" y="2542032"/>
            <a:ext cx="4812487" cy="1572768"/>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49440" y="2688336"/>
            <a:ext cx="429768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API SURFACE</a:t>
            </a:r>
          </a:p>
        </p:txBody>
      </p:sp>
      <p:sp>
        <p:nvSpPr>
          <p:cNvPr id="54" name="TextBox 53"/>
          <p:cNvSpPr txBox="1"/>
          <p:nvPr/>
        </p:nvSpPr>
        <p:spPr>
          <a:xfrm>
            <a:off x="6949440" y="2980944"/>
            <a:ext cx="54864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1B7F4B"/>
                </a:solidFill>
                <a:latin typeface="Consolas"/>
              </a:rPr>
              <a:t>POST</a:t>
            </a:r>
          </a:p>
        </p:txBody>
      </p:sp>
      <p:sp>
        <p:nvSpPr>
          <p:cNvPr id="55" name="TextBox 54"/>
          <p:cNvSpPr txBox="1"/>
          <p:nvPr/>
        </p:nvSpPr>
        <p:spPr>
          <a:xfrm>
            <a:off x="7498079" y="2980944"/>
            <a:ext cx="160020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/api/predict</a:t>
            </a:r>
          </a:p>
        </p:txBody>
      </p:sp>
      <p:sp>
        <p:nvSpPr>
          <p:cNvPr id="56" name="TextBox 55"/>
          <p:cNvSpPr txBox="1"/>
          <p:nvPr/>
        </p:nvSpPr>
        <p:spPr>
          <a:xfrm>
            <a:off x="9098280" y="2980944"/>
            <a:ext cx="2194560" cy="219456"/>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alibri"/>
              </a:rPr>
              <a:t>severity + recommendation</a:t>
            </a:r>
          </a:p>
        </p:txBody>
      </p:sp>
      <p:sp>
        <p:nvSpPr>
          <p:cNvPr id="57" name="TextBox 56"/>
          <p:cNvSpPr txBox="1"/>
          <p:nvPr/>
        </p:nvSpPr>
        <p:spPr>
          <a:xfrm>
            <a:off x="6949440" y="3246120"/>
            <a:ext cx="54864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2B598A"/>
                </a:solidFill>
                <a:latin typeface="Consolas"/>
              </a:rPr>
              <a:t>GET</a:t>
            </a:r>
          </a:p>
        </p:txBody>
      </p:sp>
      <p:sp>
        <p:nvSpPr>
          <p:cNvPr id="58" name="TextBox 57"/>
          <p:cNvSpPr txBox="1"/>
          <p:nvPr/>
        </p:nvSpPr>
        <p:spPr>
          <a:xfrm>
            <a:off x="7498079" y="3246120"/>
            <a:ext cx="160020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/api/meta</a:t>
            </a:r>
          </a:p>
        </p:txBody>
      </p:sp>
      <p:sp>
        <p:nvSpPr>
          <p:cNvPr id="59" name="TextBox 58"/>
          <p:cNvSpPr txBox="1"/>
          <p:nvPr/>
        </p:nvSpPr>
        <p:spPr>
          <a:xfrm>
            <a:off x="9098280" y="3246120"/>
            <a:ext cx="2194560" cy="219456"/>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alibri"/>
              </a:rPr>
              <a:t>corridors, stations, zones</a:t>
            </a:r>
          </a:p>
        </p:txBody>
      </p:sp>
      <p:sp>
        <p:nvSpPr>
          <p:cNvPr id="60" name="TextBox 59"/>
          <p:cNvSpPr txBox="1"/>
          <p:nvPr/>
        </p:nvSpPr>
        <p:spPr>
          <a:xfrm>
            <a:off x="6949440" y="3511296"/>
            <a:ext cx="54864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2B598A"/>
                </a:solidFill>
                <a:latin typeface="Consolas"/>
              </a:rPr>
              <a:t>GET</a:t>
            </a:r>
          </a:p>
        </p:txBody>
      </p:sp>
      <p:sp>
        <p:nvSpPr>
          <p:cNvPr id="61" name="TextBox 60"/>
          <p:cNvSpPr txBox="1"/>
          <p:nvPr/>
        </p:nvSpPr>
        <p:spPr>
          <a:xfrm>
            <a:off x="7498079" y="3511296"/>
            <a:ext cx="160020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/api/locate</a:t>
            </a:r>
          </a:p>
        </p:txBody>
      </p:sp>
      <p:sp>
        <p:nvSpPr>
          <p:cNvPr id="62" name="TextBox 61"/>
          <p:cNvSpPr txBox="1"/>
          <p:nvPr/>
        </p:nvSpPr>
        <p:spPr>
          <a:xfrm>
            <a:off x="9098280" y="3511296"/>
            <a:ext cx="2194560" cy="219456"/>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alibri"/>
              </a:rPr>
              <a:t>nearest station + cluster</a:t>
            </a:r>
          </a:p>
        </p:txBody>
      </p:sp>
      <p:sp>
        <p:nvSpPr>
          <p:cNvPr id="63" name="TextBox 62"/>
          <p:cNvSpPr txBox="1"/>
          <p:nvPr/>
        </p:nvSpPr>
        <p:spPr>
          <a:xfrm>
            <a:off x="6949440" y="3776472"/>
            <a:ext cx="54864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2B598A"/>
                </a:solidFill>
                <a:latin typeface="Consolas"/>
              </a:rPr>
              <a:t>GET</a:t>
            </a:r>
          </a:p>
        </p:txBody>
      </p:sp>
      <p:sp>
        <p:nvSpPr>
          <p:cNvPr id="64" name="TextBox 63"/>
          <p:cNvSpPr txBox="1"/>
          <p:nvPr/>
        </p:nvSpPr>
        <p:spPr>
          <a:xfrm>
            <a:off x="7498079" y="3776472"/>
            <a:ext cx="1600200" cy="219456"/>
          </a:xfrm>
          <a:prstGeom prst="rect">
            <a:avLst/>
          </a:prstGeom>
          <a:noFill/>
        </p:spPr>
        <p:txBody>
          <a:bodyPr wrap="square" anchor="t" lIns="0" rIns="0" tIns="0" bIns="0">
            <a:spAutoFit/>
          </a:bodyPr>
          <a:lstStyle/>
          <a:p>
            <a:pPr algn="l">
              <a:lnSpc>
                <a:spcPct val="125000"/>
              </a:lnSpc>
              <a:spcAft>
                <a:spcPts val="600"/>
              </a:spcAft>
            </a:pPr>
            <a:r>
              <a:rPr sz="950" b="1" i="0">
                <a:solidFill>
                  <a:srgbClr val="1A1F2E"/>
                </a:solidFill>
                <a:latin typeface="Consolas"/>
              </a:rPr>
              <a:t>/api/health</a:t>
            </a:r>
          </a:p>
        </p:txBody>
      </p:sp>
      <p:sp>
        <p:nvSpPr>
          <p:cNvPr id="65" name="TextBox 64"/>
          <p:cNvSpPr txBox="1"/>
          <p:nvPr/>
        </p:nvSpPr>
        <p:spPr>
          <a:xfrm>
            <a:off x="9098280" y="3776472"/>
            <a:ext cx="2194560" cy="219456"/>
          </a:xfrm>
          <a:prstGeom prst="rect">
            <a:avLst/>
          </a:prstGeom>
          <a:noFill/>
        </p:spPr>
        <p:txBody>
          <a:bodyPr wrap="square" anchor="t" lIns="0" rIns="0" tIns="0" bIns="0">
            <a:spAutoFit/>
          </a:bodyPr>
          <a:lstStyle/>
          <a:p>
            <a:pPr algn="l">
              <a:lnSpc>
                <a:spcPct val="125000"/>
              </a:lnSpc>
              <a:spcAft>
                <a:spcPts val="600"/>
              </a:spcAft>
            </a:pPr>
            <a:r>
              <a:rPr sz="950" b="0" i="0">
                <a:solidFill>
                  <a:srgbClr val="5B6478"/>
                </a:solidFill>
                <a:latin typeface="Calibri"/>
              </a:rPr>
              <a:t>sidecar reachability</a:t>
            </a:r>
          </a:p>
        </p:txBody>
      </p:sp>
      <p:sp>
        <p:nvSpPr>
          <p:cNvPr id="66" name="Rectangle 65"/>
          <p:cNvSpPr/>
          <p:nvPr/>
        </p:nvSpPr>
        <p:spPr>
          <a:xfrm>
            <a:off x="6720840" y="4224528"/>
            <a:ext cx="4812487" cy="1207008"/>
          </a:xfrm>
          <a:prstGeom prst="rect">
            <a:avLst/>
          </a:prstGeom>
          <a:solidFill>
            <a:srgbClr val="E4EDF6"/>
          </a:solidFill>
          <a:ln w="12700">
            <a:solidFill>
              <a:srgbClr val="A8C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949440" y="4370832"/>
            <a:ext cx="4297680" cy="237744"/>
          </a:xfrm>
          <a:prstGeom prst="rect">
            <a:avLst/>
          </a:prstGeom>
          <a:noFill/>
        </p:spPr>
        <p:txBody>
          <a:bodyPr wrap="square" anchor="t" lIns="0" rIns="0" tIns="0" bIns="0">
            <a:spAutoFit/>
          </a:bodyPr>
          <a:lstStyle/>
          <a:p>
            <a:pPr algn="l">
              <a:lnSpc>
                <a:spcPct val="125000"/>
              </a:lnSpc>
              <a:spcAft>
                <a:spcPts val="600"/>
              </a:spcAft>
            </a:pPr>
            <a:r>
              <a:rPr sz="1050" b="1" i="0">
                <a:solidFill>
                  <a:srgbClr val="2B598A"/>
                </a:solidFill>
                <a:latin typeface="Calibri"/>
              </a:rPr>
              <a:t>WHY A SEPARATE PYTHON SIDECAR?</a:t>
            </a:r>
          </a:p>
        </p:txBody>
      </p:sp>
      <p:sp>
        <p:nvSpPr>
          <p:cNvPr id="68" name="TextBox 67"/>
          <p:cNvSpPr txBox="1"/>
          <p:nvPr/>
        </p:nvSpPr>
        <p:spPr>
          <a:xfrm>
            <a:off x="6949440" y="4645152"/>
            <a:ext cx="4297680" cy="731520"/>
          </a:xfrm>
          <a:prstGeom prst="rect">
            <a:avLst/>
          </a:prstGeom>
          <a:noFill/>
        </p:spPr>
        <p:txBody>
          <a:bodyPr wrap="square" anchor="t" lIns="0" rIns="0" tIns="0" bIns="0">
            <a:spAutoFit/>
          </a:bodyPr>
          <a:lstStyle/>
          <a:p>
            <a:pPr algn="l">
              <a:lnSpc>
                <a:spcPct val="124000"/>
              </a:lnSpc>
              <a:spcAft>
                <a:spcPts val="600"/>
              </a:spcAft>
            </a:pPr>
            <a:r>
              <a:rPr sz="1050" b="0" i="0">
                <a:solidFill>
                  <a:srgbClr val="1A1F2E"/>
                </a:solidFill>
                <a:latin typeface="Calibri"/>
              </a:rPr>
              <a:t>The trained models are Python objects (LightGBM, XGBoost, scikit-learn). Go cannot load them, but handles HTTP, concurrency and validation better. Splitting the tiers keeps each in the language it is strongest in.</a:t>
            </a:r>
          </a:p>
        </p:txBody>
      </p:sp>
      <p:sp>
        <p:nvSpPr>
          <p:cNvPr id="69" name="Rectangle 68"/>
          <p:cNvSpPr/>
          <p:nvPr/>
        </p:nvSpPr>
        <p:spPr>
          <a:xfrm>
            <a:off x="6720840" y="5541264"/>
            <a:ext cx="4812487" cy="822960"/>
          </a:xfrm>
          <a:prstGeom prst="rect">
            <a:avLst/>
          </a:prstGeom>
          <a:solidFill>
            <a:srgbClr val="FDF0E2"/>
          </a:solidFill>
          <a:ln w="1270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949440" y="5678424"/>
            <a:ext cx="4355287" cy="548640"/>
          </a:xfrm>
          <a:prstGeom prst="rect">
            <a:avLst/>
          </a:prstGeom>
          <a:noFill/>
        </p:spPr>
        <p:txBody>
          <a:bodyPr wrap="square" anchor="t" lIns="0" rIns="0" tIns="0" bIns="0">
            <a:spAutoFit/>
          </a:bodyPr>
          <a:lstStyle/>
          <a:p>
            <a:pPr algn="l">
              <a:lnSpc>
                <a:spcPct val="126000"/>
              </a:lnSpc>
              <a:spcAft>
                <a:spcPts val="600"/>
              </a:spcAft>
            </a:pPr>
            <a:r>
              <a:rPr sz="1050" b="1" i="0">
                <a:solidFill>
                  <a:srgbClr val="C26A02"/>
                </a:solidFill>
                <a:latin typeface="Calibri"/>
              </a:rPr>
              <a:t>Deployment.  </a:t>
            </a:r>
            <a:r>
              <a:rPr sz="1050" b="0" i="0">
                <a:solidFill>
                  <a:srgbClr val="1A1F2E"/>
                </a:solidFill>
                <a:latin typeface="Calibri"/>
              </a:rPr>
              <a:t>Both services are containerised and orchestrated with Docker Compose; the model bundle is loaded once at sidecar startup and held in memory.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65760"/>
            <a:ext cx="9144000" cy="228600"/>
          </a:xfrm>
          <a:prstGeom prst="rect">
            <a:avLst/>
          </a:prstGeom>
          <a:noFill/>
        </p:spPr>
        <p:txBody>
          <a:bodyPr wrap="square" anchor="t" lIns="0" rIns="0" tIns="0" bIns="0">
            <a:spAutoFit/>
          </a:bodyPr>
          <a:lstStyle/>
          <a:p>
            <a:pPr algn="l">
              <a:lnSpc>
                <a:spcPct val="125000"/>
              </a:lnSpc>
              <a:spcAft>
                <a:spcPts val="600"/>
              </a:spcAft>
            </a:pPr>
            <a:r>
              <a:rPr sz="1050" b="1" i="0">
                <a:solidFill>
                  <a:srgbClr val="C26A02"/>
                </a:solidFill>
                <a:latin typeface="Calibri"/>
              </a:rPr>
              <a:t>CHAPTER 7  ·  CONCLUSION &amp; FUTURE SCOPE</a:t>
            </a:r>
          </a:p>
        </p:txBody>
      </p:sp>
      <p:sp>
        <p:nvSpPr>
          <p:cNvPr id="5" name="TextBox 4"/>
          <p:cNvSpPr txBox="1"/>
          <p:nvPr/>
        </p:nvSpPr>
        <p:spPr>
          <a:xfrm>
            <a:off x="658368" y="621792"/>
            <a:ext cx="10874959" cy="457200"/>
          </a:xfrm>
          <a:prstGeom prst="rect">
            <a:avLst/>
          </a:prstGeom>
          <a:noFill/>
        </p:spPr>
        <p:txBody>
          <a:bodyPr wrap="square" anchor="t" lIns="0" rIns="0" tIns="0" bIns="0">
            <a:spAutoFit/>
          </a:bodyPr>
          <a:lstStyle/>
          <a:p>
            <a:pPr algn="l">
              <a:lnSpc>
                <a:spcPct val="125000"/>
              </a:lnSpc>
              <a:spcAft>
                <a:spcPts val="600"/>
              </a:spcAft>
            </a:pPr>
            <a:r>
              <a:rPr sz="2700" b="1" i="0">
                <a:solidFill>
                  <a:srgbClr val="1A1F2E"/>
                </a:solidFill>
                <a:latin typeface="Calibri"/>
              </a:rPr>
              <a:t>Conclusions</a:t>
            </a:r>
          </a:p>
        </p:txBody>
      </p:sp>
      <p:sp>
        <p:nvSpPr>
          <p:cNvPr id="6" name="Rectangle 5"/>
          <p:cNvSpPr/>
          <p:nvPr/>
        </p:nvSpPr>
        <p:spPr>
          <a:xfrm>
            <a:off x="658368" y="1207008"/>
            <a:ext cx="10874959" cy="20116"/>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01807" y="6437376"/>
            <a:ext cx="731520" cy="201168"/>
          </a:xfrm>
          <a:prstGeom prst="rect">
            <a:avLst/>
          </a:prstGeom>
          <a:noFill/>
        </p:spPr>
        <p:txBody>
          <a:bodyPr wrap="square" anchor="t" lIns="0" rIns="0" tIns="0" bIns="0">
            <a:spAutoFit/>
          </a:bodyPr>
          <a:lstStyle/>
          <a:p>
            <a:pPr algn="r">
              <a:lnSpc>
                <a:spcPct val="125000"/>
              </a:lnSpc>
              <a:spcAft>
                <a:spcPts val="600"/>
              </a:spcAft>
            </a:pPr>
            <a:r>
              <a:rPr sz="1000" b="0" i="0">
                <a:solidFill>
                  <a:srgbClr val="8A93A3"/>
                </a:solidFill>
                <a:latin typeface="Calibri"/>
              </a:rPr>
              <a:t>18</a:t>
            </a:r>
          </a:p>
        </p:txBody>
      </p:sp>
      <p:sp>
        <p:nvSpPr>
          <p:cNvPr id="8" name="TextBox 7"/>
          <p:cNvSpPr txBox="1"/>
          <p:nvPr/>
        </p:nvSpPr>
        <p:spPr>
          <a:xfrm>
            <a:off x="658368" y="6437376"/>
            <a:ext cx="7772400" cy="201168"/>
          </a:xfrm>
          <a:prstGeom prst="rect">
            <a:avLst/>
          </a:prstGeom>
          <a:noFill/>
        </p:spPr>
        <p:txBody>
          <a:bodyPr wrap="square" anchor="t" lIns="0" rIns="0" tIns="0" bIns="0">
            <a:spAutoFit/>
          </a:bodyPr>
          <a:lstStyle/>
          <a:p>
            <a:pPr algn="l">
              <a:lnSpc>
                <a:spcPct val="125000"/>
              </a:lnSpc>
              <a:spcAft>
                <a:spcPts val="600"/>
              </a:spcAft>
            </a:pPr>
            <a:r>
              <a:rPr sz="900" b="0" i="0">
                <a:solidFill>
                  <a:srgbClr val="8A93A3"/>
                </a:solidFill>
                <a:latin typeface="Calibri"/>
              </a:rPr>
              <a:t>ASTRAM Gridlock  ·  Aman Kumar · Viswajit Sarak Patil · Sahil Pal</a:t>
            </a:r>
          </a:p>
        </p:txBody>
      </p:sp>
      <p:sp>
        <p:nvSpPr>
          <p:cNvPr id="9" name="Rectangle 8"/>
          <p:cNvSpPr/>
          <p:nvPr/>
        </p:nvSpPr>
        <p:spPr>
          <a:xfrm>
            <a:off x="658368" y="1490472"/>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17320"/>
            <a:ext cx="6345936" cy="658368"/>
          </a:xfrm>
          <a:prstGeom prst="rect">
            <a:avLst/>
          </a:prstGeom>
          <a:noFill/>
        </p:spPr>
        <p:txBody>
          <a:bodyPr wrap="square" anchor="t" lIns="0" rIns="0" tIns="0" bIns="0">
            <a:spAutoFit/>
          </a:bodyPr>
          <a:lstStyle/>
          <a:p>
            <a:pPr algn="l">
              <a:lnSpc>
                <a:spcPct val="122000"/>
              </a:lnSpc>
              <a:spcAft>
                <a:spcPts val="600"/>
              </a:spcAft>
            </a:pPr>
            <a:r>
              <a:rPr sz="1300" b="1" i="0">
                <a:solidFill>
                  <a:srgbClr val="1A1F2E"/>
                </a:solidFill>
                <a:latin typeface="Calibri"/>
              </a:rPr>
              <a:t>A four-class severity target was constructed  </a:t>
            </a:r>
            <a:r>
              <a:rPr sz="1300" b="0" i="0">
                <a:solidFill>
                  <a:srgbClr val="5B6478"/>
                </a:solidFill>
                <a:latin typeface="Calibri"/>
              </a:rPr>
              <a:t>from priority and closure fields, with both removed from the features to keep the task honest.</a:t>
            </a:r>
          </a:p>
        </p:txBody>
      </p:sp>
      <p:sp>
        <p:nvSpPr>
          <p:cNvPr id="11" name="Rectangle 10"/>
          <p:cNvSpPr/>
          <p:nvPr/>
        </p:nvSpPr>
        <p:spPr>
          <a:xfrm>
            <a:off x="658368" y="2148840"/>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075688"/>
            <a:ext cx="6345936" cy="658368"/>
          </a:xfrm>
          <a:prstGeom prst="rect">
            <a:avLst/>
          </a:prstGeom>
          <a:noFill/>
        </p:spPr>
        <p:txBody>
          <a:bodyPr wrap="square" anchor="t" lIns="0" rIns="0" tIns="0" bIns="0">
            <a:spAutoFit/>
          </a:bodyPr>
          <a:lstStyle/>
          <a:p>
            <a:pPr algn="l">
              <a:lnSpc>
                <a:spcPct val="122000"/>
              </a:lnSpc>
              <a:spcAft>
                <a:spcPts val="600"/>
              </a:spcAft>
            </a:pPr>
            <a:r>
              <a:rPr sz="1300" b="1" i="0">
                <a:solidFill>
                  <a:srgbClr val="1A1F2E"/>
                </a:solidFill>
                <a:latin typeface="Calibri"/>
              </a:rPr>
              <a:t>LightGBM is the best model on macro-F1 (0.6949)  </a:t>
            </a:r>
            <a:r>
              <a:rPr sz="1300" b="0" i="0">
                <a:solidFill>
                  <a:srgbClr val="5B6478"/>
                </a:solidFill>
                <a:latin typeface="Calibri"/>
              </a:rPr>
              <a:t>despite TabNet posting the highest raw accuracy — the central metric-choice result.</a:t>
            </a:r>
          </a:p>
        </p:txBody>
      </p:sp>
      <p:sp>
        <p:nvSpPr>
          <p:cNvPr id="13" name="Rectangle 12"/>
          <p:cNvSpPr/>
          <p:nvPr/>
        </p:nvSpPr>
        <p:spPr>
          <a:xfrm>
            <a:off x="658368" y="2807208"/>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2734056"/>
            <a:ext cx="6345936" cy="658368"/>
          </a:xfrm>
          <a:prstGeom prst="rect">
            <a:avLst/>
          </a:prstGeom>
          <a:noFill/>
        </p:spPr>
        <p:txBody>
          <a:bodyPr wrap="square" anchor="t" lIns="0" rIns="0" tIns="0" bIns="0">
            <a:spAutoFit/>
          </a:bodyPr>
          <a:lstStyle/>
          <a:p>
            <a:pPr algn="l">
              <a:lnSpc>
                <a:spcPct val="122000"/>
              </a:lnSpc>
              <a:spcAft>
                <a:spcPts val="600"/>
              </a:spcAft>
            </a:pPr>
            <a:r>
              <a:rPr sz="1300" b="1" i="0">
                <a:solidFill>
                  <a:srgbClr val="1A1F2E"/>
                </a:solidFill>
                <a:latin typeface="Calibri"/>
              </a:rPr>
              <a:t>Stacking did not improve on the base models  </a:t>
            </a:r>
            <a:r>
              <a:rPr sz="1300" b="0" i="0">
                <a:solidFill>
                  <a:srgbClr val="5B6478"/>
                </a:solidFill>
                <a:latin typeface="Calibri"/>
              </a:rPr>
              <a:t>posting the lowest accuracy (0.8948), reported honestly rather than omitted.</a:t>
            </a:r>
          </a:p>
        </p:txBody>
      </p:sp>
      <p:sp>
        <p:nvSpPr>
          <p:cNvPr id="15" name="Rectangle 14"/>
          <p:cNvSpPr/>
          <p:nvPr/>
        </p:nvSpPr>
        <p:spPr>
          <a:xfrm>
            <a:off x="658368" y="3465576"/>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3392424"/>
            <a:ext cx="6345936" cy="658368"/>
          </a:xfrm>
          <a:prstGeom prst="rect">
            <a:avLst/>
          </a:prstGeom>
          <a:noFill/>
        </p:spPr>
        <p:txBody>
          <a:bodyPr wrap="square" anchor="t" lIns="0" rIns="0" tIns="0" bIns="0">
            <a:spAutoFit/>
          </a:bodyPr>
          <a:lstStyle/>
          <a:p>
            <a:pPr algn="l">
              <a:lnSpc>
                <a:spcPct val="122000"/>
              </a:lnSpc>
              <a:spcAft>
                <a:spcPts val="600"/>
              </a:spcAft>
            </a:pPr>
            <a:r>
              <a:rPr sz="1300" b="1" i="0">
                <a:solidFill>
                  <a:srgbClr val="1A1F2E"/>
                </a:solidFill>
                <a:latin typeface="Calibri"/>
              </a:rPr>
              <a:t>Class weighting is what recovered rare-class recall  </a:t>
            </a:r>
            <a:r>
              <a:rPr sz="1300" b="0" i="0">
                <a:solidFill>
                  <a:srgbClr val="5B6478"/>
                </a:solidFill>
                <a:latin typeface="Calibri"/>
              </a:rPr>
              <a:t>the only two models with usable Critical recall are the two that used it.</a:t>
            </a:r>
          </a:p>
        </p:txBody>
      </p:sp>
      <p:sp>
        <p:nvSpPr>
          <p:cNvPr id="17" name="Rectangle 16"/>
          <p:cNvSpPr/>
          <p:nvPr/>
        </p:nvSpPr>
        <p:spPr>
          <a:xfrm>
            <a:off x="658368" y="4123944"/>
            <a:ext cx="68580" cy="6858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050791"/>
            <a:ext cx="6345936" cy="658368"/>
          </a:xfrm>
          <a:prstGeom prst="rect">
            <a:avLst/>
          </a:prstGeom>
          <a:noFill/>
        </p:spPr>
        <p:txBody>
          <a:bodyPr wrap="square" anchor="t" lIns="0" rIns="0" tIns="0" bIns="0">
            <a:spAutoFit/>
          </a:bodyPr>
          <a:lstStyle/>
          <a:p>
            <a:pPr algn="l">
              <a:lnSpc>
                <a:spcPct val="122000"/>
              </a:lnSpc>
              <a:spcAft>
                <a:spcPts val="600"/>
              </a:spcAft>
            </a:pPr>
            <a:r>
              <a:rPr sz="1300" b="1" i="0">
                <a:solidFill>
                  <a:srgbClr val="1A1F2E"/>
                </a:solidFill>
                <a:latin typeface="Calibri"/>
              </a:rPr>
              <a:t>The pipeline runs as a deployed service  </a:t>
            </a:r>
            <a:r>
              <a:rPr sz="1300" b="0" i="0">
                <a:solidFill>
                  <a:srgbClr val="5B6478"/>
                </a:solidFill>
                <a:latin typeface="Calibri"/>
              </a:rPr>
              <a:t>Next.js → Go/Gin → FastAPI sidecar, containerised, not left inside a notebook.</a:t>
            </a:r>
          </a:p>
        </p:txBody>
      </p:sp>
      <p:sp>
        <p:nvSpPr>
          <p:cNvPr id="19" name="Rectangle 18"/>
          <p:cNvSpPr/>
          <p:nvPr/>
        </p:nvSpPr>
        <p:spPr>
          <a:xfrm>
            <a:off x="7635240" y="1417320"/>
            <a:ext cx="3898087" cy="338328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0" y="1600200"/>
            <a:ext cx="329184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B02A37"/>
                </a:solidFill>
                <a:latin typeface="Calibri"/>
              </a:rPr>
              <a:t>LIMITATIONS</a:t>
            </a:r>
          </a:p>
        </p:txBody>
      </p:sp>
      <p:sp>
        <p:nvSpPr>
          <p:cNvPr id="21" name="TextBox 20"/>
          <p:cNvSpPr txBox="1"/>
          <p:nvPr/>
        </p:nvSpPr>
        <p:spPr>
          <a:xfrm>
            <a:off x="7863840" y="1883664"/>
            <a:ext cx="3291840" cy="1188720"/>
          </a:xfrm>
          <a:prstGeom prst="rect">
            <a:avLst/>
          </a:prstGeom>
          <a:noFill/>
        </p:spPr>
        <p:txBody>
          <a:bodyPr wrap="square" anchor="t" lIns="0" rIns="0" tIns="0" bIns="0">
            <a:spAutoFit/>
          </a:bodyPr>
          <a:lstStyle/>
          <a:p>
            <a:pPr algn="l">
              <a:lnSpc>
                <a:spcPct val="128000"/>
              </a:lnSpc>
              <a:spcAft>
                <a:spcPts val="600"/>
              </a:spcAft>
            </a:pPr>
            <a:r>
              <a:rPr sz="1100" b="0" i="0">
                <a:solidFill>
                  <a:srgbClr val="1A1F2E"/>
                </a:solidFill>
                <a:latin typeface="Calibri"/>
              </a:rPr>
              <a:t>Single city, single time period. Severity is a proxy built from operational fields, not a ground-truth measurement. Critical recall of 0.36 remains too low for unsupervised deployment.</a:t>
            </a:r>
          </a:p>
        </p:txBody>
      </p:sp>
      <p:sp>
        <p:nvSpPr>
          <p:cNvPr id="22" name="TextBox 21"/>
          <p:cNvSpPr txBox="1"/>
          <p:nvPr/>
        </p:nvSpPr>
        <p:spPr>
          <a:xfrm>
            <a:off x="7863840" y="3200400"/>
            <a:ext cx="3291840" cy="256032"/>
          </a:xfrm>
          <a:prstGeom prst="rect">
            <a:avLst/>
          </a:prstGeom>
          <a:noFill/>
        </p:spPr>
        <p:txBody>
          <a:bodyPr wrap="square" anchor="t" lIns="0" rIns="0" tIns="0" bIns="0">
            <a:spAutoFit/>
          </a:bodyPr>
          <a:lstStyle/>
          <a:p>
            <a:pPr algn="l">
              <a:lnSpc>
                <a:spcPct val="125000"/>
              </a:lnSpc>
              <a:spcAft>
                <a:spcPts val="600"/>
              </a:spcAft>
            </a:pPr>
            <a:r>
              <a:rPr sz="1050" b="1" i="0">
                <a:solidFill>
                  <a:srgbClr val="1B7F4B"/>
                </a:solidFill>
                <a:latin typeface="Calibri"/>
              </a:rPr>
              <a:t>FUTURE SCOPE</a:t>
            </a:r>
          </a:p>
        </p:txBody>
      </p:sp>
      <p:sp>
        <p:nvSpPr>
          <p:cNvPr id="23" name="TextBox 22"/>
          <p:cNvSpPr txBox="1"/>
          <p:nvPr/>
        </p:nvSpPr>
        <p:spPr>
          <a:xfrm>
            <a:off x="7863840" y="3483864"/>
            <a:ext cx="3291840" cy="1188720"/>
          </a:xfrm>
          <a:prstGeom prst="rect">
            <a:avLst/>
          </a:prstGeom>
          <a:noFill/>
        </p:spPr>
        <p:txBody>
          <a:bodyPr wrap="square" anchor="t" lIns="0" rIns="0" tIns="0" bIns="0">
            <a:spAutoFit/>
          </a:bodyPr>
          <a:lstStyle/>
          <a:p>
            <a:pPr algn="l">
              <a:lnSpc>
                <a:spcPct val="128000"/>
              </a:lnSpc>
              <a:spcAft>
                <a:spcPts val="600"/>
              </a:spcAft>
            </a:pPr>
            <a:r>
              <a:rPr sz="1100" b="0" i="0">
                <a:solidFill>
                  <a:srgbClr val="1A1F2E"/>
                </a:solidFill>
                <a:latin typeface="Calibri"/>
              </a:rPr>
              <a:t>SMOTE / focal loss for the rare classes · decision-threshold tuning for recall · live traffic and weather feeds · multi-city validation.</a:t>
            </a:r>
          </a:p>
        </p:txBody>
      </p:sp>
      <p:sp>
        <p:nvSpPr>
          <p:cNvPr id="24" name="Rectangle 23"/>
          <p:cNvSpPr/>
          <p:nvPr/>
        </p:nvSpPr>
        <p:spPr>
          <a:xfrm>
            <a:off x="658368" y="5029200"/>
            <a:ext cx="10874959" cy="841248"/>
          </a:xfrm>
          <a:prstGeom prst="rect">
            <a:avLst/>
          </a:prstGeom>
          <a:solidFill>
            <a:srgbClr val="FDF0E2"/>
          </a:solidFill>
          <a:ln w="19050">
            <a:solidFill>
              <a:srgbClr val="E5C2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 y="5193792"/>
            <a:ext cx="10289743" cy="548640"/>
          </a:xfrm>
          <a:prstGeom prst="rect">
            <a:avLst/>
          </a:prstGeom>
          <a:noFill/>
        </p:spPr>
        <p:txBody>
          <a:bodyPr wrap="square" anchor="t" lIns="0" rIns="0" tIns="0" bIns="0">
            <a:spAutoFit/>
          </a:bodyPr>
          <a:lstStyle/>
          <a:p>
            <a:pPr algn="l">
              <a:lnSpc>
                <a:spcPct val="130000"/>
              </a:lnSpc>
              <a:spcAft>
                <a:spcPts val="600"/>
              </a:spcAft>
            </a:pPr>
            <a:r>
              <a:rPr sz="1400" b="1" i="0">
                <a:solidFill>
                  <a:srgbClr val="C26A02"/>
                </a:solidFill>
                <a:latin typeface="Calibri"/>
              </a:rPr>
              <a:t>Central contribution:  </a:t>
            </a:r>
            <a:r>
              <a:rPr sz="1400" b="0" i="0">
                <a:solidFill>
                  <a:srgbClr val="1A1F2E"/>
                </a:solidFill>
                <a:latin typeface="Calibri"/>
              </a:rPr>
              <a:t>on imbalanced, safety-relevant traffic data, accuracy actively misleads — a 92.4%-accurate model can be 97% blind to the class it exists to catch.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0"/>
            <a:ext cx="12801" cy="6858000"/>
          </a:xfrm>
          <a:prstGeom prst="rect">
            <a:avLst/>
          </a:prstGeom>
          <a:solidFill>
            <a:srgbClr val="D8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34440" y="2148840"/>
            <a:ext cx="9144000" cy="822960"/>
          </a:xfrm>
          <a:prstGeom prst="rect">
            <a:avLst/>
          </a:prstGeom>
          <a:noFill/>
        </p:spPr>
        <p:txBody>
          <a:bodyPr wrap="square" anchor="t" lIns="0" rIns="0" tIns="0" bIns="0">
            <a:spAutoFit/>
          </a:bodyPr>
          <a:lstStyle/>
          <a:p>
            <a:pPr algn="l">
              <a:lnSpc>
                <a:spcPct val="125000"/>
              </a:lnSpc>
              <a:spcAft>
                <a:spcPts val="600"/>
              </a:spcAft>
            </a:pPr>
            <a:r>
              <a:rPr sz="5200" b="1" i="0">
                <a:solidFill>
                  <a:srgbClr val="1A1F2E"/>
                </a:solidFill>
                <a:latin typeface="Calibri"/>
              </a:rPr>
              <a:t>Thank You</a:t>
            </a:r>
          </a:p>
        </p:txBody>
      </p:sp>
      <p:sp>
        <p:nvSpPr>
          <p:cNvPr id="6" name="Rectangle 5"/>
          <p:cNvSpPr/>
          <p:nvPr/>
        </p:nvSpPr>
        <p:spPr>
          <a:xfrm>
            <a:off x="1234440" y="3310128"/>
            <a:ext cx="2011680" cy="27432"/>
          </a:xfrm>
          <a:prstGeom prst="rect">
            <a:avLst/>
          </a:prstGeom>
          <a:solidFill>
            <a:srgbClr val="C26A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3602736"/>
            <a:ext cx="7315200" cy="365760"/>
          </a:xfrm>
          <a:prstGeom prst="rect">
            <a:avLst/>
          </a:prstGeom>
          <a:noFill/>
        </p:spPr>
        <p:txBody>
          <a:bodyPr wrap="square" anchor="t" lIns="0" rIns="0" tIns="0" bIns="0">
            <a:spAutoFit/>
          </a:bodyPr>
          <a:lstStyle/>
          <a:p>
            <a:pPr algn="l">
              <a:lnSpc>
                <a:spcPct val="125000"/>
              </a:lnSpc>
              <a:spcAft>
                <a:spcPts val="600"/>
              </a:spcAft>
            </a:pPr>
            <a:r>
              <a:rPr sz="1800" b="0" i="0">
                <a:solidFill>
                  <a:srgbClr val="5B6478"/>
                </a:solidFill>
                <a:latin typeface="Calibri"/>
              </a:rPr>
              <a:t>Questions and discussion</a:t>
            </a:r>
          </a:p>
        </p:txBody>
      </p:sp>
      <p:sp>
        <p:nvSpPr>
          <p:cNvPr id="8" name="TextBox 7"/>
          <p:cNvSpPr txBox="1"/>
          <p:nvPr/>
        </p:nvSpPr>
        <p:spPr>
          <a:xfrm>
            <a:off x="1234440" y="4480560"/>
            <a:ext cx="5486400" cy="237744"/>
          </a:xfrm>
          <a:prstGeom prst="rect">
            <a:avLst/>
          </a:prstGeom>
          <a:noFill/>
        </p:spPr>
        <p:txBody>
          <a:bodyPr wrap="square" anchor="t" lIns="0" rIns="0" tIns="0" bIns="0">
            <a:spAutoFit/>
          </a:bodyPr>
          <a:lstStyle/>
          <a:p>
            <a:pPr algn="l">
              <a:lnSpc>
                <a:spcPct val="125000"/>
              </a:lnSpc>
              <a:spcAft>
                <a:spcPts val="600"/>
              </a:spcAft>
            </a:pPr>
            <a:r>
              <a:rPr sz="1000" b="1" i="0">
                <a:solidFill>
                  <a:srgbClr val="8A93A3"/>
                </a:solidFill>
                <a:latin typeface="Calibri"/>
              </a:rPr>
              <a:t>PRESENTED BY</a:t>
            </a:r>
          </a:p>
        </p:txBody>
      </p:sp>
      <p:sp>
        <p:nvSpPr>
          <p:cNvPr id="9" name="TextBox 8"/>
          <p:cNvSpPr txBox="1"/>
          <p:nvPr/>
        </p:nvSpPr>
        <p:spPr>
          <a:xfrm>
            <a:off x="1234440" y="4754880"/>
            <a:ext cx="54864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1A1F2E"/>
                </a:solidFill>
                <a:latin typeface="Calibri"/>
              </a:rPr>
              <a:t>Aman Kumar</a:t>
            </a:r>
            <a:r>
              <a:rPr sz="1100" b="0" i="0">
                <a:solidFill>
                  <a:srgbClr val="5B6478"/>
                </a:solidFill>
                <a:latin typeface="Consolas"/>
              </a:rPr>
              <a:t>   2023IMT-010</a:t>
            </a:r>
          </a:p>
        </p:txBody>
      </p:sp>
      <p:sp>
        <p:nvSpPr>
          <p:cNvPr id="10" name="TextBox 9"/>
          <p:cNvSpPr txBox="1"/>
          <p:nvPr/>
        </p:nvSpPr>
        <p:spPr>
          <a:xfrm>
            <a:off x="1234440" y="5047488"/>
            <a:ext cx="54864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1A1F2E"/>
                </a:solidFill>
                <a:latin typeface="Calibri"/>
              </a:rPr>
              <a:t>Viswajit Sarak Patil</a:t>
            </a:r>
            <a:r>
              <a:rPr sz="1100" b="0" i="0">
                <a:solidFill>
                  <a:srgbClr val="5B6478"/>
                </a:solidFill>
                <a:latin typeface="Consolas"/>
              </a:rPr>
              <a:t>   2023IMT-071</a:t>
            </a:r>
          </a:p>
        </p:txBody>
      </p:sp>
      <p:sp>
        <p:nvSpPr>
          <p:cNvPr id="11" name="TextBox 10"/>
          <p:cNvSpPr txBox="1"/>
          <p:nvPr/>
        </p:nvSpPr>
        <p:spPr>
          <a:xfrm>
            <a:off x="1234440" y="5340096"/>
            <a:ext cx="5486400" cy="274320"/>
          </a:xfrm>
          <a:prstGeom prst="rect">
            <a:avLst/>
          </a:prstGeom>
          <a:noFill/>
        </p:spPr>
        <p:txBody>
          <a:bodyPr wrap="square" anchor="t" lIns="0" rIns="0" tIns="0" bIns="0">
            <a:spAutoFit/>
          </a:bodyPr>
          <a:lstStyle/>
          <a:p>
            <a:pPr algn="l">
              <a:lnSpc>
                <a:spcPct val="125000"/>
              </a:lnSpc>
              <a:spcAft>
                <a:spcPts val="0"/>
              </a:spcAft>
            </a:pPr>
            <a:r>
              <a:rPr sz="1300" b="1" i="0">
                <a:solidFill>
                  <a:srgbClr val="1A1F2E"/>
                </a:solidFill>
                <a:latin typeface="Calibri"/>
              </a:rPr>
              <a:t>Sahil Pal</a:t>
            </a:r>
            <a:r>
              <a:rPr sz="1100" b="0" i="0">
                <a:solidFill>
                  <a:srgbClr val="5B6478"/>
                </a:solidFill>
                <a:latin typeface="Consolas"/>
              </a:rPr>
              <a:t>   2023IMT-069</a:t>
            </a:r>
          </a:p>
        </p:txBody>
      </p:sp>
      <p:sp>
        <p:nvSpPr>
          <p:cNvPr id="12" name="Rectangle 11"/>
          <p:cNvSpPr/>
          <p:nvPr/>
        </p:nvSpPr>
        <p:spPr>
          <a:xfrm>
            <a:off x="7635240" y="4480560"/>
            <a:ext cx="3898087" cy="1234440"/>
          </a:xfrm>
          <a:prstGeom prst="rect">
            <a:avLst/>
          </a:prstGeom>
          <a:solidFill>
            <a:srgbClr val="F4F5F7"/>
          </a:solidFill>
          <a:ln w="12700">
            <a:solidFill>
              <a:srgbClr val="D8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4645152"/>
            <a:ext cx="3291840" cy="914400"/>
          </a:xfrm>
          <a:prstGeom prst="rect">
            <a:avLst/>
          </a:prstGeom>
          <a:noFill/>
        </p:spPr>
        <p:txBody>
          <a:bodyPr wrap="square" anchor="t" lIns="0" rIns="0" tIns="0" bIns="0">
            <a:spAutoFit/>
          </a:bodyPr>
          <a:lstStyle/>
          <a:p>
            <a:pPr algn="l">
              <a:lnSpc>
                <a:spcPct val="125000"/>
              </a:lnSpc>
              <a:spcAft>
                <a:spcPts val="400"/>
              </a:spcAft>
            </a:pPr>
            <a:r>
              <a:rPr sz="1100" b="1" i="0">
                <a:solidFill>
                  <a:srgbClr val="1A1F2E"/>
                </a:solidFill>
                <a:latin typeface="Calibri"/>
              </a:rPr>
              <a:t>Event-Driven Traffic Congestion Severity Prediction</a:t>
            </a:r>
          </a:p>
          <a:p>
            <a:pPr algn="l">
              <a:lnSpc>
                <a:spcPct val="125000"/>
              </a:lnSpc>
              <a:spcAft>
                <a:spcPts val="400"/>
              </a:spcAft>
            </a:pPr>
            <a:r>
              <a:rPr sz="1050" b="0" i="0">
                <a:solidFill>
                  <a:srgbClr val="5B6478"/>
                </a:solidFill>
                <a:latin typeface="Calibri"/>
              </a:rPr>
              <a:t>Under the supervision of Dr. Saswata Roy</a:t>
            </a:r>
          </a:p>
          <a:p>
            <a:pPr algn="l">
              <a:lnSpc>
                <a:spcPct val="125000"/>
              </a:lnSpc>
              <a:spcAft>
                <a:spcPts val="400"/>
              </a:spcAft>
            </a:pPr>
            <a:r>
              <a:rPr sz="1050" b="0" i="0">
                <a:solidFill>
                  <a:srgbClr val="5B6478"/>
                </a:solidFill>
                <a:latin typeface="Calibri"/>
              </a:rPr>
              <a:t>Department of IT · ABV-IIITM Gwalior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